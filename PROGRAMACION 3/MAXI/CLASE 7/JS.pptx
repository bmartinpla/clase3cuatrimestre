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10080625" cy="5670550"/>
  <p:notesSz cx="7559675" cy="10691813"/>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78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Predeterminado">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384840"/>
            <a:ext cx="9069840" cy="625320"/>
          </a:xfrm>
          <a:prstGeom prst="rect">
            <a:avLst/>
          </a:prstGeom>
          <a:noFill/>
          <a:ln w="0">
            <a:noFill/>
          </a:ln>
        </p:spPr>
        <p:txBody>
          <a:bodyPr lIns="0" tIns="0" rIns="0" bIns="0" anchor="ctr">
            <a:spAutoFit/>
          </a:bodyPr>
          <a:lstStyle/>
          <a:p>
            <a:pPr indent="0" algn="ctr">
              <a:buNone/>
            </a:pPr>
            <a:endParaRPr lang="es-AR" sz="4400" b="0" u="none" strike="noStrike">
              <a:solidFill>
                <a:srgbClr val="000000"/>
              </a:solidFill>
              <a:effectLst/>
              <a:uFillTx/>
              <a:latin typeface="Arial"/>
            </a:endParaRPr>
          </a:p>
        </p:txBody>
      </p:sp>
      <p:sp>
        <p:nvSpPr>
          <p:cNvPr id="6" name="PlaceHolder 2"/>
          <p:cNvSpPr>
            <a:spLocks noGrp="1"/>
          </p:cNvSpPr>
          <p:nvPr>
            <p:ph type="subTitle"/>
          </p:nvPr>
        </p:nvSpPr>
        <p:spPr>
          <a:xfrm>
            <a:off x="504000" y="1326600"/>
            <a:ext cx="9072000" cy="3288600"/>
          </a:xfrm>
          <a:prstGeom prst="rect">
            <a:avLst/>
          </a:prstGeom>
          <a:noFill/>
          <a:ln w="0">
            <a:noFill/>
          </a:ln>
        </p:spPr>
        <p:txBody>
          <a:bodyPr lIns="0" tIns="0" rIns="0" bIns="0" anchor="ctr">
            <a:spAutoFit/>
          </a:bodyPr>
          <a:lstStyle/>
          <a:p>
            <a:pPr indent="0" algn="ctr">
              <a:buNone/>
            </a:pPr>
            <a:endParaRPr lang="es-AR" sz="3200" b="0" u="none" strike="noStrike">
              <a:solidFill>
                <a:srgbClr val="000000"/>
              </a:solidFill>
              <a:effectLst/>
              <a:uFillTx/>
              <a:latin typeface="Arial"/>
            </a:endParaRPr>
          </a:p>
        </p:txBody>
      </p:sp>
      <p:sp>
        <p:nvSpPr>
          <p:cNvPr id="4" name="PlaceHolder 3"/>
          <p:cNvSpPr>
            <a:spLocks noGrp="1"/>
          </p:cNvSpPr>
          <p:nvPr>
            <p:ph type="ftr" idx="1"/>
          </p:nvPr>
        </p:nvSpPr>
        <p:spPr/>
        <p:txBody>
          <a:bodyPr/>
          <a:lstStyle/>
          <a:p>
            <a:r>
              <a:t>Footer</a:t>
            </a:r>
          </a:p>
        </p:txBody>
      </p:sp>
      <p:sp>
        <p:nvSpPr>
          <p:cNvPr id="2" name="PlaceHolder 4"/>
          <p:cNvSpPr>
            <a:spLocks noGrp="1"/>
          </p:cNvSpPr>
          <p:nvPr>
            <p:ph type="sldNum" idx="2"/>
          </p:nvPr>
        </p:nvSpPr>
        <p:spPr/>
        <p:txBody>
          <a:bodyPr/>
          <a:lstStyle/>
          <a:p>
            <a:fld id="{4A1C882E-BEC5-45D7-8D52-A1D00DDBF2E2}" type="slidenum">
              <a:t>‹Nº›</a:t>
            </a:fld>
            <a:endParaRPr/>
          </a:p>
        </p:txBody>
      </p:sp>
      <p:sp>
        <p:nvSpPr>
          <p:cNvPr id="3" name="PlaceHolder 5"/>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Predeterminado">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384840"/>
            <a:ext cx="9069840" cy="625320"/>
          </a:xfrm>
          <a:prstGeom prst="rect">
            <a:avLst/>
          </a:prstGeom>
          <a:noFill/>
          <a:ln w="0">
            <a:noFill/>
          </a:ln>
        </p:spPr>
        <p:txBody>
          <a:bodyPr lIns="0" tIns="0" rIns="0" bIns="0" anchor="ctr">
            <a:spAutoFit/>
          </a:bodyPr>
          <a:lstStyle/>
          <a:p>
            <a:pPr indent="0" algn="ctr">
              <a:buNone/>
            </a:pPr>
            <a:endParaRPr lang="es-AR" sz="4400" b="0" u="none" strike="noStrike">
              <a:solidFill>
                <a:srgbClr val="000000"/>
              </a:solidFill>
              <a:effectLst/>
              <a:uFillTx/>
              <a:latin typeface="Arial"/>
            </a:endParaRPr>
          </a:p>
        </p:txBody>
      </p:sp>
      <p:sp>
        <p:nvSpPr>
          <p:cNvPr id="8" name="PlaceHolder 2"/>
          <p:cNvSpPr>
            <a:spLocks noGrp="1"/>
          </p:cNvSpPr>
          <p:nvPr>
            <p:ph/>
          </p:nvPr>
        </p:nvSpPr>
        <p:spPr>
          <a:xfrm>
            <a:off x="504000" y="1326600"/>
            <a:ext cx="9072000" cy="3288600"/>
          </a:xfrm>
          <a:prstGeom prst="rect">
            <a:avLst/>
          </a:prstGeom>
          <a:noFill/>
          <a:ln w="0">
            <a:noFill/>
          </a:ln>
        </p:spPr>
        <p:txBody>
          <a:bodyPr lIns="0" tIns="0" rIns="0" bIns="0" anchor="t">
            <a:normAutofit/>
          </a:bodyPr>
          <a:lstStyle/>
          <a:p>
            <a:pPr indent="0">
              <a:spcBef>
                <a:spcPts val="1417"/>
              </a:spcBef>
              <a:buNone/>
            </a:pPr>
            <a:endParaRPr lang="es-AR" sz="3200" b="0" u="none" strike="noStrike">
              <a:solidFill>
                <a:srgbClr val="000000"/>
              </a:solidFill>
              <a:effectLst/>
              <a:uFillTx/>
              <a:latin typeface="Arial"/>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F9091B8F-73E3-409F-9D6C-7BBF48A4E485}" type="slidenum">
              <a:t>‹Nº›</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560160"/>
            <a:ext cx="9069840" cy="274680"/>
          </a:xfrm>
          <a:prstGeom prst="rect">
            <a:avLst/>
          </a:prstGeom>
          <a:noFill/>
          <a:ln w="0">
            <a:noFill/>
          </a:ln>
        </p:spPr>
        <p:txBody>
          <a:bodyPr lIns="0" tIns="0" rIns="0" bIns="0" anchor="ctr">
            <a:noAutofit/>
          </a:bodyPr>
          <a:lstStyle/>
          <a:p>
            <a:pPr indent="0" algn="ctr">
              <a:buNone/>
            </a:pPr>
            <a:r>
              <a:rPr lang="es-AR" sz="4400" b="0" u="none" strike="noStrike">
                <a:solidFill>
                  <a:srgbClr val="000000"/>
                </a:solidFill>
                <a:effectLst/>
                <a:uFillTx/>
                <a:latin typeface="Arial"/>
              </a:rPr>
              <a:t>Pulse para editar el formato del texto de título</a:t>
            </a:r>
          </a:p>
        </p:txBody>
      </p:sp>
      <p:sp>
        <p:nvSpPr>
          <p:cNvPr id="6" name="PlaceHolder 2"/>
          <p:cNvSpPr>
            <a:spLocks noGrp="1"/>
          </p:cNvSpPr>
          <p:nvPr>
            <p:ph type="ftr" idx="1"/>
          </p:nvPr>
        </p:nvSpPr>
        <p:spPr>
          <a:xfrm>
            <a:off x="3447360" y="5164920"/>
            <a:ext cx="3193200" cy="388800"/>
          </a:xfrm>
          <a:prstGeom prst="rect">
            <a:avLst/>
          </a:prstGeom>
          <a:noFill/>
          <a:ln w="0">
            <a:noFill/>
          </a:ln>
        </p:spPr>
        <p:txBody>
          <a:bodyPr lIns="0" tIns="0" rIns="0" bIns="0" anchor="t">
            <a:noAutofit/>
          </a:bodyPr>
          <a:lstStyle>
            <a:lvl1pPr indent="0" algn="ctr">
              <a:lnSpc>
                <a:spcPct val="100000"/>
              </a:lnSpc>
              <a:buNone/>
              <a:tabLst>
                <a:tab pos="0" algn="l"/>
              </a:tabLst>
              <a:defRPr lang="es-AR" sz="1400" b="0" u="none" strike="noStrike">
                <a:solidFill>
                  <a:srgbClr val="000000"/>
                </a:solidFill>
                <a:effectLst/>
                <a:uFillTx/>
                <a:latin typeface="Times New Roman"/>
              </a:defRPr>
            </a:lvl1pPr>
          </a:lstStyle>
          <a:p>
            <a:pPr indent="0" algn="ctr">
              <a:lnSpc>
                <a:spcPct val="100000"/>
              </a:lnSpc>
              <a:buNone/>
              <a:tabLst>
                <a:tab pos="0" algn="l"/>
              </a:tabLst>
            </a:pPr>
            <a:r>
              <a:rPr lang="es-AR" sz="1400" b="0" u="none" strike="noStrike">
                <a:solidFill>
                  <a:srgbClr val="000000"/>
                </a:solidFill>
                <a:effectLst/>
                <a:uFillTx/>
                <a:latin typeface="Times New Roman"/>
              </a:rPr>
              <a:t>&lt;pie de página&gt;</a:t>
            </a:r>
          </a:p>
        </p:txBody>
      </p:sp>
      <p:sp>
        <p:nvSpPr>
          <p:cNvPr id="2" name="PlaceHolder 3"/>
          <p:cNvSpPr>
            <a:spLocks noGrp="1"/>
          </p:cNvSpPr>
          <p:nvPr>
            <p:ph type="sldNum" idx="2"/>
          </p:nvPr>
        </p:nvSpPr>
        <p:spPr>
          <a:xfrm>
            <a:off x="7227360" y="5164920"/>
            <a:ext cx="2346480" cy="388800"/>
          </a:xfrm>
          <a:prstGeom prst="rect">
            <a:avLst/>
          </a:prstGeom>
          <a:noFill/>
          <a:ln w="0">
            <a:noFill/>
          </a:ln>
        </p:spPr>
        <p:txBody>
          <a:bodyPr lIns="0" tIns="0" rIns="0" bIns="0" anchor="t">
            <a:noAutofit/>
          </a:bodyPr>
          <a:lstStyle>
            <a:lvl1pPr indent="0" algn="r">
              <a:lnSpc>
                <a:spcPct val="100000"/>
              </a:lnSpc>
              <a:buNone/>
              <a:tabLst>
                <a:tab pos="0" algn="l"/>
              </a:tabLst>
              <a:defRPr lang="es-AR" sz="1400" b="0" u="none" strike="noStrike">
                <a:solidFill>
                  <a:srgbClr val="000000"/>
                </a:solidFill>
                <a:effectLst/>
                <a:uFillTx/>
                <a:latin typeface="Times New Roman"/>
              </a:defRPr>
            </a:lvl1pPr>
          </a:lstStyle>
          <a:p>
            <a:pPr indent="0" algn="r">
              <a:lnSpc>
                <a:spcPct val="100000"/>
              </a:lnSpc>
              <a:buNone/>
              <a:tabLst>
                <a:tab pos="0" algn="l"/>
              </a:tabLst>
            </a:pPr>
            <a:fld id="{770C9E7F-6FE3-4964-8D83-754A7ABC3A6A}" type="slidenum">
              <a:rPr lang="es-AR" sz="1400" b="0" u="none" strike="noStrike">
                <a:solidFill>
                  <a:srgbClr val="000000"/>
                </a:solidFill>
                <a:effectLst/>
                <a:uFillTx/>
                <a:latin typeface="Times New Roman"/>
              </a:rPr>
              <a:t>‹Nº›</a:t>
            </a:fld>
            <a:endParaRPr lang="es-AR" sz="1400" b="0" u="none" strike="noStrike">
              <a:solidFill>
                <a:srgbClr val="000000"/>
              </a:solidFill>
              <a:effectLst/>
              <a:uFillTx/>
              <a:latin typeface="Times New Roman"/>
            </a:endParaRPr>
          </a:p>
        </p:txBody>
      </p:sp>
      <p:sp>
        <p:nvSpPr>
          <p:cNvPr id="3" name="PlaceHolder 4"/>
          <p:cNvSpPr>
            <a:spLocks noGrp="1"/>
          </p:cNvSpPr>
          <p:nvPr>
            <p:ph type="dt" idx="3"/>
          </p:nvPr>
        </p:nvSpPr>
        <p:spPr>
          <a:xfrm>
            <a:off x="504000" y="5164920"/>
            <a:ext cx="2346480" cy="388800"/>
          </a:xfrm>
          <a:prstGeom prst="rect">
            <a:avLst/>
          </a:prstGeom>
          <a:noFill/>
          <a:ln w="0">
            <a:noFill/>
          </a:ln>
        </p:spPr>
        <p:txBody>
          <a:bodyPr lIns="0" tIns="0" rIns="0" bIns="0" anchor="t">
            <a:noAutofit/>
          </a:bodyPr>
          <a:lstStyle>
            <a:lvl1pPr indent="0">
              <a:buNone/>
              <a:defRPr lang="es-AR" sz="1400" b="0" u="none" strike="noStrike">
                <a:solidFill>
                  <a:srgbClr val="000000"/>
                </a:solidFill>
                <a:effectLst/>
                <a:uFillTx/>
                <a:latin typeface="Times New Roman"/>
              </a:defRPr>
            </a:lvl1pPr>
          </a:lstStyle>
          <a:p>
            <a:pPr indent="0">
              <a:buNone/>
            </a:pPr>
            <a:r>
              <a:rPr lang="es-AR" sz="1400" b="0" u="none" strike="noStrike">
                <a:solidFill>
                  <a:srgbClr val="000000"/>
                </a:solidFill>
                <a:effectLst/>
                <a:uFillTx/>
                <a:latin typeface="Times New Roman"/>
              </a:rPr>
              <a:t>&lt;fecha/hora&gt;</a:t>
            </a:r>
          </a:p>
        </p:txBody>
      </p:sp>
      <p:sp>
        <p:nvSpPr>
          <p:cNvPr id="4" name="PlaceHolder 5"/>
          <p:cNvSpPr>
            <a:spLocks noGrp="1"/>
          </p:cNvSpPr>
          <p:nvPr>
            <p:ph type="body"/>
          </p:nvPr>
        </p:nvSpPr>
        <p:spPr>
          <a:xfrm>
            <a:off x="504000" y="1326600"/>
            <a:ext cx="9072000" cy="32886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s-AR" sz="3200" b="0" u="none" strike="noStrike">
                <a:solidFill>
                  <a:srgbClr val="000000"/>
                </a:solidFill>
                <a:effectLst/>
                <a:uFillTx/>
                <a:latin typeface="Arial"/>
              </a:rPr>
              <a:t>Pulse para editar el formato de texto del esquema</a:t>
            </a:r>
          </a:p>
          <a:p>
            <a:pPr marL="864000" lvl="1" indent="-324000">
              <a:spcBef>
                <a:spcPts val="1134"/>
              </a:spcBef>
              <a:buClr>
                <a:srgbClr val="000000"/>
              </a:buClr>
              <a:buSzPct val="75000"/>
              <a:buFont typeface="Symbol" charset="2"/>
              <a:buChar char=""/>
            </a:pPr>
            <a:r>
              <a:rPr lang="es-AR" sz="2800" b="0" u="none" strike="noStrike">
                <a:solidFill>
                  <a:srgbClr val="000000"/>
                </a:solidFill>
                <a:effectLst/>
                <a:uFillTx/>
                <a:latin typeface="Arial"/>
              </a:rPr>
              <a:t>Segundo nivel del esquema</a:t>
            </a:r>
          </a:p>
          <a:p>
            <a:pPr marL="1296000" lvl="2" indent="-288000">
              <a:spcBef>
                <a:spcPts val="850"/>
              </a:spcBef>
              <a:buClr>
                <a:srgbClr val="000000"/>
              </a:buClr>
              <a:buSzPct val="45000"/>
              <a:buFont typeface="Wingdings" charset="2"/>
              <a:buChar char=""/>
            </a:pPr>
            <a:r>
              <a:rPr lang="es-AR" sz="2400" b="0" u="none" strike="noStrike">
                <a:solidFill>
                  <a:srgbClr val="000000"/>
                </a:solidFill>
                <a:effectLst/>
                <a:uFillTx/>
                <a:latin typeface="Arial"/>
              </a:rPr>
              <a:t>Tercer nivel del esquema</a:t>
            </a:r>
          </a:p>
          <a:p>
            <a:pPr marL="1728000" lvl="3" indent="-216000">
              <a:spcBef>
                <a:spcPts val="567"/>
              </a:spcBef>
              <a:buClr>
                <a:srgbClr val="000000"/>
              </a:buClr>
              <a:buSzPct val="75000"/>
              <a:buFont typeface="Symbol" charset="2"/>
              <a:buChar char=""/>
            </a:pPr>
            <a:r>
              <a:rPr lang="es-AR" sz="2000" b="0" u="none" strike="noStrike">
                <a:solidFill>
                  <a:srgbClr val="000000"/>
                </a:solidFill>
                <a:effectLst/>
                <a:uFillTx/>
                <a:latin typeface="Arial"/>
              </a:rPr>
              <a:t>Cuarto nivel del esquema</a:t>
            </a:r>
          </a:p>
          <a:p>
            <a:pPr marL="2160000" lvl="4" indent="-216000">
              <a:spcBef>
                <a:spcPts val="283"/>
              </a:spcBef>
              <a:buClr>
                <a:srgbClr val="000000"/>
              </a:buClr>
              <a:buSzPct val="45000"/>
              <a:buFont typeface="Wingdings" charset="2"/>
              <a:buChar char=""/>
            </a:pPr>
            <a:r>
              <a:rPr lang="es-AR" sz="2000" b="0" u="none" strike="noStrike">
                <a:solidFill>
                  <a:srgbClr val="000000"/>
                </a:solidFill>
                <a:effectLst/>
                <a:uFillTx/>
                <a:latin typeface="Arial"/>
              </a:rPr>
              <a:t>Quinto nivel del esquema</a:t>
            </a:r>
          </a:p>
          <a:p>
            <a:pPr marL="2592000" lvl="5" indent="-216000">
              <a:spcBef>
                <a:spcPts val="283"/>
              </a:spcBef>
              <a:buClr>
                <a:srgbClr val="000000"/>
              </a:buClr>
              <a:buSzPct val="45000"/>
              <a:buFont typeface="Wingdings" charset="2"/>
              <a:buChar char=""/>
            </a:pPr>
            <a:r>
              <a:rPr lang="es-AR" sz="2000" b="0" u="none" strike="noStrike">
                <a:solidFill>
                  <a:srgbClr val="000000"/>
                </a:solidFill>
                <a:effectLst/>
                <a:uFillTx/>
                <a:latin typeface="Arial"/>
              </a:rPr>
              <a:t>Sexto nivel del esquema</a:t>
            </a:r>
          </a:p>
          <a:p>
            <a:pPr marL="3024000" lvl="6" indent="-216000">
              <a:spcBef>
                <a:spcPts val="283"/>
              </a:spcBef>
              <a:buClr>
                <a:srgbClr val="000000"/>
              </a:buClr>
              <a:buSzPct val="45000"/>
              <a:buFont typeface="Wingdings" charset="2"/>
              <a:buChar char=""/>
            </a:pPr>
            <a:r>
              <a:rPr lang="es-AR" sz="2000" b="0" u="none" strike="noStrike">
                <a:solidFill>
                  <a:srgbClr val="000000"/>
                </a:solidFill>
                <a:effectLst/>
                <a:uFillTx/>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3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uadroTexto 2"/>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2800" b="0" u="none" strike="noStrike">
                <a:solidFill>
                  <a:srgbClr val="0070C0"/>
                </a:solidFill>
                <a:effectLst/>
                <a:uFillTx/>
                <a:latin typeface="Titillium Web SemiBold"/>
                <a:ea typeface="DejaVu Sans"/>
              </a:rPr>
              <a:t>¿Qué es javascript y para qué sirve?</a:t>
            </a:r>
            <a:endParaRPr lang="es-AR" sz="2800" b="0" u="none" strike="noStrike">
              <a:solidFill>
                <a:srgbClr val="000000"/>
              </a:solidFill>
              <a:effectLst/>
              <a:uFillTx/>
              <a:latin typeface="Arial"/>
            </a:endParaRPr>
          </a:p>
        </p:txBody>
      </p:sp>
      <p:sp>
        <p:nvSpPr>
          <p:cNvPr id="10" name="CuadroTexto 10"/>
          <p:cNvSpPr/>
          <p:nvPr/>
        </p:nvSpPr>
        <p:spPr>
          <a:xfrm>
            <a:off x="282960" y="1383120"/>
            <a:ext cx="9379080" cy="2771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914400">
              <a:lnSpc>
                <a:spcPct val="100000"/>
              </a:lnSpc>
            </a:pPr>
            <a:r>
              <a:rPr lang="es-AR" sz="1600" b="0" u="none" strike="noStrike">
                <a:solidFill>
                  <a:srgbClr val="000000"/>
                </a:solidFill>
                <a:effectLst/>
                <a:uFillTx/>
                <a:latin typeface="Arial"/>
                <a:ea typeface="DejaVu Sans"/>
              </a:rPr>
              <a:t>JavaScript es un potente lenguaje de programación interpretado que aporta interactividad y comportamiento dinámico a los sitios web.</a:t>
            </a:r>
            <a:endParaRPr lang="es-AR" sz="1600" b="0" u="none" strike="noStrike">
              <a:solidFill>
                <a:srgbClr val="000000"/>
              </a:solidFill>
              <a:effectLst/>
              <a:uFillTx/>
              <a:latin typeface="Arial"/>
            </a:endParaRPr>
          </a:p>
          <a:p>
            <a:pPr algn="just" defTabSz="914400">
              <a:lnSpc>
                <a:spcPct val="100000"/>
              </a:lnSpc>
            </a:pPr>
            <a:endParaRPr lang="es-AR" sz="1600" b="0" u="none" strike="noStrike">
              <a:solidFill>
                <a:srgbClr val="000000"/>
              </a:solidFill>
              <a:effectLst/>
              <a:uFillTx/>
              <a:latin typeface="Arial"/>
            </a:endParaRPr>
          </a:p>
          <a:p>
            <a:pPr algn="just" defTabSz="914400">
              <a:lnSpc>
                <a:spcPct val="100000"/>
              </a:lnSpc>
            </a:pPr>
            <a:r>
              <a:rPr lang="es-AR" sz="1600" b="0" u="none" strike="noStrike">
                <a:solidFill>
                  <a:srgbClr val="000000"/>
                </a:solidFill>
                <a:effectLst/>
                <a:uFillTx/>
                <a:latin typeface="Arial"/>
                <a:ea typeface="DejaVu Sans"/>
              </a:rPr>
              <a:t>Mientras que HTML y CSS son lenguajes de marcado utilizados para estructurar contenido y estilizar elementos en una página, JavaScript permite acceder a funcionalidades más complejas.</a:t>
            </a:r>
            <a:endParaRPr lang="es-AR" sz="1600" b="0" u="none" strike="noStrike">
              <a:solidFill>
                <a:srgbClr val="000000"/>
              </a:solidFill>
              <a:effectLst/>
              <a:uFillTx/>
              <a:latin typeface="Arial"/>
            </a:endParaRPr>
          </a:p>
          <a:p>
            <a:pPr algn="just" defTabSz="914400">
              <a:lnSpc>
                <a:spcPct val="100000"/>
              </a:lnSpc>
            </a:pPr>
            <a:endParaRPr lang="es-AR" sz="1600" b="0" u="none" strike="noStrike">
              <a:solidFill>
                <a:srgbClr val="000000"/>
              </a:solidFill>
              <a:effectLst/>
              <a:uFillTx/>
              <a:latin typeface="Arial"/>
            </a:endParaRPr>
          </a:p>
          <a:p>
            <a:pPr algn="just" defTabSz="914400">
              <a:lnSpc>
                <a:spcPct val="100000"/>
              </a:lnSpc>
            </a:pPr>
            <a:r>
              <a:rPr lang="es-AR" sz="1600" b="0" u="none" strike="noStrike">
                <a:solidFill>
                  <a:srgbClr val="000000"/>
                </a:solidFill>
                <a:effectLst/>
                <a:uFillTx/>
                <a:latin typeface="Arial"/>
                <a:ea typeface="DejaVu Sans"/>
              </a:rPr>
              <a:t>Por ejemplo, cuando haces clic en un botón, envías un formulario o pasas el ratón sobre un menú, JavaScript determina cómo se comporta la página..</a:t>
            </a:r>
            <a:endParaRPr lang="es-AR" sz="1600" b="0" u="none" strike="noStrike">
              <a:solidFill>
                <a:srgbClr val="000000"/>
              </a:solidFill>
              <a:effectLst/>
              <a:uFillTx/>
              <a:latin typeface="Arial"/>
            </a:endParaRPr>
          </a:p>
          <a:p>
            <a:pPr algn="just" defTabSz="914400">
              <a:lnSpc>
                <a:spcPct val="100000"/>
              </a:lnSpc>
            </a:pPr>
            <a:endParaRPr lang="es-AR" sz="1600" b="0" u="none" strike="noStrike">
              <a:solidFill>
                <a:srgbClr val="000000"/>
              </a:solidFill>
              <a:effectLst/>
              <a:uFillTx/>
              <a:latin typeface="Arial"/>
            </a:endParaRPr>
          </a:p>
          <a:p>
            <a:pPr algn="just" defTabSz="914400">
              <a:lnSpc>
                <a:spcPct val="100000"/>
              </a:lnSpc>
            </a:pPr>
            <a:r>
              <a:rPr lang="es-ES" sz="1600" b="0" u="none" strike="noStrike">
                <a:solidFill>
                  <a:schemeClr val="dk1"/>
                </a:solidFill>
                <a:effectLst/>
                <a:uFillTx/>
                <a:latin typeface="Arial"/>
                <a:ea typeface="DejaVu Sans"/>
              </a:rPr>
              <a:t>Material de consulta:</a:t>
            </a:r>
            <a:endParaRPr lang="es-AR" sz="1600" b="0" u="none" strike="noStrike">
              <a:solidFill>
                <a:srgbClr val="000000"/>
              </a:solidFill>
              <a:effectLst/>
              <a:uFillTx/>
              <a:latin typeface="Arial"/>
            </a:endParaRPr>
          </a:p>
          <a:p>
            <a:pPr algn="just" defTabSz="914400">
              <a:lnSpc>
                <a:spcPct val="100000"/>
              </a:lnSpc>
            </a:pPr>
            <a:endParaRPr lang="es-AR" sz="1600" b="0" u="none" strike="noStrike">
              <a:solidFill>
                <a:srgbClr val="000000"/>
              </a:solidFill>
              <a:effectLst/>
              <a:uFillTx/>
              <a:latin typeface="Arial"/>
            </a:endParaRPr>
          </a:p>
        </p:txBody>
      </p:sp>
      <p:sp>
        <p:nvSpPr>
          <p:cNvPr id="11" name="Rectángulo 10"/>
          <p:cNvSpPr/>
          <p:nvPr/>
        </p:nvSpPr>
        <p:spPr>
          <a:xfrm>
            <a:off x="325440" y="4675320"/>
            <a:ext cx="3994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AR" sz="1800" b="0" u="none" strike="noStrike">
                <a:solidFill>
                  <a:srgbClr val="000000"/>
                </a:solidFill>
                <a:effectLst/>
                <a:uFillTx/>
                <a:latin typeface="Arial"/>
                <a:ea typeface="DejaVu Sans"/>
              </a:rPr>
              <a:t>https://www.w3schools.com/</a:t>
            </a:r>
            <a:endParaRPr lang="es-AR" sz="1800" b="0" u="none" strike="noStrike">
              <a:solidFill>
                <a:srgbClr val="000000"/>
              </a:solidFill>
              <a:effectLst/>
              <a:uFillTx/>
              <a:latin typeface="Arial"/>
            </a:endParaRPr>
          </a:p>
        </p:txBody>
      </p:sp>
      <p:sp>
        <p:nvSpPr>
          <p:cNvPr id="12" name="Rectángulo 11"/>
          <p:cNvSpPr/>
          <p:nvPr/>
        </p:nvSpPr>
        <p:spPr>
          <a:xfrm>
            <a:off x="4303080" y="4667040"/>
            <a:ext cx="5091840" cy="63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AR" sz="1800" b="0" u="none" strike="noStrike">
                <a:solidFill>
                  <a:srgbClr val="000000"/>
                </a:solidFill>
                <a:effectLst/>
                <a:uFillTx/>
                <a:latin typeface="Arial"/>
                <a:ea typeface="DejaVu Sans"/>
              </a:rPr>
              <a:t>https://developer.mozilla.org/es/docs/Web/HTML</a:t>
            </a:r>
            <a:endParaRPr lang="es-AR" sz="18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uadroTexto 64"/>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2800" b="0" u="none" strike="noStrike">
                <a:solidFill>
                  <a:srgbClr val="0070C0"/>
                </a:solidFill>
                <a:effectLst/>
                <a:uFillTx/>
                <a:latin typeface="Titillium Web SemiBold"/>
                <a:ea typeface="DejaVu Sans"/>
              </a:rPr>
              <a:t>Javascript</a:t>
            </a:r>
            <a:endParaRPr lang="es-AR" sz="2800" b="0" u="none" strike="noStrike">
              <a:solidFill>
                <a:srgbClr val="000000"/>
              </a:solidFill>
              <a:effectLst/>
              <a:uFillTx/>
              <a:latin typeface="Arial"/>
            </a:endParaRPr>
          </a:p>
        </p:txBody>
      </p:sp>
      <p:sp>
        <p:nvSpPr>
          <p:cNvPr id="14" name="CuadroTexto 65"/>
          <p:cNvSpPr/>
          <p:nvPr/>
        </p:nvSpPr>
        <p:spPr>
          <a:xfrm>
            <a:off x="282960" y="1383120"/>
            <a:ext cx="9379080" cy="3319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gn="just" defTabSz="914400">
              <a:lnSpc>
                <a:spcPct val="100000"/>
              </a:lnSpc>
              <a:spcBef>
                <a:spcPts val="567"/>
              </a:spcBef>
              <a:spcAft>
                <a:spcPts val="567"/>
              </a:spcAft>
              <a:buClr>
                <a:srgbClr val="000000"/>
              </a:buClr>
              <a:buSzPct val="45000"/>
              <a:buFont typeface="Wingdings" charset="2"/>
              <a:buChar char=""/>
            </a:pPr>
            <a:r>
              <a:rPr lang="es-AR" sz="1600" b="0" u="none" strike="noStrike">
                <a:solidFill>
                  <a:srgbClr val="000000"/>
                </a:solidFill>
                <a:effectLst/>
                <a:uFillTx/>
                <a:latin typeface="Arial"/>
                <a:ea typeface="DejaVu Sans"/>
              </a:rPr>
              <a:t>Creado por Brendan Eich para Netscapa aparece en Netscape 2.0B3 en 1995. Fue inventado por Brendan Eich, cofundador del proyecto Mozilla, Mozilla Foundation y la Corporación Mozilla. </a:t>
            </a:r>
            <a:endParaRPr lang="es-AR" sz="1600" b="0" u="none" strike="noStrike">
              <a:solidFill>
                <a:srgbClr val="000000"/>
              </a:solidFill>
              <a:effectLst/>
              <a:uFillTx/>
              <a:latin typeface="Arial"/>
            </a:endParaRPr>
          </a:p>
          <a:p>
            <a:pPr marL="216000" indent="-216000" algn="just" defTabSz="914400">
              <a:lnSpc>
                <a:spcPct val="100000"/>
              </a:lnSpc>
              <a:spcBef>
                <a:spcPts val="567"/>
              </a:spcBef>
              <a:spcAft>
                <a:spcPts val="567"/>
              </a:spcAft>
              <a:buClr>
                <a:srgbClr val="000000"/>
              </a:buClr>
              <a:buSzPct val="45000"/>
              <a:buFont typeface="Wingdings" charset="2"/>
              <a:buChar char=""/>
            </a:pPr>
            <a:r>
              <a:rPr lang="es-AR" sz="1600" b="0" u="none" strike="noStrike">
                <a:solidFill>
                  <a:srgbClr val="000000"/>
                </a:solidFill>
                <a:effectLst/>
                <a:uFillTx/>
                <a:latin typeface="Arial"/>
                <a:ea typeface="DejaVu Sans"/>
              </a:rPr>
              <a:t>Esta especificado por la ECMA, en la version ECMAScript® 2025. </a:t>
            </a:r>
            <a:endParaRPr lang="es-AR" sz="1600" b="0" u="none" strike="noStrike">
              <a:solidFill>
                <a:srgbClr val="000000"/>
              </a:solidFill>
              <a:effectLst/>
              <a:uFillTx/>
              <a:latin typeface="Arial"/>
            </a:endParaRPr>
          </a:p>
          <a:p>
            <a:pPr marL="216000" indent="-216000" algn="just" defTabSz="914400">
              <a:lnSpc>
                <a:spcPct val="100000"/>
              </a:lnSpc>
              <a:spcBef>
                <a:spcPts val="567"/>
              </a:spcBef>
              <a:spcAft>
                <a:spcPts val="567"/>
              </a:spcAft>
              <a:buClr>
                <a:srgbClr val="000000"/>
              </a:buClr>
              <a:buSzPct val="45000"/>
              <a:buFont typeface="Wingdings" charset="2"/>
              <a:buChar char=""/>
            </a:pPr>
            <a:r>
              <a:rPr lang="es-AR" sz="1600" b="0" u="none" strike="noStrike">
                <a:solidFill>
                  <a:srgbClr val="000000"/>
                </a:solidFill>
                <a:effectLst/>
                <a:uFillTx/>
                <a:latin typeface="Arial"/>
                <a:ea typeface="DejaVu Sans"/>
              </a:rPr>
              <a:t>Es un lenguaje de programación interpretado con base en la sintaxis de otros lenguajes.</a:t>
            </a:r>
            <a:endParaRPr lang="es-AR" sz="1600" b="0" u="none" strike="noStrike">
              <a:solidFill>
                <a:srgbClr val="000000"/>
              </a:solidFill>
              <a:effectLst/>
              <a:uFillTx/>
              <a:latin typeface="Arial"/>
            </a:endParaRPr>
          </a:p>
          <a:p>
            <a:pPr marL="216000" indent="-216000" algn="just" defTabSz="914400">
              <a:lnSpc>
                <a:spcPct val="100000"/>
              </a:lnSpc>
              <a:spcBef>
                <a:spcPts val="567"/>
              </a:spcBef>
              <a:spcAft>
                <a:spcPts val="567"/>
              </a:spcAft>
              <a:buClr>
                <a:srgbClr val="000000"/>
              </a:buClr>
              <a:buSzPct val="45000"/>
              <a:buFont typeface="Wingdings" charset="2"/>
              <a:buChar char=""/>
            </a:pPr>
            <a:r>
              <a:rPr lang="es-AR" sz="1600" b="0" u="none" strike="noStrike">
                <a:solidFill>
                  <a:srgbClr val="000000"/>
                </a:solidFill>
                <a:effectLst/>
                <a:uFillTx/>
                <a:latin typeface="Arial"/>
                <a:ea typeface="DejaVu Sans"/>
              </a:rPr>
              <a:t>Está basado en objetos y guiado por eventos.</a:t>
            </a:r>
            <a:endParaRPr lang="es-AR" sz="1600" b="0" u="none" strike="noStrike">
              <a:solidFill>
                <a:srgbClr val="000000"/>
              </a:solidFill>
              <a:effectLst/>
              <a:uFillTx/>
              <a:latin typeface="Arial"/>
            </a:endParaRPr>
          </a:p>
          <a:p>
            <a:pPr marL="216000" indent="-216000" algn="just" defTabSz="914400">
              <a:lnSpc>
                <a:spcPct val="100000"/>
              </a:lnSpc>
              <a:spcBef>
                <a:spcPts val="567"/>
              </a:spcBef>
              <a:spcAft>
                <a:spcPts val="567"/>
              </a:spcAft>
              <a:buClr>
                <a:srgbClr val="000000"/>
              </a:buClr>
              <a:buSzPct val="45000"/>
              <a:buFont typeface="Wingdings" charset="2"/>
              <a:buChar char=""/>
            </a:pPr>
            <a:r>
              <a:rPr lang="es-AR" sz="1600" b="0" u="none" strike="noStrike">
                <a:solidFill>
                  <a:srgbClr val="000000"/>
                </a:solidFill>
                <a:effectLst/>
                <a:uFillTx/>
                <a:latin typeface="Arial"/>
                <a:ea typeface="DejaVu Sans"/>
              </a:rPr>
              <a:t>No tiene nada que ver con Java</a:t>
            </a:r>
            <a:endParaRPr lang="es-AR" sz="1600" b="0" u="none" strike="noStrike">
              <a:solidFill>
                <a:srgbClr val="000000"/>
              </a:solidFill>
              <a:effectLst/>
              <a:uFillTx/>
              <a:latin typeface="Arial"/>
            </a:endParaRPr>
          </a:p>
          <a:p>
            <a:pPr marL="216000" indent="-216000" algn="just" defTabSz="914400">
              <a:lnSpc>
                <a:spcPct val="100000"/>
              </a:lnSpc>
              <a:spcBef>
                <a:spcPts val="567"/>
              </a:spcBef>
              <a:spcAft>
                <a:spcPts val="567"/>
              </a:spcAft>
              <a:buClr>
                <a:srgbClr val="000000"/>
              </a:buClr>
              <a:buSzPct val="45000"/>
              <a:buFont typeface="Wingdings" charset="2"/>
              <a:buChar char=""/>
            </a:pPr>
            <a:r>
              <a:rPr lang="es-AR" sz="1600" b="0" u="none" strike="noStrike">
                <a:solidFill>
                  <a:srgbClr val="000000"/>
                </a:solidFill>
                <a:effectLst/>
                <a:uFillTx/>
                <a:latin typeface="Arial"/>
                <a:ea typeface="DejaVu Sans"/>
              </a:rPr>
              <a:t>Las funciones Javascript se incluyen en los documentos HTML interactuando con el DOM (Document Object Model) de la página para realizar tareas no factibles de hacer con HTML sólo. El DOM está especificado por el World Wide Web Consortium.</a:t>
            </a:r>
            <a:endParaRPr lang="es-AR" sz="1600" b="0" u="none" strike="noStrike">
              <a:solidFill>
                <a:srgbClr val="000000"/>
              </a:solidFill>
              <a:effectLst/>
              <a:uFillTx/>
              <a:latin typeface="Arial"/>
            </a:endParaRPr>
          </a:p>
          <a:p>
            <a:pPr algn="just" defTabSz="914400">
              <a:lnSpc>
                <a:spcPct val="100000"/>
              </a:lnSpc>
            </a:pPr>
            <a:endParaRPr lang="es-AR" sz="16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uadroTexto 68"/>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2800" b="0" u="none" strike="noStrike">
                <a:solidFill>
                  <a:srgbClr val="0070C0"/>
                </a:solidFill>
                <a:effectLst/>
                <a:uFillTx/>
                <a:latin typeface="Titillium Web SemiBold"/>
                <a:ea typeface="DejaVu Sans"/>
              </a:rPr>
              <a:t>Como incluir javascript</a:t>
            </a:r>
            <a:endParaRPr lang="es-AR" sz="2800" b="0" u="none" strike="noStrike">
              <a:solidFill>
                <a:srgbClr val="000000"/>
              </a:solidFill>
              <a:effectLst/>
              <a:uFillTx/>
              <a:latin typeface="Arial"/>
            </a:endParaRPr>
          </a:p>
        </p:txBody>
      </p:sp>
      <p:sp>
        <p:nvSpPr>
          <p:cNvPr id="16" name="CuadroTexto 69"/>
          <p:cNvSpPr/>
          <p:nvPr/>
        </p:nvSpPr>
        <p:spPr>
          <a:xfrm>
            <a:off x="282960" y="1383120"/>
            <a:ext cx="9379080" cy="306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gn="just" defTabSz="914400">
              <a:lnSpc>
                <a:spcPct val="100000"/>
              </a:lnSpc>
              <a:spcBef>
                <a:spcPts val="567"/>
              </a:spcBef>
              <a:spcAft>
                <a:spcPts val="567"/>
              </a:spcAft>
              <a:buClr>
                <a:srgbClr val="000000"/>
              </a:buClr>
              <a:buSzPct val="45000"/>
              <a:buFont typeface="Wingdings" charset="2"/>
              <a:buChar char=""/>
            </a:pPr>
            <a:r>
              <a:rPr lang="es-AR" sz="1600" b="0" u="none" strike="noStrike">
                <a:solidFill>
                  <a:srgbClr val="000000"/>
                </a:solidFill>
                <a:effectLst/>
                <a:uFillTx/>
                <a:latin typeface="Arial"/>
                <a:ea typeface="DejaVu Sans"/>
              </a:rPr>
              <a:t>En general se utiliza el elemento script</a:t>
            </a:r>
            <a:endParaRPr lang="es-AR" sz="1600" b="0" u="none" strike="noStrike">
              <a:solidFill>
                <a:srgbClr val="000000"/>
              </a:solidFill>
              <a:effectLst/>
              <a:uFillTx/>
              <a:latin typeface="Arial"/>
            </a:endParaRPr>
          </a:p>
          <a:p>
            <a:pPr marL="216000" indent="-216000" algn="just" defTabSz="914400">
              <a:lnSpc>
                <a:spcPct val="100000"/>
              </a:lnSpc>
              <a:spcBef>
                <a:spcPts val="567"/>
              </a:spcBef>
              <a:spcAft>
                <a:spcPts val="567"/>
              </a:spcAft>
              <a:buClr>
                <a:srgbClr val="000000"/>
              </a:buClr>
              <a:buSzPct val="45000"/>
              <a:buFont typeface="Wingdings" charset="2"/>
              <a:buChar char=""/>
            </a:pPr>
            <a:r>
              <a:rPr lang="es-AR" sz="1600" b="0" u="none" strike="noStrike">
                <a:solidFill>
                  <a:srgbClr val="000000"/>
                </a:solidFill>
                <a:effectLst/>
                <a:uFillTx/>
                <a:latin typeface="Arial"/>
                <a:ea typeface="DejaVu Sans"/>
              </a:rPr>
              <a:t>Las funciones Javascript pueden estar en archivos independientes. Por ejemplo:</a:t>
            </a:r>
            <a:endParaRPr lang="es-AR" sz="1600" b="0" u="none" strike="noStrike">
              <a:solidFill>
                <a:srgbClr val="000000"/>
              </a:solidFill>
              <a:effectLst/>
              <a:uFillTx/>
              <a:latin typeface="Arial"/>
            </a:endParaRPr>
          </a:p>
          <a:p>
            <a:pPr marL="864000" lvl="3" indent="-216000" algn="just" defTabSz="914400">
              <a:lnSpc>
                <a:spcPct val="100000"/>
              </a:lnSpc>
              <a:spcBef>
                <a:spcPts val="567"/>
              </a:spcBef>
              <a:spcAft>
                <a:spcPts val="567"/>
              </a:spcAft>
              <a:buClr>
                <a:srgbClr val="000000"/>
              </a:buClr>
              <a:buSzPct val="45000"/>
              <a:buFont typeface="Wingdings" charset="2"/>
              <a:buChar char=""/>
            </a:pPr>
            <a:r>
              <a:rPr lang="es-AR" sz="1600" b="0" u="none" strike="noStrike">
                <a:solidFill>
                  <a:srgbClr val="000000"/>
                </a:solidFill>
                <a:effectLst/>
                <a:uFillTx/>
                <a:latin typeface="Arial"/>
                <a:ea typeface="DejaVu Sans"/>
              </a:rPr>
              <a:t>&lt;script language="JavaScript" src ="archivo.js"&gt; &lt;/script&gt; </a:t>
            </a:r>
            <a:endParaRPr lang="es-AR" sz="1600" b="0" u="none" strike="noStrike">
              <a:solidFill>
                <a:srgbClr val="000000"/>
              </a:solidFill>
              <a:effectLst/>
              <a:uFillTx/>
              <a:latin typeface="Arial"/>
            </a:endParaRPr>
          </a:p>
          <a:p>
            <a:pPr marL="216000" indent="-216000" algn="just" defTabSz="914400">
              <a:lnSpc>
                <a:spcPct val="100000"/>
              </a:lnSpc>
              <a:spcBef>
                <a:spcPts val="567"/>
              </a:spcBef>
              <a:spcAft>
                <a:spcPts val="567"/>
              </a:spcAft>
              <a:buClr>
                <a:srgbClr val="000000"/>
              </a:buClr>
              <a:buSzPct val="45000"/>
              <a:buFont typeface="Wingdings" charset="2"/>
              <a:buChar char=""/>
            </a:pPr>
            <a:r>
              <a:rPr lang="es-AR" sz="1600" b="0" u="none" strike="noStrike">
                <a:solidFill>
                  <a:srgbClr val="000000"/>
                </a:solidFill>
                <a:effectLst/>
                <a:uFillTx/>
                <a:latin typeface="Arial"/>
                <a:ea typeface="DejaVu Sans"/>
              </a:rPr>
              <a:t>También se pueden incluir las instrucciones dentro del elemento Script. Por ejemplo:</a:t>
            </a:r>
            <a:endParaRPr lang="es-AR" sz="1600" b="0" u="none" strike="noStrike">
              <a:solidFill>
                <a:srgbClr val="000000"/>
              </a:solidFill>
              <a:effectLst/>
              <a:uFillTx/>
              <a:latin typeface="Arial"/>
            </a:endParaRPr>
          </a:p>
          <a:p>
            <a:pPr algn="just" defTabSz="914400">
              <a:lnSpc>
                <a:spcPct val="100000"/>
              </a:lnSpc>
              <a:spcBef>
                <a:spcPts val="1191"/>
              </a:spcBef>
              <a:spcAft>
                <a:spcPts val="992"/>
              </a:spcAft>
            </a:pPr>
            <a:r>
              <a:rPr lang="es-AR" sz="1800" b="0" u="none" strike="noStrike">
                <a:solidFill>
                  <a:srgbClr val="000000"/>
                </a:solidFill>
                <a:effectLst/>
                <a:uFillTx/>
                <a:latin typeface="Arial"/>
                <a:ea typeface="Microsoft YaHei"/>
              </a:rPr>
              <a:t>	&lt;script&gt; alert("¡Hola desde JavaScript interno!"); &lt;/script&gt; </a:t>
            </a:r>
            <a:endParaRPr lang="es-AR" sz="1800" b="0" u="none" strike="noStrike">
              <a:solidFill>
                <a:srgbClr val="000000"/>
              </a:solidFill>
              <a:effectLst/>
              <a:uFillTx/>
              <a:latin typeface="Arial"/>
            </a:endParaRPr>
          </a:p>
          <a:p>
            <a:pPr marL="216000" indent="-216000" algn="just" defTabSz="914400">
              <a:lnSpc>
                <a:spcPct val="100000"/>
              </a:lnSpc>
              <a:spcBef>
                <a:spcPts val="567"/>
              </a:spcBef>
              <a:spcAft>
                <a:spcPts val="567"/>
              </a:spcAft>
              <a:buClr>
                <a:srgbClr val="000000"/>
              </a:buClr>
              <a:buSzPct val="45000"/>
              <a:buFont typeface="Wingdings" charset="2"/>
              <a:buChar char=""/>
            </a:pPr>
            <a:r>
              <a:rPr lang="es-AR" sz="1600" b="0" u="none" strike="noStrike">
                <a:solidFill>
                  <a:srgbClr val="000000"/>
                </a:solidFill>
                <a:effectLst/>
                <a:uFillTx/>
                <a:latin typeface="Arial"/>
                <a:ea typeface="DejaVu Sans"/>
              </a:rPr>
              <a:t>El código Javascript también se puede incluir directamente en un evento asociado a algún elemento del documento. Por ejemplo:</a:t>
            </a:r>
            <a:endParaRPr lang="es-AR" sz="1600" b="0" u="none" strike="noStrike">
              <a:solidFill>
                <a:srgbClr val="000000"/>
              </a:solidFill>
              <a:effectLst/>
              <a:uFillTx/>
              <a:latin typeface="Arial"/>
            </a:endParaRPr>
          </a:p>
          <a:p>
            <a:pPr marL="864000" lvl="3" indent="-216000" algn="just" defTabSz="914400">
              <a:lnSpc>
                <a:spcPct val="100000"/>
              </a:lnSpc>
              <a:spcBef>
                <a:spcPts val="567"/>
              </a:spcBef>
              <a:spcAft>
                <a:spcPts val="567"/>
              </a:spcAft>
              <a:buClr>
                <a:srgbClr val="000000"/>
              </a:buClr>
              <a:buSzPct val="45000"/>
              <a:buFont typeface="Wingdings" charset="2"/>
              <a:buChar char=""/>
            </a:pPr>
            <a:r>
              <a:rPr lang="es-AR" sz="1600" b="0" u="none" strike="noStrike">
                <a:solidFill>
                  <a:srgbClr val="000000"/>
                </a:solidFill>
                <a:effectLst/>
                <a:uFillTx/>
                <a:latin typeface="Arial"/>
                <a:ea typeface="DejaVu Sans"/>
              </a:rPr>
              <a:t>&lt;input type=“button" onclick="alert(‘Gracias por su click');return false;" value="Click"&gt; </a:t>
            </a:r>
            <a:endParaRPr lang="es-AR" sz="16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CuadroTexto 43"/>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ES" sz="2800" b="0" u="none" strike="noStrike">
                <a:solidFill>
                  <a:srgbClr val="0070C0"/>
                </a:solidFill>
                <a:effectLst/>
                <a:uFillTx/>
                <a:latin typeface="Titillium Web SemiBold"/>
                <a:ea typeface="DejaVu Sans"/>
              </a:rPr>
              <a:t>Primer ejemplo</a:t>
            </a:r>
            <a:endParaRPr lang="es-AR" sz="2800" b="0" u="none" strike="noStrike">
              <a:solidFill>
                <a:srgbClr val="000000"/>
              </a:solidFill>
              <a:effectLst/>
              <a:uFillTx/>
              <a:latin typeface="Arial"/>
            </a:endParaRPr>
          </a:p>
        </p:txBody>
      </p:sp>
      <p:pic>
        <p:nvPicPr>
          <p:cNvPr id="18" name="Imagen 17"/>
          <p:cNvPicPr/>
          <p:nvPr/>
        </p:nvPicPr>
        <p:blipFill>
          <a:blip r:embed="rId2"/>
          <a:stretch/>
        </p:blipFill>
        <p:spPr>
          <a:xfrm>
            <a:off x="587160" y="1248120"/>
            <a:ext cx="6972480" cy="3971520"/>
          </a:xfrm>
          <a:prstGeom prst="rect">
            <a:avLst/>
          </a:prstGeom>
          <a:noFill/>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uadroTexto 53"/>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s-ES" sz="2800" b="0" u="none" strike="noStrike">
                <a:solidFill>
                  <a:srgbClr val="0070C0"/>
                </a:solidFill>
                <a:effectLst/>
                <a:uFillTx/>
                <a:latin typeface="Titillium Web SemiBold"/>
                <a:ea typeface="DejaVu Sans"/>
              </a:rPr>
              <a:t>Consideraciones generales</a:t>
            </a:r>
            <a:endParaRPr lang="es-AR" sz="2800" b="0" u="none" strike="noStrike">
              <a:solidFill>
                <a:srgbClr val="000000"/>
              </a:solidFill>
              <a:effectLst/>
              <a:uFillTx/>
              <a:latin typeface="Arial"/>
            </a:endParaRPr>
          </a:p>
        </p:txBody>
      </p:sp>
      <p:sp>
        <p:nvSpPr>
          <p:cNvPr id="20" name="Rectángulo 19"/>
          <p:cNvSpPr/>
          <p:nvPr/>
        </p:nvSpPr>
        <p:spPr>
          <a:xfrm>
            <a:off x="286200" y="1195920"/>
            <a:ext cx="9073440" cy="412788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AR" sz="1600" b="0" u="none" strike="noStrike" dirty="0">
                <a:solidFill>
                  <a:srgbClr val="000000"/>
                </a:solidFill>
                <a:effectLst/>
                <a:uFillTx/>
                <a:latin typeface="Arial"/>
              </a:rPr>
              <a:t>Es case </a:t>
            </a:r>
            <a:r>
              <a:rPr lang="es-AR" sz="1600" b="0" u="none" strike="noStrike" dirty="0" err="1">
                <a:solidFill>
                  <a:srgbClr val="000000"/>
                </a:solidFill>
                <a:effectLst/>
                <a:uFillTx/>
                <a:latin typeface="Arial"/>
              </a:rPr>
              <a:t>sensitive</a:t>
            </a:r>
            <a:r>
              <a:rPr lang="es-AR" sz="1600" b="0" u="none" strike="noStrike" dirty="0">
                <a:solidFill>
                  <a:srgbClr val="000000"/>
                </a:solidFill>
                <a:effectLst/>
                <a:uFillTx/>
                <a:latin typeface="Arial"/>
              </a:rPr>
              <a:t>, por ejemplo, dos variables </a:t>
            </a:r>
            <a:r>
              <a:rPr lang="es-AR" sz="1600" b="0" u="none" strike="noStrike" dirty="0" err="1">
                <a:solidFill>
                  <a:srgbClr val="000000"/>
                </a:solidFill>
                <a:effectLst/>
                <a:uFillTx/>
                <a:latin typeface="Arial"/>
              </a:rPr>
              <a:t>Age</a:t>
            </a:r>
            <a:r>
              <a:rPr lang="es-AR" sz="1600" b="0" u="none" strike="noStrike" dirty="0">
                <a:solidFill>
                  <a:srgbClr val="000000"/>
                </a:solidFill>
                <a:effectLst/>
                <a:uFillTx/>
                <a:latin typeface="Arial"/>
              </a:rPr>
              <a:t> y </a:t>
            </a:r>
            <a:r>
              <a:rPr lang="es-AR" sz="1600" b="0" u="none" strike="noStrike" dirty="0" err="1">
                <a:solidFill>
                  <a:srgbClr val="000000"/>
                </a:solidFill>
                <a:effectLst/>
                <a:uFillTx/>
                <a:latin typeface="Arial"/>
              </a:rPr>
              <a:t>age</a:t>
            </a:r>
            <a:r>
              <a:rPr lang="es-AR" sz="1600" b="0" u="none" strike="noStrike" dirty="0">
                <a:solidFill>
                  <a:srgbClr val="000000"/>
                </a:solidFill>
                <a:effectLst/>
                <a:uFillTx/>
                <a:latin typeface="Arial"/>
              </a:rPr>
              <a:t> son diferentes.</a:t>
            </a:r>
          </a:p>
          <a:p>
            <a:pPr>
              <a:lnSpc>
                <a:spcPct val="100000"/>
              </a:lnSpc>
            </a:pPr>
            <a:r>
              <a:rPr lang="es-AR" sz="1600" b="0" u="none" strike="noStrike" dirty="0">
                <a:solidFill>
                  <a:srgbClr val="000000"/>
                </a:solidFill>
                <a:effectLst/>
                <a:uFillTx/>
                <a:latin typeface="Arial"/>
              </a:rPr>
              <a:t>Los comentarios se notan con:</a:t>
            </a:r>
          </a:p>
          <a:p>
            <a:pPr>
              <a:lnSpc>
                <a:spcPct val="100000"/>
              </a:lnSpc>
            </a:pPr>
            <a:r>
              <a:rPr lang="es-AR" sz="1600" b="0" u="none" strike="noStrike" dirty="0">
                <a:solidFill>
                  <a:srgbClr val="000000"/>
                </a:solidFill>
                <a:effectLst/>
                <a:uFillTx/>
                <a:latin typeface="Arial"/>
              </a:rPr>
              <a:t>// para una </a:t>
            </a:r>
            <a:r>
              <a:rPr lang="es-AR" sz="1600" b="0" u="none" strike="noStrike" dirty="0" err="1">
                <a:solidFill>
                  <a:srgbClr val="000000"/>
                </a:solidFill>
                <a:effectLst/>
                <a:uFillTx/>
                <a:latin typeface="Arial"/>
              </a:rPr>
              <a:t>linea</a:t>
            </a:r>
            <a:r>
              <a:rPr lang="es-AR" sz="1600" b="0" u="none" strike="noStrike" dirty="0">
                <a:solidFill>
                  <a:srgbClr val="000000"/>
                </a:solidFill>
                <a:effectLst/>
                <a:uFillTx/>
                <a:latin typeface="Arial"/>
              </a:rPr>
              <a:t>.</a:t>
            </a:r>
          </a:p>
          <a:p>
            <a:pPr>
              <a:lnSpc>
                <a:spcPct val="100000"/>
              </a:lnSpc>
            </a:pPr>
            <a:endParaRPr lang="es-AR" sz="1000" b="0" u="none" strike="noStrike" dirty="0">
              <a:solidFill>
                <a:srgbClr val="000000"/>
              </a:solidFill>
              <a:effectLst/>
              <a:uFillTx/>
              <a:latin typeface="Arial"/>
            </a:endParaRPr>
          </a:p>
          <a:p>
            <a:pPr>
              <a:lnSpc>
                <a:spcPct val="100000"/>
              </a:lnSpc>
            </a:pPr>
            <a:r>
              <a:rPr lang="es-AR" sz="1600" b="0" u="none" strike="noStrike" dirty="0">
                <a:solidFill>
                  <a:srgbClr val="000000"/>
                </a:solidFill>
                <a:effectLst/>
                <a:uFillTx/>
                <a:latin typeface="Arial"/>
              </a:rPr>
              <a:t>/* */ para bloques</a:t>
            </a:r>
          </a:p>
          <a:p>
            <a:pPr>
              <a:lnSpc>
                <a:spcPct val="100000"/>
              </a:lnSpc>
            </a:pPr>
            <a:r>
              <a:rPr lang="es-AR" sz="1600" b="0" u="none" strike="noStrike" dirty="0">
                <a:solidFill>
                  <a:srgbClr val="000000"/>
                </a:solidFill>
                <a:effectLst/>
                <a:uFillTx/>
                <a:latin typeface="Arial"/>
              </a:rPr>
              <a:t>En JavaScript, un punto y coma (;) se utiliza para indicar el final de una sentencia. </a:t>
            </a:r>
            <a:endParaRPr lang="es-AR" sz="1600" b="0" u="none" strike="noStrike" dirty="0" smtClean="0">
              <a:solidFill>
                <a:srgbClr val="000000"/>
              </a:solidFill>
              <a:effectLst/>
              <a:uFillTx/>
              <a:latin typeface="Arial"/>
            </a:endParaRPr>
          </a:p>
          <a:p>
            <a:pPr>
              <a:lnSpc>
                <a:spcPct val="100000"/>
              </a:lnSpc>
            </a:pPr>
            <a:endParaRPr lang="es-AR" sz="1600" dirty="0">
              <a:solidFill>
                <a:srgbClr val="000000"/>
              </a:solidFill>
              <a:latin typeface="Arial"/>
            </a:endParaRPr>
          </a:p>
          <a:p>
            <a:pPr>
              <a:lnSpc>
                <a:spcPct val="100000"/>
              </a:lnSpc>
            </a:pPr>
            <a:endParaRPr lang="es-AR" sz="1600" b="0" u="none" strike="noStrike" dirty="0" smtClean="0">
              <a:solidFill>
                <a:srgbClr val="000000"/>
              </a:solidFill>
              <a:effectLst/>
              <a:uFillTx/>
              <a:latin typeface="Arial"/>
            </a:endParaRPr>
          </a:p>
          <a:p>
            <a:pPr>
              <a:lnSpc>
                <a:spcPct val="100000"/>
              </a:lnSpc>
            </a:pPr>
            <a:endParaRPr lang="es-AR" sz="1600" dirty="0">
              <a:solidFill>
                <a:srgbClr val="000000"/>
              </a:solidFill>
              <a:latin typeface="Arial"/>
            </a:endParaRPr>
          </a:p>
          <a:p>
            <a:pPr>
              <a:lnSpc>
                <a:spcPct val="100000"/>
              </a:lnSpc>
            </a:pPr>
            <a:endParaRPr lang="es-AR" sz="1600" b="0" u="none" strike="noStrike" dirty="0" smtClean="0">
              <a:solidFill>
                <a:srgbClr val="000000"/>
              </a:solidFill>
              <a:effectLst/>
              <a:uFillTx/>
              <a:latin typeface="Arial"/>
            </a:endParaRPr>
          </a:p>
          <a:p>
            <a:pPr>
              <a:lnSpc>
                <a:spcPct val="100000"/>
              </a:lnSpc>
            </a:pPr>
            <a:endParaRPr lang="es-AR" sz="1600" b="0" u="none" strike="noStrike" dirty="0">
              <a:solidFill>
                <a:srgbClr val="000000"/>
              </a:solidFill>
              <a:effectLst/>
              <a:uFillTx/>
              <a:latin typeface="Arial"/>
            </a:endParaRPr>
          </a:p>
          <a:p>
            <a:pPr>
              <a:lnSpc>
                <a:spcPct val="100000"/>
              </a:lnSpc>
              <a:spcBef>
                <a:spcPts val="1191"/>
              </a:spcBef>
              <a:spcAft>
                <a:spcPts val="992"/>
              </a:spcAft>
            </a:pPr>
            <a:r>
              <a:rPr lang="es-AR" sz="1600" b="0" u="none" strike="noStrike" dirty="0">
                <a:solidFill>
                  <a:srgbClr val="000000"/>
                </a:solidFill>
                <a:effectLst/>
                <a:uFillTx/>
                <a:latin typeface="Arial"/>
              </a:rPr>
              <a:t>Hay palabras clave en </a:t>
            </a:r>
            <a:r>
              <a:rPr lang="es-AR" sz="1600" b="0" u="none" strike="noStrike" dirty="0" err="1">
                <a:solidFill>
                  <a:srgbClr val="000000"/>
                </a:solidFill>
                <a:effectLst/>
                <a:uFillTx/>
                <a:latin typeface="Arial"/>
              </a:rPr>
              <a:t>javaScript</a:t>
            </a:r>
            <a:r>
              <a:rPr lang="es-AR" sz="1600" b="0" u="none" strike="noStrike" dirty="0">
                <a:solidFill>
                  <a:srgbClr val="000000"/>
                </a:solidFill>
                <a:effectLst/>
                <a:uFillTx/>
                <a:latin typeface="Arial"/>
              </a:rPr>
              <a:t> que no se pueden usar como nombres de variables, como </a:t>
            </a:r>
            <a:r>
              <a:rPr lang="es-AR" sz="1600" b="0" u="none" strike="noStrike" dirty="0" err="1">
                <a:solidFill>
                  <a:srgbClr val="000000"/>
                </a:solidFill>
                <a:effectLst/>
                <a:uFillTx/>
                <a:latin typeface="Arial"/>
              </a:rPr>
              <a:t>let</a:t>
            </a:r>
            <a:r>
              <a:rPr lang="es-AR" sz="1600" b="0" u="none" strike="noStrike" dirty="0">
                <a:solidFill>
                  <a:srgbClr val="000000"/>
                </a:solidFill>
                <a:effectLst/>
                <a:uFillTx/>
                <a:latin typeface="Arial"/>
              </a:rPr>
              <a:t>, </a:t>
            </a:r>
            <a:r>
              <a:rPr lang="es-AR" sz="1600" b="0" u="none" strike="noStrike" dirty="0" err="1">
                <a:solidFill>
                  <a:srgbClr val="000000"/>
                </a:solidFill>
                <a:effectLst/>
                <a:uFillTx/>
                <a:latin typeface="Arial"/>
              </a:rPr>
              <a:t>const</a:t>
            </a:r>
            <a:r>
              <a:rPr lang="es-AR" sz="1600" b="0" u="none" strike="noStrike" dirty="0">
                <a:solidFill>
                  <a:srgbClr val="000000"/>
                </a:solidFill>
                <a:effectLst/>
                <a:uFillTx/>
                <a:latin typeface="Arial"/>
              </a:rPr>
              <a:t>, </a:t>
            </a:r>
            <a:r>
              <a:rPr lang="es-AR" sz="1600" b="0" u="none" strike="noStrike" dirty="0" err="1">
                <a:solidFill>
                  <a:srgbClr val="000000"/>
                </a:solidFill>
                <a:effectLst/>
                <a:uFillTx/>
                <a:latin typeface="Arial"/>
              </a:rPr>
              <a:t>function</a:t>
            </a:r>
            <a:r>
              <a:rPr lang="es-AR" sz="1600" b="0" u="none" strike="noStrike" dirty="0">
                <a:solidFill>
                  <a:srgbClr val="000000"/>
                </a:solidFill>
                <a:effectLst/>
                <a:uFillTx/>
                <a:latin typeface="Arial"/>
              </a:rPr>
              <a:t> o </a:t>
            </a:r>
            <a:r>
              <a:rPr lang="es-AR" sz="1600" b="0" u="none" strike="noStrike" dirty="0" err="1">
                <a:solidFill>
                  <a:srgbClr val="000000"/>
                </a:solidFill>
                <a:effectLst/>
                <a:uFillTx/>
                <a:latin typeface="Arial"/>
              </a:rPr>
              <a:t>return</a:t>
            </a:r>
            <a:r>
              <a:rPr lang="es-AR" sz="1600" b="0" u="none" strike="noStrike" dirty="0">
                <a:solidFill>
                  <a:srgbClr val="000000"/>
                </a:solidFill>
                <a:effectLst/>
                <a:uFillTx/>
                <a:latin typeface="Arial"/>
              </a:rPr>
              <a:t>, ya que están reservadas para el propio lenguaje. </a:t>
            </a:r>
          </a:p>
          <a:p>
            <a:pPr>
              <a:lnSpc>
                <a:spcPct val="100000"/>
              </a:lnSpc>
              <a:spcBef>
                <a:spcPts val="1191"/>
              </a:spcBef>
              <a:spcAft>
                <a:spcPts val="992"/>
              </a:spcAft>
            </a:pPr>
            <a:r>
              <a:rPr lang="es-AR" sz="1600" b="0" u="none" strike="noStrike" dirty="0">
                <a:solidFill>
                  <a:srgbClr val="000000"/>
                </a:solidFill>
                <a:effectLst/>
                <a:uFillTx/>
                <a:latin typeface="Arial"/>
              </a:rPr>
              <a:t>console.log() es una herramienta simple pero poderosa usada para mostrar mensajes o información de salida en la consola del navegador.  </a:t>
            </a:r>
          </a:p>
        </p:txBody>
      </p:sp>
      <p:pic>
        <p:nvPicPr>
          <p:cNvPr id="21" name="Imagen 20"/>
          <p:cNvPicPr/>
          <p:nvPr/>
        </p:nvPicPr>
        <p:blipFill>
          <a:blip r:embed="rId2"/>
          <a:stretch/>
        </p:blipFill>
        <p:spPr>
          <a:xfrm>
            <a:off x="627931" y="2638140"/>
            <a:ext cx="2761560" cy="513360"/>
          </a:xfrm>
          <a:prstGeom prst="rect">
            <a:avLst/>
          </a:prstGeom>
          <a:noFill/>
          <a:ln w="0">
            <a:noFill/>
          </a:ln>
        </p:spPr>
      </p:pic>
      <p:pic>
        <p:nvPicPr>
          <p:cNvPr id="22" name="Imagen 21"/>
          <p:cNvPicPr/>
          <p:nvPr/>
        </p:nvPicPr>
        <p:blipFill>
          <a:blip r:embed="rId3"/>
          <a:stretch/>
        </p:blipFill>
        <p:spPr>
          <a:xfrm>
            <a:off x="627931" y="3151500"/>
            <a:ext cx="1647000" cy="847080"/>
          </a:xfrm>
          <a:prstGeom prst="rect">
            <a:avLst/>
          </a:prstGeom>
          <a:noFill/>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CuadroTexto 52"/>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s-ES" sz="2800" b="0" u="none" strike="noStrike">
                <a:solidFill>
                  <a:srgbClr val="0070C0"/>
                </a:solidFill>
                <a:effectLst/>
                <a:uFillTx/>
                <a:latin typeface="Titillium Web SemiBold"/>
                <a:ea typeface="DejaVu Sans"/>
              </a:rPr>
              <a:t>Tipos de datos en JavaScript</a:t>
            </a:r>
            <a:endParaRPr lang="es-AR" sz="2800" b="0" u="none" strike="noStrike">
              <a:solidFill>
                <a:srgbClr val="000000"/>
              </a:solidFill>
              <a:effectLst/>
              <a:uFillTx/>
              <a:latin typeface="Arial"/>
            </a:endParaRPr>
          </a:p>
        </p:txBody>
      </p:sp>
      <p:sp>
        <p:nvSpPr>
          <p:cNvPr id="24" name="Rectángulo 23"/>
          <p:cNvSpPr/>
          <p:nvPr/>
        </p:nvSpPr>
        <p:spPr>
          <a:xfrm>
            <a:off x="360000" y="1255320"/>
            <a:ext cx="8893440" cy="375566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50000"/>
              </a:lnSpc>
            </a:pPr>
            <a:r>
              <a:rPr lang="es-AR" sz="1500" b="1" u="none" strike="noStrike" dirty="0">
                <a:solidFill>
                  <a:srgbClr val="000000"/>
                </a:solidFill>
                <a:effectLst/>
                <a:uFillTx/>
                <a:latin typeface="Arial"/>
              </a:rPr>
              <a:t>Tipos primitivos</a:t>
            </a:r>
            <a:endParaRPr lang="es-AR" sz="1500" b="0" u="none" strike="noStrike" dirty="0">
              <a:solidFill>
                <a:srgbClr val="000000"/>
              </a:solidFill>
              <a:effectLst/>
              <a:uFillTx/>
              <a:latin typeface="Arial"/>
            </a:endParaRPr>
          </a:p>
          <a:p>
            <a:pPr>
              <a:lnSpc>
                <a:spcPct val="150000"/>
              </a:lnSpc>
            </a:pPr>
            <a:r>
              <a:rPr lang="es-AR" sz="1500" b="0" u="none" strike="noStrike" dirty="0" err="1">
                <a:solidFill>
                  <a:srgbClr val="000000"/>
                </a:solidFill>
                <a:effectLst/>
                <a:uFillTx/>
                <a:latin typeface="Arial"/>
              </a:rPr>
              <a:t>String</a:t>
            </a:r>
            <a:r>
              <a:rPr lang="es-AR" sz="1500" b="0" u="none" strike="noStrike" dirty="0">
                <a:solidFill>
                  <a:srgbClr val="000000"/>
                </a:solidFill>
                <a:effectLst/>
                <a:uFillTx/>
                <a:latin typeface="Arial"/>
              </a:rPr>
              <a:t>: Cadena de caracteres, delimitada por comillas simples (' '), dobles (" ") o </a:t>
            </a:r>
            <a:r>
              <a:rPr lang="es-AR" sz="1500" b="0" u="none" strike="noStrike" dirty="0" err="1">
                <a:solidFill>
                  <a:srgbClr val="000000"/>
                </a:solidFill>
                <a:effectLst/>
                <a:uFillTx/>
                <a:latin typeface="Arial"/>
              </a:rPr>
              <a:t>backticks</a:t>
            </a:r>
            <a:r>
              <a:rPr lang="es-AR" sz="1500" b="0" u="none" strike="noStrike" dirty="0">
                <a:solidFill>
                  <a:srgbClr val="000000"/>
                </a:solidFill>
                <a:effectLst/>
                <a:uFillTx/>
                <a:latin typeface="Arial"/>
              </a:rPr>
              <a:t> (` `).</a:t>
            </a:r>
          </a:p>
          <a:p>
            <a:pPr>
              <a:lnSpc>
                <a:spcPct val="150000"/>
              </a:lnSpc>
            </a:pPr>
            <a:r>
              <a:rPr lang="es-AR" sz="1500" b="0" u="none" strike="noStrike" dirty="0" err="1">
                <a:solidFill>
                  <a:srgbClr val="000000"/>
                </a:solidFill>
                <a:effectLst/>
                <a:uFillTx/>
                <a:latin typeface="Arial"/>
              </a:rPr>
              <a:t>Number</a:t>
            </a:r>
            <a:r>
              <a:rPr lang="es-AR" sz="1500" b="0" u="none" strike="noStrike" dirty="0">
                <a:solidFill>
                  <a:srgbClr val="000000"/>
                </a:solidFill>
                <a:effectLst/>
                <a:uFillTx/>
                <a:latin typeface="Arial"/>
              </a:rPr>
              <a:t>: Valores numéricos, incluyendo enteros y números de punto flotante (decimales), así como valores especiales como </a:t>
            </a:r>
            <a:r>
              <a:rPr lang="es-AR" sz="1500" b="0" u="none" strike="noStrike" dirty="0" err="1">
                <a:solidFill>
                  <a:srgbClr val="000000"/>
                </a:solidFill>
                <a:effectLst/>
                <a:uFillTx/>
                <a:latin typeface="Arial"/>
              </a:rPr>
              <a:t>NaN</a:t>
            </a:r>
            <a:r>
              <a:rPr lang="es-AR" sz="1500" b="0" u="none" strike="noStrike" dirty="0">
                <a:solidFill>
                  <a:srgbClr val="000000"/>
                </a:solidFill>
                <a:effectLst/>
                <a:uFillTx/>
                <a:latin typeface="Arial"/>
              </a:rPr>
              <a:t> (</a:t>
            </a:r>
            <a:r>
              <a:rPr lang="es-AR" sz="1500" b="0" u="none" strike="noStrike" dirty="0" err="1">
                <a:solidFill>
                  <a:srgbClr val="000000"/>
                </a:solidFill>
                <a:effectLst/>
                <a:uFillTx/>
                <a:latin typeface="Arial"/>
              </a:rPr>
              <a:t>Not</a:t>
            </a:r>
            <a:r>
              <a:rPr lang="es-AR" sz="1500" b="0" u="none" strike="noStrike" dirty="0">
                <a:solidFill>
                  <a:srgbClr val="000000"/>
                </a:solidFill>
                <a:effectLst/>
                <a:uFillTx/>
                <a:latin typeface="Arial"/>
              </a:rPr>
              <a:t> a </a:t>
            </a:r>
            <a:r>
              <a:rPr lang="es-AR" sz="1500" b="0" u="none" strike="noStrike" dirty="0" err="1">
                <a:solidFill>
                  <a:srgbClr val="000000"/>
                </a:solidFill>
                <a:effectLst/>
                <a:uFillTx/>
                <a:latin typeface="Arial"/>
              </a:rPr>
              <a:t>Number</a:t>
            </a:r>
            <a:r>
              <a:rPr lang="es-AR" sz="1500" b="0" u="none" strike="noStrike" dirty="0">
                <a:solidFill>
                  <a:srgbClr val="000000"/>
                </a:solidFill>
                <a:effectLst/>
                <a:uFillTx/>
                <a:latin typeface="Arial"/>
              </a:rPr>
              <a:t>) e </a:t>
            </a:r>
            <a:r>
              <a:rPr lang="es-AR" sz="1500" b="0" u="none" strike="noStrike" dirty="0" err="1">
                <a:solidFill>
                  <a:srgbClr val="000000"/>
                </a:solidFill>
                <a:effectLst/>
                <a:uFillTx/>
                <a:latin typeface="Arial"/>
              </a:rPr>
              <a:t>Infinity</a:t>
            </a:r>
            <a:r>
              <a:rPr lang="es-AR" sz="1500" b="0" u="none" strike="noStrike" dirty="0">
                <a:solidFill>
                  <a:srgbClr val="000000"/>
                </a:solidFill>
                <a:effectLst/>
                <a:uFillTx/>
                <a:latin typeface="Arial"/>
              </a:rPr>
              <a:t>.</a:t>
            </a:r>
          </a:p>
          <a:p>
            <a:pPr>
              <a:lnSpc>
                <a:spcPct val="150000"/>
              </a:lnSpc>
            </a:pPr>
            <a:r>
              <a:rPr lang="es-AR" sz="1500" b="0" u="none" strike="noStrike" dirty="0" err="1">
                <a:solidFill>
                  <a:srgbClr val="000000"/>
                </a:solidFill>
                <a:effectLst/>
                <a:uFillTx/>
                <a:latin typeface="Arial"/>
              </a:rPr>
              <a:t>BigInt</a:t>
            </a:r>
            <a:r>
              <a:rPr lang="es-AR" sz="1500" b="0" u="none" strike="noStrike" dirty="0">
                <a:solidFill>
                  <a:srgbClr val="000000"/>
                </a:solidFill>
                <a:effectLst/>
                <a:uFillTx/>
                <a:latin typeface="Arial"/>
              </a:rPr>
              <a:t>: Utilizado para representar números enteros muy grandes que superan la capacidad del tipo </a:t>
            </a:r>
            <a:r>
              <a:rPr lang="es-AR" sz="1500" b="0" u="none" strike="noStrike" dirty="0" err="1">
                <a:solidFill>
                  <a:srgbClr val="000000"/>
                </a:solidFill>
                <a:effectLst/>
                <a:uFillTx/>
                <a:latin typeface="Arial"/>
              </a:rPr>
              <a:t>Number</a:t>
            </a:r>
            <a:r>
              <a:rPr lang="es-AR" sz="1500" b="0" u="none" strike="noStrike" dirty="0">
                <a:solidFill>
                  <a:srgbClr val="000000"/>
                </a:solidFill>
                <a:effectLst/>
                <a:uFillTx/>
                <a:latin typeface="Arial"/>
              </a:rPr>
              <a:t>.</a:t>
            </a:r>
          </a:p>
          <a:p>
            <a:pPr>
              <a:lnSpc>
                <a:spcPct val="150000"/>
              </a:lnSpc>
            </a:pPr>
            <a:r>
              <a:rPr lang="es-AR" sz="1500" b="0" u="none" strike="noStrike" dirty="0" err="1">
                <a:solidFill>
                  <a:srgbClr val="000000"/>
                </a:solidFill>
                <a:effectLst/>
                <a:uFillTx/>
                <a:latin typeface="Arial"/>
              </a:rPr>
              <a:t>Boolean</a:t>
            </a:r>
            <a:r>
              <a:rPr lang="es-AR" sz="1500" b="0" u="none" strike="noStrike" dirty="0">
                <a:solidFill>
                  <a:srgbClr val="000000"/>
                </a:solidFill>
                <a:effectLst/>
                <a:uFillTx/>
                <a:latin typeface="Arial"/>
              </a:rPr>
              <a:t>: Valor lógico que puede ser true (verdadero) o false (falso).</a:t>
            </a:r>
          </a:p>
          <a:p>
            <a:pPr>
              <a:lnSpc>
                <a:spcPct val="150000"/>
              </a:lnSpc>
            </a:pPr>
            <a:r>
              <a:rPr lang="es-AR" sz="1500" b="0" u="none" strike="noStrike" dirty="0" err="1">
                <a:solidFill>
                  <a:srgbClr val="000000"/>
                </a:solidFill>
                <a:effectLst/>
                <a:uFillTx/>
                <a:latin typeface="Arial"/>
              </a:rPr>
              <a:t>Undefined</a:t>
            </a:r>
            <a:r>
              <a:rPr lang="es-AR" sz="1500" b="0" u="none" strike="noStrike" dirty="0">
                <a:solidFill>
                  <a:srgbClr val="000000"/>
                </a:solidFill>
                <a:effectLst/>
                <a:uFillTx/>
                <a:latin typeface="Arial"/>
              </a:rPr>
              <a:t>: Valor asignado automáticamente a variables que han sido declaradas pero no inicializadas.</a:t>
            </a:r>
          </a:p>
          <a:p>
            <a:pPr>
              <a:lnSpc>
                <a:spcPct val="150000"/>
              </a:lnSpc>
            </a:pPr>
            <a:r>
              <a:rPr lang="es-AR" sz="1500" b="0" u="none" strike="noStrike" dirty="0" err="1">
                <a:solidFill>
                  <a:srgbClr val="000000"/>
                </a:solidFill>
                <a:effectLst/>
                <a:uFillTx/>
                <a:latin typeface="Arial"/>
              </a:rPr>
              <a:t>Null</a:t>
            </a:r>
            <a:r>
              <a:rPr lang="es-AR" sz="1500" b="0" u="none" strike="noStrike" dirty="0">
                <a:solidFill>
                  <a:srgbClr val="000000"/>
                </a:solidFill>
                <a:effectLst/>
                <a:uFillTx/>
                <a:latin typeface="Arial"/>
              </a:rPr>
              <a:t>: Representa la ausencia intencional de cualquier valor o un valor nulo.</a:t>
            </a:r>
          </a:p>
          <a:p>
            <a:pPr>
              <a:lnSpc>
                <a:spcPct val="150000"/>
              </a:lnSpc>
            </a:pPr>
            <a:r>
              <a:rPr lang="es-AR" sz="1500" b="0" u="none" strike="noStrike" dirty="0">
                <a:solidFill>
                  <a:srgbClr val="000000"/>
                </a:solidFill>
                <a:effectLst/>
                <a:uFillTx/>
                <a:latin typeface="Arial"/>
              </a:rPr>
              <a:t>Symbol: Tipo de dato introducido en ES6 para crear identificadores únicos e inmutables.</a:t>
            </a:r>
          </a:p>
          <a:p>
            <a:pPr>
              <a:lnSpc>
                <a:spcPct val="150000"/>
              </a:lnSpc>
            </a:pPr>
            <a:endParaRPr lang="es-AR" sz="1000" b="0" u="none" strike="noStrike" dirty="0">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CuadroTexto 54"/>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s-ES" sz="2800" b="0" u="none" strike="noStrike">
                <a:solidFill>
                  <a:srgbClr val="0070C0"/>
                </a:solidFill>
                <a:effectLst/>
                <a:uFillTx/>
                <a:latin typeface="Titillium Web SemiBold"/>
                <a:ea typeface="DejaVu Sans"/>
              </a:rPr>
              <a:t>Tipos de datos en JavaScript</a:t>
            </a:r>
            <a:endParaRPr lang="es-AR" sz="2800" b="0" u="none" strike="noStrike">
              <a:solidFill>
                <a:srgbClr val="000000"/>
              </a:solidFill>
              <a:effectLst/>
              <a:uFillTx/>
              <a:latin typeface="Arial"/>
            </a:endParaRPr>
          </a:p>
        </p:txBody>
      </p:sp>
      <p:sp>
        <p:nvSpPr>
          <p:cNvPr id="26" name="Rectángulo 25"/>
          <p:cNvSpPr/>
          <p:nvPr/>
        </p:nvSpPr>
        <p:spPr>
          <a:xfrm>
            <a:off x="286200" y="1383120"/>
            <a:ext cx="8893440" cy="226121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50000"/>
              </a:lnSpc>
            </a:pPr>
            <a:r>
              <a:rPr lang="es-AR" sz="1600" b="1" u="none" strike="noStrike" dirty="0">
                <a:solidFill>
                  <a:srgbClr val="000000"/>
                </a:solidFill>
                <a:effectLst/>
                <a:uFillTx/>
                <a:latin typeface="Arial"/>
              </a:rPr>
              <a:t>Tipos de Datos de Objeto (No Primitivos) </a:t>
            </a:r>
            <a:endParaRPr lang="es-AR" sz="1600" b="0" u="none" strike="noStrike" dirty="0">
              <a:solidFill>
                <a:srgbClr val="000000"/>
              </a:solidFill>
              <a:effectLst/>
              <a:uFillTx/>
              <a:latin typeface="Arial"/>
            </a:endParaRPr>
          </a:p>
          <a:p>
            <a:pPr>
              <a:lnSpc>
                <a:spcPct val="150000"/>
              </a:lnSpc>
            </a:pPr>
            <a:r>
              <a:rPr lang="es-AR" sz="1600" b="0" u="none" strike="noStrike" dirty="0" err="1">
                <a:solidFill>
                  <a:srgbClr val="000000"/>
                </a:solidFill>
                <a:effectLst/>
                <a:uFillTx/>
                <a:latin typeface="Arial"/>
              </a:rPr>
              <a:t>Object</a:t>
            </a:r>
            <a:r>
              <a:rPr lang="es-AR" sz="1600" b="0" u="none" strike="noStrike" dirty="0">
                <a:solidFill>
                  <a:srgbClr val="000000"/>
                </a:solidFill>
                <a:effectLst/>
                <a:uFillTx/>
                <a:latin typeface="Arial"/>
              </a:rPr>
              <a:t>: Son estructuras más complejas que permiten almacenar colecciones de datos o entidades más complejas mediante pares clave-valor.</a:t>
            </a:r>
          </a:p>
          <a:p>
            <a:pPr>
              <a:lnSpc>
                <a:spcPct val="150000"/>
              </a:lnSpc>
            </a:pPr>
            <a:r>
              <a:rPr lang="es-AR" sz="1600" b="0" u="none" strike="noStrike" dirty="0" err="1">
                <a:solidFill>
                  <a:srgbClr val="000000"/>
                </a:solidFill>
                <a:effectLst/>
                <a:uFillTx/>
                <a:latin typeface="Arial"/>
              </a:rPr>
              <a:t>Arrays</a:t>
            </a:r>
            <a:r>
              <a:rPr lang="es-AR" sz="1600" b="0" u="none" strike="noStrike" dirty="0">
                <a:solidFill>
                  <a:srgbClr val="000000"/>
                </a:solidFill>
                <a:effectLst/>
                <a:uFillTx/>
                <a:latin typeface="Arial"/>
              </a:rPr>
              <a:t>: Son objetos especiales utilizados para almacenar listas ordenadas de valores.</a:t>
            </a:r>
          </a:p>
          <a:p>
            <a:pPr>
              <a:lnSpc>
                <a:spcPct val="150000"/>
              </a:lnSpc>
            </a:pPr>
            <a:r>
              <a:rPr lang="es-AR" sz="1600" b="0" u="none" strike="noStrike" dirty="0" err="1">
                <a:solidFill>
                  <a:srgbClr val="000000"/>
                </a:solidFill>
                <a:effectLst/>
                <a:uFillTx/>
                <a:latin typeface="Arial"/>
              </a:rPr>
              <a:t>Functions</a:t>
            </a:r>
            <a:r>
              <a:rPr lang="es-AR" sz="1600" b="0" u="none" strike="noStrike" dirty="0">
                <a:solidFill>
                  <a:srgbClr val="000000"/>
                </a:solidFill>
                <a:effectLst/>
                <a:uFillTx/>
                <a:latin typeface="Arial"/>
              </a:rPr>
              <a:t>: También son considerados objetos en JavaScript, pero con la capacidad de ser ejecutados.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CuadroTexto 51"/>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s-ES" sz="2800" b="0" u="none" strike="noStrike">
                <a:solidFill>
                  <a:srgbClr val="0070C0"/>
                </a:solidFill>
                <a:effectLst/>
                <a:uFillTx/>
                <a:latin typeface="Titillium Web SemiBold"/>
                <a:ea typeface="DejaVu Sans"/>
              </a:rPr>
              <a:t>Tipos de datos en JavaScript</a:t>
            </a:r>
            <a:endParaRPr lang="es-AR" sz="2800" b="0" u="none" strike="noStrike">
              <a:solidFill>
                <a:srgbClr val="000000"/>
              </a:solidFill>
              <a:effectLst/>
              <a:uFillTx/>
              <a:latin typeface="Arial"/>
            </a:endParaRPr>
          </a:p>
        </p:txBody>
      </p:sp>
      <p:sp>
        <p:nvSpPr>
          <p:cNvPr id="28" name="CuadroTexto 66"/>
          <p:cNvSpPr/>
          <p:nvPr/>
        </p:nvSpPr>
        <p:spPr>
          <a:xfrm>
            <a:off x="340560" y="3420000"/>
            <a:ext cx="9379080" cy="577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s-AR" sz="1600" b="1" u="none" strike="noStrike">
                <a:solidFill>
                  <a:srgbClr val="000000"/>
                </a:solidFill>
                <a:effectLst/>
                <a:uFillTx/>
                <a:latin typeface="Arial"/>
                <a:ea typeface="DejaVu Sans"/>
              </a:rPr>
              <a:t>typeof: </a:t>
            </a:r>
            <a:r>
              <a:rPr lang="es-AR" sz="1600" b="0" u="none" strike="noStrike">
                <a:solidFill>
                  <a:srgbClr val="000000"/>
                </a:solidFill>
                <a:effectLst/>
                <a:uFillTx/>
                <a:latin typeface="Arial"/>
                <a:ea typeface="DejaVu Sans"/>
              </a:rPr>
              <a:t>devuelve una cadena (string) indicando el tipo de dato de un operando sin evaluarlo, útil para la comprobación de tipos y validación de variables.</a:t>
            </a:r>
            <a:endParaRPr lang="es-AR" sz="1600" b="0" u="none" strike="noStrike">
              <a:solidFill>
                <a:srgbClr val="000000"/>
              </a:solidFill>
              <a:effectLst/>
              <a:uFillTx/>
              <a:latin typeface="Arial"/>
            </a:endParaRPr>
          </a:p>
        </p:txBody>
      </p:sp>
      <p:pic>
        <p:nvPicPr>
          <p:cNvPr id="29" name="Imagen 28"/>
          <p:cNvPicPr/>
          <p:nvPr/>
        </p:nvPicPr>
        <p:blipFill>
          <a:blip r:embed="rId2"/>
          <a:stretch/>
        </p:blipFill>
        <p:spPr>
          <a:xfrm>
            <a:off x="360000" y="2590920"/>
            <a:ext cx="3419640" cy="828720"/>
          </a:xfrm>
          <a:prstGeom prst="rect">
            <a:avLst/>
          </a:prstGeom>
          <a:noFill/>
          <a:ln w="0">
            <a:noFill/>
          </a:ln>
        </p:spPr>
      </p:pic>
      <p:sp>
        <p:nvSpPr>
          <p:cNvPr id="30" name="Rectángulo 29"/>
          <p:cNvSpPr/>
          <p:nvPr/>
        </p:nvSpPr>
        <p:spPr>
          <a:xfrm>
            <a:off x="286200" y="1383120"/>
            <a:ext cx="9253440" cy="106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AR" sz="1600" b="0" u="none" strike="noStrike">
                <a:solidFill>
                  <a:srgbClr val="000000"/>
                </a:solidFill>
                <a:effectLst/>
                <a:uFillTx/>
                <a:latin typeface="Arial"/>
              </a:rPr>
              <a:t>JavaScript es un idioma de tipado dinámico, lo que significa que no necesitas especificar el tipo de dato de una variable cuando al declararla. En cambio, el tipo se determina según el valor asignado a la variable mientras el programa se ejecuta. Esto permite cambiar el tipo de una variable a lo largo del programa. </a:t>
            </a:r>
          </a:p>
        </p:txBody>
      </p:sp>
      <p:pic>
        <p:nvPicPr>
          <p:cNvPr id="31" name="Imagen 30"/>
          <p:cNvPicPr/>
          <p:nvPr/>
        </p:nvPicPr>
        <p:blipFill>
          <a:blip r:embed="rId3"/>
          <a:stretch/>
        </p:blipFill>
        <p:spPr>
          <a:xfrm>
            <a:off x="360000" y="4012200"/>
            <a:ext cx="3779640" cy="704520"/>
          </a:xfrm>
          <a:prstGeom prst="rect">
            <a:avLst/>
          </a:prstGeom>
          <a:noFill/>
          <a:ln w="0">
            <a:noFill/>
          </a:ln>
        </p:spPr>
      </p:pic>
      <p:pic>
        <p:nvPicPr>
          <p:cNvPr id="32" name="Imagen 31"/>
          <p:cNvPicPr/>
          <p:nvPr/>
        </p:nvPicPr>
        <p:blipFill>
          <a:blip r:embed="rId4"/>
          <a:srcRect r="27434"/>
          <a:stretch/>
        </p:blipFill>
        <p:spPr>
          <a:xfrm>
            <a:off x="360000" y="4717080"/>
            <a:ext cx="3779640" cy="682560"/>
          </a:xfrm>
          <a:prstGeom prst="rect">
            <a:avLst/>
          </a:prstGeom>
          <a:noFill/>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CuadroTexto 56"/>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s-ES" sz="2800" b="0" u="none" strike="noStrike">
                <a:solidFill>
                  <a:srgbClr val="0070C0"/>
                </a:solidFill>
                <a:effectLst/>
                <a:uFillTx/>
                <a:latin typeface="Titillium Web SemiBold"/>
                <a:ea typeface="DejaVu Sans"/>
              </a:rPr>
              <a:t>Variables</a:t>
            </a:r>
            <a:endParaRPr lang="es-AR" sz="2800" b="0" u="none" strike="noStrike">
              <a:solidFill>
                <a:srgbClr val="000000"/>
              </a:solidFill>
              <a:effectLst/>
              <a:uFillTx/>
              <a:latin typeface="Arial"/>
            </a:endParaRPr>
          </a:p>
        </p:txBody>
      </p:sp>
      <p:sp>
        <p:nvSpPr>
          <p:cNvPr id="34" name="Rectángulo 33"/>
          <p:cNvSpPr/>
          <p:nvPr/>
        </p:nvSpPr>
        <p:spPr>
          <a:xfrm>
            <a:off x="286200" y="989576"/>
            <a:ext cx="8893440" cy="504608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AR" sz="1600" b="1" u="none" strike="noStrike" dirty="0" err="1">
                <a:solidFill>
                  <a:srgbClr val="000000"/>
                </a:solidFill>
                <a:effectLst/>
                <a:uFillTx/>
                <a:latin typeface="Arial"/>
              </a:rPr>
              <a:t>Let</a:t>
            </a:r>
            <a:r>
              <a:rPr sz="1600" dirty="0"/>
              <a:t/>
            </a:r>
            <a:br>
              <a:rPr sz="1600" dirty="0"/>
            </a:br>
            <a:r>
              <a:rPr lang="es-AR" sz="1600" b="0" u="none" strike="noStrike" dirty="0">
                <a:solidFill>
                  <a:srgbClr val="000000"/>
                </a:solidFill>
                <a:effectLst/>
                <a:uFillTx/>
                <a:latin typeface="Arial"/>
              </a:rPr>
              <a:t>permite declarar variables que pueden ser actualizadas o reasignadas más tarde. </a:t>
            </a:r>
          </a:p>
          <a:p>
            <a:pPr>
              <a:lnSpc>
                <a:spcPct val="100000"/>
              </a:lnSpc>
            </a:pPr>
            <a:endParaRPr lang="es-AR" sz="1000" b="0" u="none" strike="noStrike" dirty="0">
              <a:solidFill>
                <a:srgbClr val="000000"/>
              </a:solidFill>
              <a:effectLst/>
              <a:uFillTx/>
              <a:latin typeface="Arial"/>
            </a:endParaRPr>
          </a:p>
          <a:p>
            <a:pPr>
              <a:lnSpc>
                <a:spcPct val="100000"/>
              </a:lnSpc>
            </a:pPr>
            <a:endParaRPr lang="es-AR" sz="1000" b="0" u="none" strike="noStrike" dirty="0">
              <a:solidFill>
                <a:srgbClr val="000000"/>
              </a:solidFill>
              <a:effectLst/>
              <a:uFillTx/>
              <a:latin typeface="Arial"/>
            </a:endParaRPr>
          </a:p>
          <a:p>
            <a:pPr>
              <a:lnSpc>
                <a:spcPct val="100000"/>
              </a:lnSpc>
            </a:pPr>
            <a:endParaRPr lang="es-AR" sz="1000" b="0" u="none" strike="noStrike" dirty="0">
              <a:solidFill>
                <a:srgbClr val="000000"/>
              </a:solidFill>
              <a:effectLst/>
              <a:uFillTx/>
              <a:latin typeface="Arial"/>
            </a:endParaRPr>
          </a:p>
          <a:p>
            <a:pPr>
              <a:lnSpc>
                <a:spcPct val="100000"/>
              </a:lnSpc>
            </a:pPr>
            <a:endParaRPr lang="es-AR" sz="1000" b="0" u="none" strike="noStrike" dirty="0" smtClean="0">
              <a:solidFill>
                <a:srgbClr val="000000"/>
              </a:solidFill>
              <a:effectLst/>
              <a:uFillTx/>
              <a:latin typeface="Arial"/>
            </a:endParaRPr>
          </a:p>
          <a:p>
            <a:pPr>
              <a:lnSpc>
                <a:spcPct val="100000"/>
              </a:lnSpc>
            </a:pPr>
            <a:endParaRPr lang="es-AR" sz="1000" dirty="0">
              <a:solidFill>
                <a:srgbClr val="000000"/>
              </a:solidFill>
              <a:latin typeface="Arial"/>
            </a:endParaRPr>
          </a:p>
          <a:p>
            <a:pPr>
              <a:lnSpc>
                <a:spcPct val="100000"/>
              </a:lnSpc>
            </a:pPr>
            <a:endParaRPr lang="es-AR" sz="1000" dirty="0">
              <a:solidFill>
                <a:srgbClr val="000000"/>
              </a:solidFill>
              <a:latin typeface="Arial"/>
            </a:endParaRPr>
          </a:p>
          <a:p>
            <a:pPr>
              <a:lnSpc>
                <a:spcPct val="100000"/>
              </a:lnSpc>
            </a:pPr>
            <a:endParaRPr lang="es-AR" sz="1000" b="0" u="none" strike="noStrike" dirty="0" smtClean="0">
              <a:solidFill>
                <a:srgbClr val="000000"/>
              </a:solidFill>
              <a:effectLst/>
              <a:uFillTx/>
              <a:latin typeface="Arial"/>
            </a:endParaRPr>
          </a:p>
          <a:p>
            <a:pPr>
              <a:lnSpc>
                <a:spcPct val="100000"/>
              </a:lnSpc>
            </a:pPr>
            <a:endParaRPr lang="es-AR" sz="1000" dirty="0">
              <a:solidFill>
                <a:srgbClr val="000000"/>
              </a:solidFill>
              <a:latin typeface="Arial"/>
            </a:endParaRPr>
          </a:p>
          <a:p>
            <a:pPr>
              <a:lnSpc>
                <a:spcPct val="100000"/>
              </a:lnSpc>
            </a:pPr>
            <a:endParaRPr lang="es-AR" sz="1000" b="0" u="none" strike="noStrike" dirty="0" smtClean="0">
              <a:solidFill>
                <a:srgbClr val="000000"/>
              </a:solidFill>
              <a:effectLst/>
              <a:uFillTx/>
              <a:latin typeface="Arial"/>
            </a:endParaRPr>
          </a:p>
          <a:p>
            <a:pPr>
              <a:lnSpc>
                <a:spcPct val="100000"/>
              </a:lnSpc>
            </a:pPr>
            <a:endParaRPr lang="es-AR" sz="1000" dirty="0">
              <a:solidFill>
                <a:srgbClr val="000000"/>
              </a:solidFill>
              <a:latin typeface="Arial"/>
            </a:endParaRPr>
          </a:p>
          <a:p>
            <a:pPr>
              <a:lnSpc>
                <a:spcPct val="100000"/>
              </a:lnSpc>
            </a:pPr>
            <a:endParaRPr lang="es-AR" sz="1000" b="0" u="none" strike="noStrike" dirty="0">
              <a:solidFill>
                <a:srgbClr val="000000"/>
              </a:solidFill>
              <a:effectLst/>
              <a:uFillTx/>
              <a:latin typeface="Arial"/>
            </a:endParaRPr>
          </a:p>
          <a:p>
            <a:pPr>
              <a:lnSpc>
                <a:spcPct val="100000"/>
              </a:lnSpc>
            </a:pPr>
            <a:r>
              <a:rPr lang="es-AR" sz="1600" b="1" u="none" strike="noStrike" dirty="0" err="1">
                <a:solidFill>
                  <a:srgbClr val="000000"/>
                </a:solidFill>
                <a:effectLst/>
                <a:uFillTx/>
                <a:latin typeface="Arial"/>
              </a:rPr>
              <a:t>const</a:t>
            </a:r>
            <a:r>
              <a:rPr lang="es-AR" sz="1600" b="0" u="none" strike="noStrike" dirty="0">
                <a:solidFill>
                  <a:srgbClr val="000000"/>
                </a:solidFill>
                <a:effectLst/>
                <a:uFillTx/>
                <a:latin typeface="Arial"/>
              </a:rPr>
              <a:t> </a:t>
            </a:r>
            <a:r>
              <a:rPr sz="1600" dirty="0"/>
              <a:t/>
            </a:r>
            <a:br>
              <a:rPr sz="1600" dirty="0"/>
            </a:br>
            <a:r>
              <a:rPr lang="es-AR" sz="1600" b="0" u="none" strike="noStrike" dirty="0">
                <a:solidFill>
                  <a:srgbClr val="000000"/>
                </a:solidFill>
                <a:effectLst/>
                <a:uFillTx/>
                <a:latin typeface="Arial"/>
              </a:rPr>
              <a:t>se usa para declarar variables que deben permanecer constantes, como valores de configuración o ajustes que no deben cambiarse accidentalmente. </a:t>
            </a:r>
            <a:endParaRPr lang="es-AR" sz="1600" b="0" u="none" strike="noStrike" dirty="0" smtClean="0">
              <a:solidFill>
                <a:srgbClr val="000000"/>
              </a:solidFill>
              <a:effectLst/>
              <a:uFillTx/>
              <a:latin typeface="Arial"/>
            </a:endParaRPr>
          </a:p>
          <a:p>
            <a:pPr>
              <a:lnSpc>
                <a:spcPct val="100000"/>
              </a:lnSpc>
            </a:pPr>
            <a:endParaRPr lang="es-AR" sz="1600" dirty="0">
              <a:solidFill>
                <a:srgbClr val="000000"/>
              </a:solidFill>
              <a:latin typeface="Arial"/>
            </a:endParaRPr>
          </a:p>
          <a:p>
            <a:pPr>
              <a:lnSpc>
                <a:spcPct val="100000"/>
              </a:lnSpc>
            </a:pPr>
            <a:endParaRPr lang="es-AR" sz="1600" dirty="0">
              <a:solidFill>
                <a:srgbClr val="000000"/>
              </a:solidFill>
              <a:latin typeface="Arial"/>
            </a:endParaRPr>
          </a:p>
          <a:p>
            <a:pPr>
              <a:lnSpc>
                <a:spcPct val="100000"/>
              </a:lnSpc>
            </a:pPr>
            <a:endParaRPr lang="es-AR" sz="1600" b="0" u="none" strike="noStrike" dirty="0" smtClean="0">
              <a:solidFill>
                <a:srgbClr val="000000"/>
              </a:solidFill>
              <a:effectLst/>
              <a:uFillTx/>
              <a:latin typeface="Arial"/>
            </a:endParaRPr>
          </a:p>
          <a:p>
            <a:r>
              <a:rPr lang="es-MX" sz="1600" b="1" dirty="0" err="1" smtClean="0">
                <a:solidFill>
                  <a:srgbClr val="000000"/>
                </a:solidFill>
              </a:rPr>
              <a:t>var</a:t>
            </a:r>
            <a:r>
              <a:rPr lang="es-MX" sz="1600" dirty="0">
                <a:solidFill>
                  <a:srgbClr val="000000"/>
                </a:solidFill>
              </a:rPr>
              <a:t> </a:t>
            </a:r>
            <a:r>
              <a:rPr lang="es-MX" sz="1600" dirty="0"/>
              <a:t/>
            </a:r>
            <a:br>
              <a:rPr lang="es-MX" sz="1600" dirty="0"/>
            </a:br>
            <a:r>
              <a:rPr lang="es-MX" sz="1600" dirty="0" smtClean="0">
                <a:solidFill>
                  <a:srgbClr val="000000"/>
                </a:solidFill>
              </a:rPr>
              <a:t>Uso desaconsejado. Era la forma antigua de declarar variables, pero puede presentar problemas por el ámbito, la posibilidad de volver a declarar la misma variables, etc.</a:t>
            </a:r>
            <a:endParaRPr lang="es-MX" sz="1600" dirty="0">
              <a:solidFill>
                <a:srgbClr val="000000"/>
              </a:solidFill>
            </a:endParaRPr>
          </a:p>
          <a:p>
            <a:pPr>
              <a:lnSpc>
                <a:spcPct val="100000"/>
              </a:lnSpc>
            </a:pPr>
            <a:endParaRPr lang="es-AR" sz="1600" b="0" u="none" strike="noStrike" dirty="0">
              <a:solidFill>
                <a:srgbClr val="000000"/>
              </a:solidFill>
              <a:effectLst/>
              <a:uFillTx/>
              <a:latin typeface="Arial"/>
            </a:endParaRPr>
          </a:p>
          <a:p>
            <a:pPr>
              <a:lnSpc>
                <a:spcPct val="100000"/>
              </a:lnSpc>
            </a:pPr>
            <a:endParaRPr lang="es-AR" sz="1000" b="0" u="none" strike="noStrike" dirty="0">
              <a:solidFill>
                <a:srgbClr val="000000"/>
              </a:solidFill>
              <a:effectLst/>
              <a:uFillTx/>
              <a:latin typeface="Arial"/>
            </a:endParaRPr>
          </a:p>
          <a:p>
            <a:pPr>
              <a:lnSpc>
                <a:spcPct val="100000"/>
              </a:lnSpc>
            </a:pPr>
            <a:endParaRPr lang="es-AR" sz="1000" b="0" u="none" strike="noStrike" dirty="0">
              <a:solidFill>
                <a:srgbClr val="000000"/>
              </a:solidFill>
              <a:effectLst/>
              <a:uFillTx/>
              <a:latin typeface="Arial"/>
            </a:endParaRPr>
          </a:p>
        </p:txBody>
      </p:sp>
      <p:pic>
        <p:nvPicPr>
          <p:cNvPr id="35" name="Imagen 34"/>
          <p:cNvPicPr/>
          <p:nvPr/>
        </p:nvPicPr>
        <p:blipFill>
          <a:blip r:embed="rId2"/>
          <a:stretch/>
        </p:blipFill>
        <p:spPr>
          <a:xfrm>
            <a:off x="453240" y="1561543"/>
            <a:ext cx="3114360" cy="1551960"/>
          </a:xfrm>
          <a:prstGeom prst="rect">
            <a:avLst/>
          </a:prstGeom>
          <a:noFill/>
          <a:ln w="0">
            <a:noFill/>
          </a:ln>
        </p:spPr>
      </p:pic>
      <p:pic>
        <p:nvPicPr>
          <p:cNvPr id="36" name="Imagen 35"/>
          <p:cNvPicPr/>
          <p:nvPr/>
        </p:nvPicPr>
        <p:blipFill>
          <a:blip r:embed="rId3"/>
          <a:stretch/>
        </p:blipFill>
        <p:spPr>
          <a:xfrm>
            <a:off x="453240" y="3973944"/>
            <a:ext cx="2066400" cy="627840"/>
          </a:xfrm>
          <a:prstGeom prst="rect">
            <a:avLst/>
          </a:prstGeom>
          <a:noFill/>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CuadroTexto 57"/>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s-ES" sz="2800" b="0" u="none" strike="noStrike">
                <a:solidFill>
                  <a:srgbClr val="0070C0"/>
                </a:solidFill>
                <a:effectLst/>
                <a:uFillTx/>
                <a:latin typeface="Titillium Web SemiBold"/>
                <a:ea typeface="DejaVu Sans"/>
              </a:rPr>
              <a:t>Cadenas</a:t>
            </a:r>
            <a:endParaRPr lang="es-AR" sz="2800" b="0" u="none" strike="noStrike">
              <a:solidFill>
                <a:srgbClr val="000000"/>
              </a:solidFill>
              <a:effectLst/>
              <a:uFillTx/>
              <a:latin typeface="Arial"/>
            </a:endParaRPr>
          </a:p>
        </p:txBody>
      </p:sp>
      <p:sp>
        <p:nvSpPr>
          <p:cNvPr id="38" name="Rectángulo 37"/>
          <p:cNvSpPr/>
          <p:nvPr/>
        </p:nvSpPr>
        <p:spPr>
          <a:xfrm>
            <a:off x="286200" y="1383120"/>
            <a:ext cx="8893440" cy="135276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50000"/>
              </a:lnSpc>
            </a:pPr>
            <a:r>
              <a:rPr lang="es-AR" sz="1600" b="0" u="none" strike="noStrike" dirty="0">
                <a:solidFill>
                  <a:srgbClr val="000000"/>
                </a:solidFill>
                <a:effectLst/>
                <a:uFillTx/>
                <a:latin typeface="Arial"/>
              </a:rPr>
              <a:t>Secuencia de caracteres utilizada para representar datos de texto. </a:t>
            </a:r>
          </a:p>
          <a:p>
            <a:pPr>
              <a:lnSpc>
                <a:spcPct val="150000"/>
              </a:lnSpc>
            </a:pPr>
            <a:r>
              <a:rPr lang="es-AR" sz="1600" b="0" u="none" strike="noStrike" dirty="0">
                <a:solidFill>
                  <a:srgbClr val="000000"/>
                </a:solidFill>
                <a:effectLst/>
                <a:uFillTx/>
                <a:latin typeface="Arial"/>
              </a:rPr>
              <a:t>Puede utilizar comillas simples (') o comillas dobles ("). </a:t>
            </a:r>
          </a:p>
          <a:p>
            <a:pPr>
              <a:lnSpc>
                <a:spcPct val="150000"/>
              </a:lnSpc>
            </a:pPr>
            <a:r>
              <a:rPr lang="es-AR" sz="1600" b="0" u="none" strike="noStrike" dirty="0">
                <a:solidFill>
                  <a:srgbClr val="000000"/>
                </a:solidFill>
                <a:effectLst/>
                <a:uFillTx/>
                <a:latin typeface="Arial"/>
              </a:rPr>
              <a:t>Concatenación: +, el operador += y el método </a:t>
            </a:r>
            <a:r>
              <a:rPr lang="es-AR" sz="1600" b="0" u="none" strike="noStrike" dirty="0" err="1">
                <a:solidFill>
                  <a:srgbClr val="000000"/>
                </a:solidFill>
                <a:effectLst/>
                <a:uFillTx/>
                <a:latin typeface="Arial"/>
              </a:rPr>
              <a:t>concat</a:t>
            </a:r>
            <a:r>
              <a:rPr lang="es-AR" sz="1600" b="0" u="none" strike="noStrike" dirty="0">
                <a:solidFill>
                  <a:srgbClr val="000000"/>
                </a:solidFill>
                <a:effectLst/>
                <a:uFillTx/>
                <a:latin typeface="Arial"/>
              </a:rPr>
              <a:t>().</a:t>
            </a:r>
            <a:r>
              <a:rPr lang="es-AR" sz="1000" b="0" u="none" strike="noStrike" dirty="0">
                <a:solidFill>
                  <a:srgbClr val="000000"/>
                </a:solidFill>
                <a:effectLst/>
                <a:uFillTx/>
                <a:latin typeface="Arial"/>
              </a:rPr>
              <a:t> </a:t>
            </a:r>
          </a:p>
          <a:p>
            <a:pPr>
              <a:lnSpc>
                <a:spcPct val="100000"/>
              </a:lnSpc>
            </a:pPr>
            <a:endParaRPr lang="es-AR" sz="1000" b="0" u="none" strike="noStrike" dirty="0">
              <a:solidFill>
                <a:srgbClr val="000000"/>
              </a:solidFill>
              <a:effectLst/>
              <a:uFillTx/>
              <a:latin typeface="Arial"/>
            </a:endParaRPr>
          </a:p>
        </p:txBody>
      </p:sp>
      <p:pic>
        <p:nvPicPr>
          <p:cNvPr id="39" name="Imagen 38"/>
          <p:cNvPicPr/>
          <p:nvPr/>
        </p:nvPicPr>
        <p:blipFill>
          <a:blip r:embed="rId2"/>
          <a:stretch/>
        </p:blipFill>
        <p:spPr>
          <a:xfrm>
            <a:off x="360000" y="2700000"/>
            <a:ext cx="3004920" cy="1140840"/>
          </a:xfrm>
          <a:prstGeom prst="rect">
            <a:avLst/>
          </a:prstGeom>
          <a:noFill/>
          <a:ln w="0">
            <a:noFill/>
          </a:ln>
        </p:spPr>
      </p:pic>
      <p:sp>
        <p:nvSpPr>
          <p:cNvPr id="40" name="Rectángulo 39"/>
          <p:cNvSpPr/>
          <p:nvPr/>
        </p:nvSpPr>
        <p:spPr>
          <a:xfrm>
            <a:off x="399960" y="3960000"/>
            <a:ext cx="3559680" cy="1018440"/>
          </a:xfrm>
          <a:prstGeom prst="rect">
            <a:avLst/>
          </a:pr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ctr" anchorCtr="1">
            <a:noAutofit/>
          </a:bodyPr>
          <a:lstStyle/>
          <a:p>
            <a:pPr algn="ctr">
              <a:lnSpc>
                <a:spcPct val="100000"/>
              </a:lnSpc>
            </a:pPr>
            <a:r>
              <a:rPr lang="es-AR" sz="1800" b="0" u="none" strike="noStrike">
                <a:solidFill>
                  <a:srgbClr val="000000"/>
                </a:solidFill>
                <a:effectLst/>
                <a:uFillTx/>
                <a:latin typeface="Arial"/>
              </a:rPr>
              <a:t> </a:t>
            </a:r>
          </a:p>
        </p:txBody>
      </p:sp>
      <p:pic>
        <p:nvPicPr>
          <p:cNvPr id="41" name="Imagen 40"/>
          <p:cNvPicPr/>
          <p:nvPr/>
        </p:nvPicPr>
        <p:blipFill>
          <a:blip r:embed="rId4"/>
          <a:stretch/>
        </p:blipFill>
        <p:spPr>
          <a:xfrm>
            <a:off x="4140000" y="2719080"/>
            <a:ext cx="3184920" cy="1240560"/>
          </a:xfrm>
          <a:prstGeom prst="rect">
            <a:avLst/>
          </a:prstGeom>
          <a:noFill/>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CuadroTexto 59"/>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s-ES" sz="2800" b="0" u="none" strike="noStrike">
                <a:solidFill>
                  <a:srgbClr val="0070C0"/>
                </a:solidFill>
                <a:effectLst/>
                <a:uFillTx/>
                <a:latin typeface="Titillium Web SemiBold"/>
                <a:ea typeface="DejaVu Sans"/>
              </a:rPr>
              <a:t>Cadenas</a:t>
            </a:r>
            <a:endParaRPr lang="es-AR" sz="2800" b="0" u="none" strike="noStrike">
              <a:solidFill>
                <a:srgbClr val="000000"/>
              </a:solidFill>
              <a:effectLst/>
              <a:uFillTx/>
              <a:latin typeface="Arial"/>
            </a:endParaRPr>
          </a:p>
        </p:txBody>
      </p:sp>
      <p:sp>
        <p:nvSpPr>
          <p:cNvPr id="43" name="Rectángulo 42"/>
          <p:cNvSpPr/>
          <p:nvPr/>
        </p:nvSpPr>
        <p:spPr>
          <a:xfrm>
            <a:off x="286200" y="1383120"/>
            <a:ext cx="8893440" cy="353797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AR" sz="1600" b="0" u="none" strike="noStrike" dirty="0">
                <a:solidFill>
                  <a:srgbClr val="000000"/>
                </a:solidFill>
                <a:effectLst/>
                <a:uFillTx/>
                <a:latin typeface="Arial"/>
              </a:rPr>
              <a:t>La notación de corchetes usa corchetes ([]) y el índice del carácter que deseas acceder. </a:t>
            </a:r>
            <a:r>
              <a:rPr sz="1600" dirty="0"/>
              <a:t/>
            </a:r>
            <a:br>
              <a:rPr sz="1600" dirty="0"/>
            </a:br>
            <a:endParaRPr lang="es-AR" sz="1600" b="0" u="none" strike="noStrike" dirty="0">
              <a:solidFill>
                <a:srgbClr val="000000"/>
              </a:solidFill>
              <a:effectLst/>
              <a:uFillTx/>
              <a:latin typeface="Arial"/>
            </a:endParaRPr>
          </a:p>
          <a:p>
            <a:pPr>
              <a:lnSpc>
                <a:spcPct val="100000"/>
              </a:lnSpc>
            </a:pPr>
            <a:endParaRPr lang="es-AR" sz="1600" b="0" u="none" strike="noStrike" dirty="0" smtClean="0">
              <a:solidFill>
                <a:srgbClr val="000000"/>
              </a:solidFill>
              <a:effectLst/>
              <a:uFillTx/>
              <a:latin typeface="Arial"/>
            </a:endParaRPr>
          </a:p>
          <a:p>
            <a:pPr>
              <a:lnSpc>
                <a:spcPct val="100000"/>
              </a:lnSpc>
            </a:pPr>
            <a:endParaRPr lang="es-AR" sz="1600" dirty="0">
              <a:solidFill>
                <a:srgbClr val="000000"/>
              </a:solidFill>
              <a:latin typeface="Arial"/>
            </a:endParaRPr>
          </a:p>
          <a:p>
            <a:pPr>
              <a:lnSpc>
                <a:spcPct val="100000"/>
              </a:lnSpc>
            </a:pPr>
            <a:endParaRPr lang="es-AR" sz="1600" b="0" u="none" strike="noStrike" dirty="0">
              <a:solidFill>
                <a:srgbClr val="000000"/>
              </a:solidFill>
              <a:effectLst/>
              <a:uFillTx/>
              <a:latin typeface="Arial"/>
            </a:endParaRPr>
          </a:p>
          <a:p>
            <a:pPr>
              <a:lnSpc>
                <a:spcPct val="100000"/>
              </a:lnSpc>
            </a:pPr>
            <a:r>
              <a:rPr lang="es-AR" sz="1600" b="0" u="none" strike="noStrike" dirty="0">
                <a:solidFill>
                  <a:srgbClr val="000000"/>
                </a:solidFill>
                <a:effectLst/>
                <a:uFillTx/>
                <a:latin typeface="Arial"/>
              </a:rPr>
              <a:t>La propiedad </a:t>
            </a:r>
            <a:r>
              <a:rPr lang="es-AR" sz="1600" b="0" u="none" strike="noStrike" dirty="0" err="1">
                <a:solidFill>
                  <a:srgbClr val="000000"/>
                </a:solidFill>
                <a:effectLst/>
                <a:uFillTx/>
                <a:latin typeface="Arial"/>
              </a:rPr>
              <a:t>length</a:t>
            </a:r>
            <a:r>
              <a:rPr lang="es-AR" sz="1600" b="0" u="none" strike="noStrike" dirty="0">
                <a:solidFill>
                  <a:srgbClr val="000000"/>
                </a:solidFill>
                <a:effectLst/>
                <a:uFillTx/>
                <a:latin typeface="Arial"/>
              </a:rPr>
              <a:t> de una cadena te dice cuántos caracteres contiene </a:t>
            </a:r>
            <a:r>
              <a:rPr sz="1600" dirty="0"/>
              <a:t/>
            </a:r>
            <a:br>
              <a:rPr sz="1600" dirty="0"/>
            </a:br>
            <a:endParaRPr lang="es-MX" sz="1600" dirty="0" smtClean="0"/>
          </a:p>
          <a:p>
            <a:pPr>
              <a:lnSpc>
                <a:spcPct val="100000"/>
              </a:lnSpc>
            </a:pPr>
            <a:endParaRPr lang="es-MX" sz="1600" b="0" u="none" strike="noStrike" dirty="0">
              <a:solidFill>
                <a:srgbClr val="000000"/>
              </a:solidFill>
              <a:effectLst/>
              <a:uFillTx/>
              <a:latin typeface="Arial"/>
            </a:endParaRPr>
          </a:p>
          <a:p>
            <a:pPr>
              <a:lnSpc>
                <a:spcPct val="100000"/>
              </a:lnSpc>
            </a:pPr>
            <a:endParaRPr lang="es-AR" sz="1600" b="0" u="none" strike="noStrike" dirty="0">
              <a:solidFill>
                <a:srgbClr val="000000"/>
              </a:solidFill>
              <a:effectLst/>
              <a:uFillTx/>
              <a:latin typeface="Arial"/>
            </a:endParaRPr>
          </a:p>
          <a:p>
            <a:pPr>
              <a:lnSpc>
                <a:spcPct val="100000"/>
              </a:lnSpc>
            </a:pPr>
            <a:endParaRPr lang="es-AR" sz="1600" b="0" u="none" strike="noStrike" dirty="0">
              <a:solidFill>
                <a:srgbClr val="000000"/>
              </a:solidFill>
              <a:effectLst/>
              <a:uFillTx/>
              <a:latin typeface="Arial"/>
            </a:endParaRPr>
          </a:p>
          <a:p>
            <a:pPr>
              <a:lnSpc>
                <a:spcPct val="100000"/>
              </a:lnSpc>
            </a:pPr>
            <a:r>
              <a:rPr lang="es-AR" sz="1600" b="0" u="none" strike="noStrike" dirty="0">
                <a:solidFill>
                  <a:srgbClr val="000000"/>
                </a:solidFill>
                <a:effectLst/>
                <a:uFillTx/>
                <a:latin typeface="Arial"/>
              </a:rPr>
              <a:t>Carácter de Nueva Línea): Puedes crear una nueva línea en una cadena usando el carácter de nueva línea \n </a:t>
            </a:r>
          </a:p>
          <a:p>
            <a:pPr>
              <a:lnSpc>
                <a:spcPct val="100000"/>
              </a:lnSpc>
            </a:pPr>
            <a:r>
              <a:rPr lang="es-AR" sz="1600" b="0" u="none" strike="noStrike" dirty="0">
                <a:solidFill>
                  <a:srgbClr val="000000"/>
                </a:solidFill>
                <a:effectLst/>
                <a:uFillTx/>
                <a:latin typeface="Arial"/>
              </a:rPr>
              <a:t>Puedes escapar caracteres en una cadena colocando barras invertidas (\) delante de las comillas. </a:t>
            </a:r>
          </a:p>
        </p:txBody>
      </p:sp>
      <p:pic>
        <p:nvPicPr>
          <p:cNvPr id="44" name="Imagen 43"/>
          <p:cNvPicPr/>
          <p:nvPr/>
        </p:nvPicPr>
        <p:blipFill>
          <a:blip r:embed="rId2"/>
          <a:stretch/>
        </p:blipFill>
        <p:spPr>
          <a:xfrm>
            <a:off x="494544" y="1800000"/>
            <a:ext cx="3289680" cy="655560"/>
          </a:xfrm>
          <a:prstGeom prst="rect">
            <a:avLst/>
          </a:prstGeom>
          <a:noFill/>
          <a:ln w="0">
            <a:noFill/>
          </a:ln>
        </p:spPr>
      </p:pic>
      <p:pic>
        <p:nvPicPr>
          <p:cNvPr id="45" name="Imagen 44"/>
          <p:cNvPicPr/>
          <p:nvPr/>
        </p:nvPicPr>
        <p:blipFill>
          <a:blip r:embed="rId3"/>
          <a:stretch/>
        </p:blipFill>
        <p:spPr>
          <a:xfrm>
            <a:off x="494544" y="3005938"/>
            <a:ext cx="4679640" cy="559800"/>
          </a:xfrm>
          <a:prstGeom prst="rect">
            <a:avLst/>
          </a:prstGeom>
          <a:noFill/>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CuadroTexto 60"/>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s-ES" sz="2800" b="0" u="none" strike="noStrike">
                <a:solidFill>
                  <a:srgbClr val="0070C0"/>
                </a:solidFill>
                <a:effectLst/>
                <a:uFillTx/>
                <a:latin typeface="Titillium Web SemiBold"/>
                <a:ea typeface="DejaVu Sans"/>
              </a:rPr>
              <a:t>Métodos Comunes de Cadenas</a:t>
            </a:r>
            <a:endParaRPr lang="es-AR" sz="2800" b="0" u="none" strike="noStrike">
              <a:solidFill>
                <a:srgbClr val="000000"/>
              </a:solidFill>
              <a:effectLst/>
              <a:uFillTx/>
              <a:latin typeface="Arial"/>
            </a:endParaRPr>
          </a:p>
        </p:txBody>
      </p:sp>
      <p:sp>
        <p:nvSpPr>
          <p:cNvPr id="47" name="Rectángulo 46"/>
          <p:cNvSpPr/>
          <p:nvPr/>
        </p:nvSpPr>
        <p:spPr>
          <a:xfrm>
            <a:off x="286200" y="1278947"/>
            <a:ext cx="8893440" cy="4553639"/>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AR" sz="1500" b="1" u="none" strike="noStrike" dirty="0" err="1">
                <a:solidFill>
                  <a:srgbClr val="000000"/>
                </a:solidFill>
                <a:effectLst/>
                <a:uFillTx/>
                <a:latin typeface="Arial"/>
              </a:rPr>
              <a:t>indexOf</a:t>
            </a:r>
            <a:r>
              <a:rPr lang="es-AR" sz="1500" b="0" u="none" strike="noStrike" dirty="0">
                <a:solidFill>
                  <a:srgbClr val="000000"/>
                </a:solidFill>
                <a:effectLst/>
                <a:uFillTx/>
                <a:latin typeface="Arial"/>
              </a:rPr>
              <a:t>: Este método se utiliza para buscar una </a:t>
            </a:r>
            <a:r>
              <a:rPr lang="es-AR" sz="1500" b="0" u="none" strike="noStrike" dirty="0" err="1">
                <a:solidFill>
                  <a:srgbClr val="000000"/>
                </a:solidFill>
                <a:effectLst/>
                <a:uFillTx/>
                <a:latin typeface="Arial"/>
              </a:rPr>
              <a:t>subcadena</a:t>
            </a:r>
            <a:r>
              <a:rPr lang="es-AR" sz="1500" b="0" u="none" strike="noStrike" dirty="0">
                <a:solidFill>
                  <a:srgbClr val="000000"/>
                </a:solidFill>
                <a:effectLst/>
                <a:uFillTx/>
                <a:latin typeface="Arial"/>
              </a:rPr>
              <a:t> dentro de una cadena. Si se encuentra la </a:t>
            </a:r>
            <a:r>
              <a:rPr lang="es-AR" sz="1500" b="0" u="none" strike="noStrike" dirty="0" err="1">
                <a:solidFill>
                  <a:srgbClr val="000000"/>
                </a:solidFill>
                <a:effectLst/>
                <a:uFillTx/>
                <a:latin typeface="Arial"/>
              </a:rPr>
              <a:t>subcadena</a:t>
            </a:r>
            <a:r>
              <a:rPr lang="es-AR" sz="1500" b="0" u="none" strike="noStrike" dirty="0">
                <a:solidFill>
                  <a:srgbClr val="000000"/>
                </a:solidFill>
                <a:effectLst/>
                <a:uFillTx/>
                <a:latin typeface="Arial"/>
              </a:rPr>
              <a:t>, </a:t>
            </a:r>
            <a:r>
              <a:rPr lang="es-AR" sz="1500" b="0" u="none" strike="noStrike" dirty="0" err="1">
                <a:solidFill>
                  <a:srgbClr val="000000"/>
                </a:solidFill>
                <a:effectLst/>
                <a:uFillTx/>
                <a:latin typeface="Arial"/>
              </a:rPr>
              <a:t>indexOf</a:t>
            </a:r>
            <a:r>
              <a:rPr lang="es-AR" sz="1500" b="0" u="none" strike="noStrike" dirty="0">
                <a:solidFill>
                  <a:srgbClr val="000000"/>
                </a:solidFill>
                <a:effectLst/>
                <a:uFillTx/>
                <a:latin typeface="Arial"/>
              </a:rPr>
              <a:t> devuelve el índice (o posición) de la primera aparición de esa </a:t>
            </a:r>
            <a:r>
              <a:rPr lang="es-AR" sz="1500" b="0" u="none" strike="noStrike" dirty="0" err="1">
                <a:solidFill>
                  <a:srgbClr val="000000"/>
                </a:solidFill>
                <a:effectLst/>
                <a:uFillTx/>
                <a:latin typeface="Arial"/>
              </a:rPr>
              <a:t>subcadena</a:t>
            </a:r>
            <a:r>
              <a:rPr lang="es-AR" sz="1500" b="0" u="none" strike="noStrike" dirty="0">
                <a:solidFill>
                  <a:srgbClr val="000000"/>
                </a:solidFill>
                <a:effectLst/>
                <a:uFillTx/>
                <a:latin typeface="Arial"/>
              </a:rPr>
              <a:t>. Si no se encuentra la </a:t>
            </a:r>
            <a:r>
              <a:rPr lang="es-AR" sz="1500" b="0" u="none" strike="noStrike" dirty="0" err="1">
                <a:solidFill>
                  <a:srgbClr val="000000"/>
                </a:solidFill>
                <a:effectLst/>
                <a:uFillTx/>
                <a:latin typeface="Arial"/>
              </a:rPr>
              <a:t>subcadena</a:t>
            </a:r>
            <a:r>
              <a:rPr lang="es-AR" sz="1500" b="0" u="none" strike="noStrike" dirty="0">
                <a:solidFill>
                  <a:srgbClr val="000000"/>
                </a:solidFill>
                <a:effectLst/>
                <a:uFillTx/>
                <a:latin typeface="Arial"/>
              </a:rPr>
              <a:t>, </a:t>
            </a:r>
            <a:r>
              <a:rPr lang="es-AR" sz="1500" b="0" u="none" strike="noStrike" dirty="0" err="1">
                <a:solidFill>
                  <a:srgbClr val="000000"/>
                </a:solidFill>
                <a:effectLst/>
                <a:uFillTx/>
                <a:latin typeface="Arial"/>
              </a:rPr>
              <a:t>indexOf</a:t>
            </a:r>
            <a:r>
              <a:rPr lang="es-AR" sz="1500" b="0" u="none" strike="noStrike" dirty="0">
                <a:solidFill>
                  <a:srgbClr val="000000"/>
                </a:solidFill>
                <a:effectLst/>
                <a:uFillTx/>
                <a:latin typeface="Arial"/>
              </a:rPr>
              <a:t> devuelve -1, lo que indica que la búsqueda no tuvo éxito</a:t>
            </a:r>
            <a:r>
              <a:rPr lang="es-AR" sz="1500" b="0" u="none" strike="noStrike" dirty="0" smtClean="0">
                <a:solidFill>
                  <a:srgbClr val="000000"/>
                </a:solidFill>
                <a:effectLst/>
                <a:uFillTx/>
                <a:latin typeface="Arial"/>
              </a:rPr>
              <a:t>.</a:t>
            </a:r>
          </a:p>
          <a:p>
            <a:pPr>
              <a:lnSpc>
                <a:spcPct val="100000"/>
              </a:lnSpc>
            </a:pPr>
            <a:endParaRPr lang="es-AR" sz="1500" b="0" u="none" strike="noStrike" dirty="0">
              <a:solidFill>
                <a:srgbClr val="000000"/>
              </a:solidFill>
              <a:effectLst/>
              <a:uFillTx/>
              <a:latin typeface="Arial"/>
            </a:endParaRPr>
          </a:p>
          <a:p>
            <a:pPr>
              <a:lnSpc>
                <a:spcPct val="100000"/>
              </a:lnSpc>
            </a:pPr>
            <a:r>
              <a:rPr lang="es-AR" sz="1500" b="1" u="none" strike="noStrike" dirty="0" err="1">
                <a:solidFill>
                  <a:srgbClr val="000000"/>
                </a:solidFill>
                <a:effectLst/>
                <a:uFillTx/>
                <a:latin typeface="Arial"/>
                <a:ea typeface="Liberation Mono;Courier New;DejaVu Sans Mono"/>
              </a:rPr>
              <a:t>includes</a:t>
            </a:r>
            <a:r>
              <a:rPr lang="es-AR" sz="1500" b="1" u="none" strike="noStrike" dirty="0">
                <a:solidFill>
                  <a:srgbClr val="000000"/>
                </a:solidFill>
                <a:effectLst/>
                <a:uFillTx/>
                <a:latin typeface="Arial"/>
                <a:ea typeface="Liberation Mono;Courier New;DejaVu Sans Mono"/>
              </a:rPr>
              <a:t>()</a:t>
            </a:r>
            <a:r>
              <a:rPr lang="es-AR" sz="1500" b="0" u="none" strike="noStrike" dirty="0">
                <a:solidFill>
                  <a:srgbClr val="000000"/>
                </a:solidFill>
                <a:effectLst/>
                <a:uFillTx/>
                <a:latin typeface="Arial"/>
                <a:ea typeface="Liberation Mono;Courier New;DejaVu Sans Mono"/>
              </a:rPr>
              <a:t>: Este método se utiliza para verificar si una cadena contiene una </a:t>
            </a:r>
            <a:r>
              <a:rPr lang="es-AR" sz="1500" b="0" u="none" strike="noStrike" dirty="0" err="1">
                <a:solidFill>
                  <a:srgbClr val="000000"/>
                </a:solidFill>
                <a:effectLst/>
                <a:uFillTx/>
                <a:latin typeface="Arial"/>
                <a:ea typeface="Liberation Mono;Courier New;DejaVu Sans Mono"/>
              </a:rPr>
              <a:t>subcadena</a:t>
            </a:r>
            <a:r>
              <a:rPr lang="es-AR" sz="1500" b="0" u="none" strike="noStrike" dirty="0">
                <a:solidFill>
                  <a:srgbClr val="000000"/>
                </a:solidFill>
                <a:effectLst/>
                <a:uFillTx/>
                <a:latin typeface="Arial"/>
                <a:ea typeface="Liberation Mono;Courier New;DejaVu Sans Mono"/>
              </a:rPr>
              <a:t> específica. Si se encuentra la </a:t>
            </a:r>
            <a:r>
              <a:rPr lang="es-AR" sz="1500" b="0" u="none" strike="noStrike" dirty="0" err="1">
                <a:solidFill>
                  <a:srgbClr val="000000"/>
                </a:solidFill>
                <a:effectLst/>
                <a:uFillTx/>
                <a:latin typeface="Arial"/>
                <a:ea typeface="Liberation Mono;Courier New;DejaVu Sans Mono"/>
              </a:rPr>
              <a:t>subcadena</a:t>
            </a:r>
            <a:r>
              <a:rPr lang="es-AR" sz="1500" b="0" u="none" strike="noStrike" dirty="0">
                <a:solidFill>
                  <a:srgbClr val="000000"/>
                </a:solidFill>
                <a:effectLst/>
                <a:uFillTx/>
                <a:latin typeface="Arial"/>
                <a:ea typeface="Liberation Mono;Courier New;DejaVu Sans Mono"/>
              </a:rPr>
              <a:t> dentro de la cadena, el método devuelve verdadero. De lo contrario, devuelve falso.</a:t>
            </a:r>
            <a:endParaRPr lang="es-AR" sz="1500" b="0" u="none" strike="noStrike" dirty="0">
              <a:solidFill>
                <a:srgbClr val="000000"/>
              </a:solidFill>
              <a:effectLst/>
              <a:uFillTx/>
              <a:latin typeface="Arial"/>
            </a:endParaRPr>
          </a:p>
          <a:p>
            <a:pPr>
              <a:lnSpc>
                <a:spcPct val="100000"/>
              </a:lnSpc>
            </a:pPr>
            <a:endParaRPr lang="es-AR" sz="1000" b="0" u="none" strike="noStrike" dirty="0">
              <a:solidFill>
                <a:srgbClr val="000000"/>
              </a:solidFill>
              <a:effectLst/>
              <a:uFillTx/>
              <a:latin typeface="Arial"/>
            </a:endParaRPr>
          </a:p>
          <a:p>
            <a:pPr>
              <a:lnSpc>
                <a:spcPct val="100000"/>
              </a:lnSpc>
            </a:pPr>
            <a:r>
              <a:rPr lang="es-AR" sz="1500" b="1" u="none" strike="noStrike" dirty="0" err="1">
                <a:solidFill>
                  <a:srgbClr val="000000"/>
                </a:solidFill>
                <a:effectLst/>
                <a:uFillTx/>
                <a:latin typeface="Arial"/>
                <a:ea typeface="Liberation Mono;Courier New;DejaVu Sans Mono"/>
              </a:rPr>
              <a:t>slice</a:t>
            </a:r>
            <a:r>
              <a:rPr lang="es-AR" sz="1500" b="1" u="none" strike="noStrike" dirty="0">
                <a:solidFill>
                  <a:srgbClr val="000000"/>
                </a:solidFill>
                <a:effectLst/>
                <a:uFillTx/>
                <a:latin typeface="Arial"/>
                <a:ea typeface="Liberation Mono;Courier New;DejaVu Sans Mono"/>
              </a:rPr>
              <a:t>()</a:t>
            </a:r>
            <a:r>
              <a:rPr lang="es-AR" sz="1500" b="0" u="none" strike="noStrike" dirty="0">
                <a:solidFill>
                  <a:srgbClr val="000000"/>
                </a:solidFill>
                <a:effectLst/>
                <a:uFillTx/>
                <a:latin typeface="Arial"/>
                <a:ea typeface="Liberation Mono;Courier New;DejaVu Sans Mono"/>
              </a:rPr>
              <a:t>: Este método extrae una porción de una cadena y devuelve una nueva cadena, sin modificar la cadena original. Toma dos parámetros: el índice de inicio y el índice de fin opcional.</a:t>
            </a:r>
            <a:endParaRPr lang="es-AR" sz="1500" b="0" u="none" strike="noStrike" dirty="0">
              <a:solidFill>
                <a:srgbClr val="000000"/>
              </a:solidFill>
              <a:effectLst/>
              <a:uFillTx/>
              <a:latin typeface="Arial"/>
            </a:endParaRPr>
          </a:p>
          <a:p>
            <a:pPr>
              <a:lnSpc>
                <a:spcPct val="100000"/>
              </a:lnSpc>
            </a:pPr>
            <a:endParaRPr lang="es-AR" sz="1000" b="0" u="none" strike="noStrike" dirty="0">
              <a:solidFill>
                <a:srgbClr val="000000"/>
              </a:solidFill>
              <a:effectLst/>
              <a:uFillTx/>
              <a:latin typeface="Arial"/>
            </a:endParaRPr>
          </a:p>
          <a:p>
            <a:pPr>
              <a:lnSpc>
                <a:spcPct val="100000"/>
              </a:lnSpc>
            </a:pPr>
            <a:r>
              <a:rPr lang="es-AR" sz="1500" b="1" u="none" strike="noStrike" dirty="0" err="1">
                <a:solidFill>
                  <a:srgbClr val="000000"/>
                </a:solidFill>
                <a:effectLst/>
                <a:uFillTx/>
                <a:latin typeface="Arial"/>
                <a:ea typeface="Liberation Mono;Courier New;DejaVu Sans Mono"/>
              </a:rPr>
              <a:t>toUpperCase</a:t>
            </a:r>
            <a:r>
              <a:rPr lang="es-AR" sz="1500" b="1" u="none" strike="noStrike" dirty="0">
                <a:solidFill>
                  <a:srgbClr val="000000"/>
                </a:solidFill>
                <a:effectLst/>
                <a:uFillTx/>
                <a:latin typeface="Arial"/>
                <a:ea typeface="Liberation Mono;Courier New;DejaVu Sans Mono"/>
              </a:rPr>
              <a:t>()</a:t>
            </a:r>
            <a:r>
              <a:rPr lang="es-AR" sz="1500" b="0" u="none" strike="noStrike" dirty="0">
                <a:solidFill>
                  <a:srgbClr val="000000"/>
                </a:solidFill>
                <a:effectLst/>
                <a:uFillTx/>
                <a:latin typeface="Arial"/>
                <a:ea typeface="Liberation Mono;Courier New;DejaVu Sans Mono"/>
              </a:rPr>
              <a:t>: Este método convierte todos los caracteres a letras mayúsculas y devuelve una nueva cadena con todos los caracteres en mayúscula.</a:t>
            </a:r>
            <a:endParaRPr lang="es-AR" sz="1500" b="0" u="none" strike="noStrike" dirty="0">
              <a:solidFill>
                <a:srgbClr val="000000"/>
              </a:solidFill>
              <a:effectLst/>
              <a:uFillTx/>
              <a:latin typeface="Arial"/>
            </a:endParaRPr>
          </a:p>
          <a:p>
            <a:pPr>
              <a:lnSpc>
                <a:spcPct val="100000"/>
              </a:lnSpc>
            </a:pPr>
            <a:endParaRPr lang="es-AR" sz="1000" b="0" u="none" strike="noStrike" dirty="0">
              <a:solidFill>
                <a:srgbClr val="000000"/>
              </a:solidFill>
              <a:effectLst/>
              <a:uFillTx/>
              <a:latin typeface="Arial"/>
            </a:endParaRPr>
          </a:p>
          <a:p>
            <a:pPr>
              <a:lnSpc>
                <a:spcPct val="100000"/>
              </a:lnSpc>
            </a:pPr>
            <a:r>
              <a:rPr lang="es-AR" sz="1500" b="1" u="none" strike="noStrike" dirty="0" err="1">
                <a:solidFill>
                  <a:srgbClr val="000000"/>
                </a:solidFill>
                <a:effectLst/>
                <a:uFillTx/>
                <a:latin typeface="Arial"/>
                <a:ea typeface="Liberation Mono;Courier New;DejaVu Sans Mono"/>
              </a:rPr>
              <a:t>toLowerCase</a:t>
            </a:r>
            <a:r>
              <a:rPr lang="es-AR" sz="1500" b="1" u="none" strike="noStrike" dirty="0">
                <a:solidFill>
                  <a:srgbClr val="000000"/>
                </a:solidFill>
                <a:effectLst/>
                <a:uFillTx/>
                <a:latin typeface="Arial"/>
                <a:ea typeface="Liberation Mono;Courier New;DejaVu Sans Mono"/>
              </a:rPr>
              <a:t>()</a:t>
            </a:r>
            <a:r>
              <a:rPr lang="es-AR" sz="1500" b="0" u="none" strike="noStrike" dirty="0">
                <a:solidFill>
                  <a:srgbClr val="000000"/>
                </a:solidFill>
                <a:effectLst/>
                <a:uFillTx/>
                <a:latin typeface="Arial"/>
                <a:ea typeface="Liberation Mono;Courier New;DejaVu Sans Mono"/>
              </a:rPr>
              <a:t>: Este método convierte todos los caracteres de una cadena a minúsculas.</a:t>
            </a:r>
            <a:endParaRPr lang="es-AR" sz="1500" b="0" u="none" strike="noStrike" dirty="0">
              <a:solidFill>
                <a:srgbClr val="000000"/>
              </a:solidFill>
              <a:effectLst/>
              <a:uFillTx/>
              <a:latin typeface="Arial"/>
            </a:endParaRPr>
          </a:p>
          <a:p>
            <a:pPr>
              <a:lnSpc>
                <a:spcPct val="100000"/>
              </a:lnSpc>
            </a:pPr>
            <a:endParaRPr lang="es-AR" sz="1000" b="0" u="none" strike="noStrike" dirty="0">
              <a:solidFill>
                <a:srgbClr val="000000"/>
              </a:solidFill>
              <a:effectLst/>
              <a:uFillTx/>
              <a:latin typeface="Arial"/>
            </a:endParaRPr>
          </a:p>
          <a:p>
            <a:pPr>
              <a:lnSpc>
                <a:spcPct val="100000"/>
              </a:lnSpc>
            </a:pPr>
            <a:r>
              <a:rPr lang="es-AR" sz="1500" b="1" u="none" strike="noStrike" dirty="0" err="1">
                <a:solidFill>
                  <a:srgbClr val="000000"/>
                </a:solidFill>
                <a:effectLst/>
                <a:uFillTx/>
                <a:latin typeface="Arial"/>
                <a:ea typeface="Liberation Mono;Courier New;DejaVu Sans Mono"/>
              </a:rPr>
              <a:t>replace</a:t>
            </a:r>
            <a:r>
              <a:rPr lang="es-AR" sz="1500" b="1" u="none" strike="noStrike" dirty="0">
                <a:solidFill>
                  <a:srgbClr val="000000"/>
                </a:solidFill>
                <a:effectLst/>
                <a:uFillTx/>
                <a:latin typeface="Arial"/>
                <a:ea typeface="Liberation Mono;Courier New;DejaVu Sans Mono"/>
              </a:rPr>
              <a:t>()</a:t>
            </a:r>
            <a:r>
              <a:rPr lang="es-AR" sz="1500" b="0" u="none" strike="noStrike" dirty="0">
                <a:solidFill>
                  <a:srgbClr val="000000"/>
                </a:solidFill>
                <a:effectLst/>
                <a:uFillTx/>
                <a:latin typeface="Arial"/>
                <a:ea typeface="Liberation Mono;Courier New;DejaVu Sans Mono"/>
              </a:rPr>
              <a:t>: Este método te permite encontrar un valor especificado (como una palabra o carácter) en una cadena y reemplazarlo con otro valor. El método devuelve una nueva cadena con el reemplazo y deja la original sin cambios porque las cadenas en JavaScript son inmutables.</a:t>
            </a:r>
            <a:endParaRPr lang="es-AR" sz="1500" b="0" u="none" strike="noStrike" dirty="0">
              <a:solidFill>
                <a:srgbClr val="000000"/>
              </a:solidFill>
              <a:effectLst/>
              <a:uFillTx/>
              <a:latin typeface="Arial"/>
            </a:endParaRPr>
          </a:p>
          <a:p>
            <a:pPr>
              <a:lnSpc>
                <a:spcPct val="100000"/>
              </a:lnSpc>
            </a:pPr>
            <a:endParaRPr lang="es-AR" sz="1000" b="0" u="none" strike="noStrike" dirty="0">
              <a:solidFill>
                <a:srgbClr val="000000"/>
              </a:solidFill>
              <a:effectLst/>
              <a:uFillTx/>
              <a:latin typeface="Arial"/>
            </a:endParaRPr>
          </a:p>
          <a:p>
            <a:pPr>
              <a:lnSpc>
                <a:spcPct val="100000"/>
              </a:lnSpc>
            </a:pPr>
            <a:endParaRPr lang="es-AR" sz="1500" b="0" u="none" strike="noStrike" dirty="0">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CuadroTexto 63"/>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s-ES" sz="2800" b="0" u="none" strike="noStrike">
                <a:solidFill>
                  <a:srgbClr val="0070C0"/>
                </a:solidFill>
                <a:effectLst/>
                <a:uFillTx/>
                <a:latin typeface="Titillium Web SemiBold"/>
                <a:ea typeface="DejaVu Sans"/>
              </a:rPr>
              <a:t>Métodos Comunes de Cadenas</a:t>
            </a:r>
            <a:endParaRPr lang="es-AR" sz="2800" b="0" u="none" strike="noStrike">
              <a:solidFill>
                <a:srgbClr val="000000"/>
              </a:solidFill>
              <a:effectLst/>
              <a:uFillTx/>
              <a:latin typeface="Arial"/>
            </a:endParaRPr>
          </a:p>
        </p:txBody>
      </p:sp>
      <p:sp>
        <p:nvSpPr>
          <p:cNvPr id="49" name="Rectángulo 48"/>
          <p:cNvSpPr/>
          <p:nvPr/>
        </p:nvSpPr>
        <p:spPr>
          <a:xfrm>
            <a:off x="286200" y="1059028"/>
            <a:ext cx="8893440" cy="4435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AR" sz="1500" b="1" u="none" strike="noStrike" dirty="0" err="1">
                <a:solidFill>
                  <a:srgbClr val="000000"/>
                </a:solidFill>
                <a:effectLst/>
                <a:uFillTx/>
                <a:latin typeface="Arial"/>
              </a:rPr>
              <a:t>replaceAll</a:t>
            </a:r>
            <a:r>
              <a:rPr lang="es-AR" sz="1500" b="1" u="none" strike="noStrike" dirty="0">
                <a:solidFill>
                  <a:srgbClr val="000000"/>
                </a:solidFill>
                <a:effectLst/>
                <a:uFillTx/>
                <a:latin typeface="Arial"/>
              </a:rPr>
              <a:t>()</a:t>
            </a:r>
            <a:r>
              <a:rPr lang="es-AR" sz="1500" b="0" u="none" strike="noStrike" dirty="0">
                <a:solidFill>
                  <a:srgbClr val="000000"/>
                </a:solidFill>
                <a:effectLst/>
                <a:uFillTx/>
                <a:latin typeface="Arial"/>
              </a:rPr>
              <a:t>: Este método te permite encontrar todas las ocurrencias de un valor especificado (una palabra, carácter o patrón) en una cadena y reemplazarlas con otro valor. Funciona como </a:t>
            </a:r>
            <a:r>
              <a:rPr lang="es-AR" sz="1500" b="0" u="none" strike="noStrike" dirty="0" err="1">
                <a:solidFill>
                  <a:srgbClr val="000000"/>
                </a:solidFill>
                <a:effectLst/>
                <a:uFillTx/>
                <a:latin typeface="Arial"/>
              </a:rPr>
              <a:t>replace</a:t>
            </a:r>
            <a:r>
              <a:rPr lang="es-AR" sz="1500" b="0" u="none" strike="noStrike" dirty="0">
                <a:solidFill>
                  <a:srgbClr val="000000"/>
                </a:solidFill>
                <a:effectLst/>
                <a:uFillTx/>
                <a:latin typeface="Arial"/>
              </a:rPr>
              <a:t>(), pero en lugar de detenerse después de la primera coincidencia, actualiza cada coincidencia encontrada en la cadena.</a:t>
            </a:r>
          </a:p>
          <a:p>
            <a:pPr>
              <a:lnSpc>
                <a:spcPct val="100000"/>
              </a:lnSpc>
            </a:pPr>
            <a:endParaRPr lang="es-AR" sz="1000" b="0" u="none" strike="noStrike" dirty="0">
              <a:solidFill>
                <a:srgbClr val="000000"/>
              </a:solidFill>
              <a:effectLst/>
              <a:uFillTx/>
              <a:latin typeface="Arial"/>
            </a:endParaRPr>
          </a:p>
          <a:p>
            <a:pPr>
              <a:lnSpc>
                <a:spcPct val="100000"/>
              </a:lnSpc>
            </a:pPr>
            <a:r>
              <a:rPr lang="es-AR" sz="1500" b="1" u="none" strike="noStrike" dirty="0" err="1">
                <a:solidFill>
                  <a:srgbClr val="000000"/>
                </a:solidFill>
                <a:effectLst/>
                <a:uFillTx/>
                <a:latin typeface="Arial"/>
                <a:ea typeface="Liberation Mono;Courier New;DejaVu Sans Mono"/>
              </a:rPr>
              <a:t>repeat</a:t>
            </a:r>
            <a:r>
              <a:rPr lang="es-AR" sz="1500" b="1" u="none" strike="noStrike" dirty="0">
                <a:solidFill>
                  <a:srgbClr val="000000"/>
                </a:solidFill>
                <a:effectLst/>
                <a:uFillTx/>
                <a:latin typeface="Arial"/>
                <a:ea typeface="Liberation Mono;Courier New;DejaVu Sans Mono"/>
              </a:rPr>
              <a:t>()</a:t>
            </a:r>
            <a:r>
              <a:rPr lang="es-AR" sz="1500" b="0" u="none" strike="noStrike" dirty="0">
                <a:solidFill>
                  <a:srgbClr val="000000"/>
                </a:solidFill>
                <a:effectLst/>
                <a:uFillTx/>
                <a:latin typeface="Arial"/>
                <a:ea typeface="Liberation Mono;Courier New;DejaVu Sans Mono"/>
              </a:rPr>
              <a:t>: Este método se utiliza para repetir una cadena un número especificado de veces.</a:t>
            </a:r>
            <a:endParaRPr lang="es-AR" sz="1500" b="0" u="none" strike="noStrike" dirty="0">
              <a:solidFill>
                <a:srgbClr val="000000"/>
              </a:solidFill>
              <a:effectLst/>
              <a:uFillTx/>
              <a:latin typeface="Arial"/>
            </a:endParaRPr>
          </a:p>
          <a:p>
            <a:pPr>
              <a:lnSpc>
                <a:spcPct val="100000"/>
              </a:lnSpc>
            </a:pPr>
            <a:endParaRPr lang="es-AR" sz="1000" b="0" u="none" strike="noStrike" dirty="0">
              <a:solidFill>
                <a:srgbClr val="000000"/>
              </a:solidFill>
              <a:effectLst/>
              <a:uFillTx/>
              <a:latin typeface="Arial"/>
            </a:endParaRPr>
          </a:p>
          <a:p>
            <a:pPr>
              <a:lnSpc>
                <a:spcPct val="100000"/>
              </a:lnSpc>
            </a:pPr>
            <a:endParaRPr lang="es-AR" sz="1000" b="0" u="none" strike="noStrike" dirty="0">
              <a:solidFill>
                <a:srgbClr val="000000"/>
              </a:solidFill>
              <a:effectLst/>
              <a:uFillTx/>
              <a:latin typeface="Arial"/>
            </a:endParaRPr>
          </a:p>
          <a:p>
            <a:pPr>
              <a:lnSpc>
                <a:spcPct val="100000"/>
              </a:lnSpc>
            </a:pPr>
            <a:r>
              <a:rPr lang="es-AR" sz="1500" b="1" u="none" strike="noStrike" dirty="0" err="1">
                <a:solidFill>
                  <a:srgbClr val="000000"/>
                </a:solidFill>
                <a:effectLst/>
                <a:uFillTx/>
                <a:latin typeface="Arial"/>
                <a:ea typeface="Liberation Mono;Courier New;DejaVu Sans Mono"/>
              </a:rPr>
              <a:t>trim</a:t>
            </a:r>
            <a:r>
              <a:rPr lang="es-AR" sz="1500" b="1" u="none" strike="noStrike" dirty="0">
                <a:solidFill>
                  <a:srgbClr val="000000"/>
                </a:solidFill>
                <a:effectLst/>
                <a:uFillTx/>
                <a:latin typeface="Arial"/>
                <a:ea typeface="Liberation Mono;Courier New;DejaVu Sans Mono"/>
              </a:rPr>
              <a:t>()</a:t>
            </a:r>
            <a:r>
              <a:rPr lang="es-AR" sz="1500" b="0" u="none" strike="noStrike" dirty="0">
                <a:solidFill>
                  <a:srgbClr val="000000"/>
                </a:solidFill>
                <a:effectLst/>
                <a:uFillTx/>
                <a:latin typeface="Arial"/>
                <a:ea typeface="Liberation Mono;Courier New;DejaVu Sans Mono"/>
              </a:rPr>
              <a:t>: Este método se utiliza para eliminar espacios en blanco tanto del principio como del final de una cadena.</a:t>
            </a:r>
            <a:endParaRPr lang="es-AR" sz="1500" b="0" u="none" strike="noStrike" dirty="0">
              <a:solidFill>
                <a:srgbClr val="000000"/>
              </a:solidFill>
              <a:effectLst/>
              <a:uFillTx/>
              <a:latin typeface="Arial"/>
            </a:endParaRPr>
          </a:p>
          <a:p>
            <a:pPr>
              <a:lnSpc>
                <a:spcPct val="100000"/>
              </a:lnSpc>
            </a:pPr>
            <a:endParaRPr lang="es-AR" sz="1000" b="0" u="none" strike="noStrike" dirty="0">
              <a:solidFill>
                <a:srgbClr val="000000"/>
              </a:solidFill>
              <a:effectLst/>
              <a:uFillTx/>
              <a:latin typeface="Arial"/>
            </a:endParaRPr>
          </a:p>
          <a:p>
            <a:pPr>
              <a:lnSpc>
                <a:spcPct val="100000"/>
              </a:lnSpc>
            </a:pPr>
            <a:endParaRPr lang="es-AR" sz="1000" b="0" u="none" strike="noStrike" dirty="0">
              <a:solidFill>
                <a:srgbClr val="000000"/>
              </a:solidFill>
              <a:effectLst/>
              <a:uFillTx/>
              <a:latin typeface="Arial"/>
            </a:endParaRPr>
          </a:p>
          <a:p>
            <a:pPr>
              <a:lnSpc>
                <a:spcPct val="100000"/>
              </a:lnSpc>
            </a:pPr>
            <a:r>
              <a:rPr lang="es-AR" sz="1500" b="1" u="none" strike="noStrike" dirty="0" err="1">
                <a:solidFill>
                  <a:srgbClr val="000000"/>
                </a:solidFill>
                <a:effectLst/>
                <a:uFillTx/>
                <a:latin typeface="Arial"/>
                <a:ea typeface="Liberation Mono;Courier New;DejaVu Sans Mono"/>
              </a:rPr>
              <a:t>trimStart</a:t>
            </a:r>
            <a:r>
              <a:rPr lang="es-AR" sz="1500" b="1" u="none" strike="noStrike" dirty="0">
                <a:solidFill>
                  <a:srgbClr val="000000"/>
                </a:solidFill>
                <a:effectLst/>
                <a:uFillTx/>
                <a:latin typeface="Arial"/>
                <a:ea typeface="Liberation Mono;Courier New;DejaVu Sans Mono"/>
              </a:rPr>
              <a:t>()</a:t>
            </a:r>
            <a:r>
              <a:rPr lang="es-AR" sz="1500" b="0" u="none" strike="noStrike" dirty="0">
                <a:solidFill>
                  <a:srgbClr val="000000"/>
                </a:solidFill>
                <a:effectLst/>
                <a:uFillTx/>
                <a:latin typeface="Arial"/>
                <a:ea typeface="Liberation Mono;Courier New;DejaVu Sans Mono"/>
              </a:rPr>
              <a:t>: Este método elimina los espacios en blanco del inicio (o "comienzo") de la cadena.</a:t>
            </a:r>
            <a:endParaRPr lang="es-AR" sz="1500" b="0" u="none" strike="noStrike" dirty="0">
              <a:solidFill>
                <a:srgbClr val="000000"/>
              </a:solidFill>
              <a:effectLst/>
              <a:uFillTx/>
              <a:latin typeface="Arial"/>
            </a:endParaRPr>
          </a:p>
          <a:p>
            <a:pPr>
              <a:lnSpc>
                <a:spcPct val="100000"/>
              </a:lnSpc>
            </a:pPr>
            <a:endParaRPr lang="es-AR" sz="1000" b="0" u="none" strike="noStrike" dirty="0">
              <a:solidFill>
                <a:srgbClr val="000000"/>
              </a:solidFill>
              <a:effectLst/>
              <a:uFillTx/>
              <a:latin typeface="Arial"/>
            </a:endParaRPr>
          </a:p>
          <a:p>
            <a:pPr>
              <a:lnSpc>
                <a:spcPct val="100000"/>
              </a:lnSpc>
            </a:pPr>
            <a:endParaRPr lang="es-AR" sz="1000" b="0" u="none" strike="noStrike" dirty="0">
              <a:solidFill>
                <a:srgbClr val="000000"/>
              </a:solidFill>
              <a:effectLst/>
              <a:uFillTx/>
              <a:latin typeface="Arial"/>
            </a:endParaRPr>
          </a:p>
          <a:p>
            <a:pPr>
              <a:lnSpc>
                <a:spcPct val="100000"/>
              </a:lnSpc>
            </a:pPr>
            <a:r>
              <a:rPr lang="es-AR" sz="1500" b="1" u="none" strike="noStrike" dirty="0" err="1">
                <a:solidFill>
                  <a:srgbClr val="000000"/>
                </a:solidFill>
                <a:effectLst/>
                <a:uFillTx/>
                <a:latin typeface="Arial"/>
                <a:ea typeface="Liberation Mono;Courier New;DejaVu Sans Mono"/>
              </a:rPr>
              <a:t>trimEnd</a:t>
            </a:r>
            <a:r>
              <a:rPr lang="es-AR" sz="1500" b="1" u="none" strike="noStrike" dirty="0">
                <a:solidFill>
                  <a:srgbClr val="000000"/>
                </a:solidFill>
                <a:effectLst/>
                <a:uFillTx/>
                <a:latin typeface="Arial"/>
                <a:ea typeface="Liberation Mono;Courier New;DejaVu Sans Mono"/>
              </a:rPr>
              <a:t>()</a:t>
            </a:r>
            <a:r>
              <a:rPr lang="es-AR" sz="1500" b="0" u="none" strike="noStrike" dirty="0">
                <a:solidFill>
                  <a:srgbClr val="000000"/>
                </a:solidFill>
                <a:effectLst/>
                <a:uFillTx/>
                <a:latin typeface="Arial"/>
                <a:ea typeface="Liberation Mono;Courier New;DejaVu Sans Mono"/>
              </a:rPr>
              <a:t>: Este método elimina los espacios en blanco del final de la cadena.</a:t>
            </a:r>
            <a:endParaRPr lang="es-AR" sz="1500" b="0" u="none" strike="noStrike" dirty="0">
              <a:solidFill>
                <a:srgbClr val="000000"/>
              </a:solidFill>
              <a:effectLst/>
              <a:uFillTx/>
              <a:latin typeface="Arial"/>
            </a:endParaRPr>
          </a:p>
          <a:p>
            <a:pPr>
              <a:lnSpc>
                <a:spcPct val="100000"/>
              </a:lnSpc>
            </a:pPr>
            <a:endParaRPr lang="es-AR" sz="1000" b="0" u="none" strike="noStrike" dirty="0">
              <a:solidFill>
                <a:srgbClr val="000000"/>
              </a:solidFill>
              <a:effectLst/>
              <a:uFillTx/>
              <a:latin typeface="Arial"/>
            </a:endParaRPr>
          </a:p>
          <a:p>
            <a:pPr>
              <a:lnSpc>
                <a:spcPct val="100000"/>
              </a:lnSpc>
            </a:pPr>
            <a:r>
              <a:rPr lang="es-AR" sz="1500" b="1" u="none" strike="noStrike" dirty="0" err="1">
                <a:solidFill>
                  <a:srgbClr val="000000"/>
                </a:solidFill>
                <a:effectLst/>
                <a:uFillTx/>
                <a:latin typeface="Arial"/>
                <a:ea typeface="Liberation Mono;Courier New;DejaVu Sans Mono"/>
              </a:rPr>
              <a:t>prompt</a:t>
            </a:r>
            <a:r>
              <a:rPr lang="es-AR" sz="1500" b="1" u="none" strike="noStrike" dirty="0">
                <a:solidFill>
                  <a:srgbClr val="000000"/>
                </a:solidFill>
                <a:effectLst/>
                <a:uFillTx/>
                <a:latin typeface="Arial"/>
                <a:ea typeface="Liberation Mono;Courier New;DejaVu Sans Mono"/>
              </a:rPr>
              <a:t>()</a:t>
            </a:r>
            <a:r>
              <a:rPr lang="es-AR" sz="1500" b="0" u="none" strike="noStrike" dirty="0">
                <a:solidFill>
                  <a:srgbClr val="000000"/>
                </a:solidFill>
                <a:effectLst/>
                <a:uFillTx/>
                <a:latin typeface="Arial"/>
                <a:ea typeface="Liberation Mono;Courier New;DejaVu Sans Mono"/>
              </a:rPr>
              <a:t>: Este método del </a:t>
            </a:r>
            <a:r>
              <a:rPr lang="es-AR" sz="1500" b="0" u="none" strike="noStrike" dirty="0" err="1">
                <a:solidFill>
                  <a:srgbClr val="000000"/>
                </a:solidFill>
                <a:effectLst/>
                <a:uFillTx/>
                <a:latin typeface="Arial"/>
                <a:ea typeface="Liberation Mono;Courier New;DejaVu Sans Mono"/>
              </a:rPr>
              <a:t>window</a:t>
            </a:r>
            <a:r>
              <a:rPr lang="es-AR" sz="1500" b="0" u="none" strike="noStrike" dirty="0">
                <a:solidFill>
                  <a:srgbClr val="000000"/>
                </a:solidFill>
                <a:effectLst/>
                <a:uFillTx/>
                <a:latin typeface="Arial"/>
                <a:ea typeface="Liberation Mono;Courier New;DejaVu Sans Mono"/>
              </a:rPr>
              <a:t> se utiliza para obtener información de un usuario a través de un cuadro de diálogo. Este método toma dos argumentos. El primer argumento es el mensaje que aparecerá dentro del cuadro de diálogo, típicamente pidiendo al usuario que ingrese información. El segundo es un valor predeterminado que es opcional y llenará el campo de entrada inicialmente.</a:t>
            </a:r>
            <a:endParaRPr lang="es-AR" sz="1500" b="0" u="none" strike="noStrike" dirty="0">
              <a:solidFill>
                <a:srgbClr val="000000"/>
              </a:solidFill>
              <a:effectLst/>
              <a:uFillTx/>
              <a:latin typeface="Arial"/>
            </a:endParaRPr>
          </a:p>
          <a:p>
            <a:pPr>
              <a:lnSpc>
                <a:spcPct val="100000"/>
              </a:lnSpc>
            </a:pPr>
            <a:endParaRPr lang="es-AR" sz="1000" b="0" u="none" strike="noStrike" dirty="0">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CuadroTexto 21"/>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s-ES" sz="2800" b="0" u="none" strike="noStrike">
                <a:solidFill>
                  <a:srgbClr val="0070C0"/>
                </a:solidFill>
                <a:effectLst/>
                <a:uFillTx/>
                <a:latin typeface="Titillium Web SemiBold"/>
                <a:ea typeface="DejaVu Sans"/>
              </a:rPr>
              <a:t>Números</a:t>
            </a:r>
            <a:endParaRPr lang="es-AR" sz="2800" b="0" u="none" strike="noStrike">
              <a:solidFill>
                <a:srgbClr val="000000"/>
              </a:solidFill>
              <a:effectLst/>
              <a:uFillTx/>
              <a:latin typeface="Arial"/>
            </a:endParaRPr>
          </a:p>
        </p:txBody>
      </p:sp>
      <p:sp>
        <p:nvSpPr>
          <p:cNvPr id="51" name="Rectángulo 50"/>
          <p:cNvSpPr/>
          <p:nvPr/>
        </p:nvSpPr>
        <p:spPr>
          <a:xfrm>
            <a:off x="286200" y="1383120"/>
            <a:ext cx="4933440" cy="4166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spcBef>
                <a:spcPts val="1191"/>
              </a:spcBef>
              <a:spcAft>
                <a:spcPts val="992"/>
              </a:spcAft>
            </a:pPr>
            <a:r>
              <a:rPr lang="es-AR" sz="1500" b="0" u="none" strike="noStrike">
                <a:solidFill>
                  <a:srgbClr val="000000"/>
                </a:solidFill>
                <a:effectLst/>
                <a:uFillTx/>
                <a:latin typeface="Arial"/>
              </a:rPr>
              <a:t>El tipo Number de JavaScript incluye enteros, números de coma flotante, Infinity y NaN. Los números de coma flotante son números con un punto decimal. Infinity es un número mayor que cualquier otro número mientras -Infinity que es un número menor que cualquier otro número. NaN (Not a Number) representa un valor numérico inválido como la cadena "Jessica".</a:t>
            </a:r>
          </a:p>
          <a:p>
            <a:pPr algn="just">
              <a:lnSpc>
                <a:spcPct val="100000"/>
              </a:lnSpc>
              <a:spcBef>
                <a:spcPts val="1191"/>
              </a:spcBef>
              <a:spcAft>
                <a:spcPts val="992"/>
              </a:spcAft>
            </a:pPr>
            <a:r>
              <a:rPr lang="es-AR" sz="1500" b="1" u="none" strike="noStrike">
                <a:solidFill>
                  <a:srgbClr val="000000"/>
                </a:solidFill>
                <a:effectLst/>
                <a:uFillTx/>
                <a:latin typeface="Arial"/>
              </a:rPr>
              <a:t>Importante</a:t>
            </a:r>
            <a:r>
              <a:rPr lang="es-AR" sz="1500" b="0" u="none" strike="noStrike">
                <a:solidFill>
                  <a:srgbClr val="000000"/>
                </a:solidFill>
                <a:effectLst/>
                <a:uFillTx/>
                <a:latin typeface="Arial"/>
              </a:rPr>
              <a:t>: Cuando se usa el operador + con un número y una cadena, JavaScript convertirá el número en una cadena y concatenará los dos valores. Cuando se usan los operadores -, * o / con una cadena y un número, JavaScript convertirá la cadena en un número y el resultado será un número. Para null y undefined, JavaScript trata null como 0 y undefined como NaN en operaciones matemáticas.</a:t>
            </a:r>
          </a:p>
          <a:p>
            <a:pPr algn="just">
              <a:lnSpc>
                <a:spcPct val="100000"/>
              </a:lnSpc>
              <a:spcBef>
                <a:spcPts val="1191"/>
              </a:spcBef>
              <a:spcAft>
                <a:spcPts val="992"/>
              </a:spcAft>
            </a:pPr>
            <a:endParaRPr lang="es-AR" sz="1600" b="0" u="none" strike="noStrike">
              <a:solidFill>
                <a:srgbClr val="000000"/>
              </a:solidFill>
              <a:effectLst/>
              <a:uFillTx/>
              <a:latin typeface="Arial"/>
            </a:endParaRPr>
          </a:p>
        </p:txBody>
      </p:sp>
      <p:pic>
        <p:nvPicPr>
          <p:cNvPr id="52" name="Imagen 51"/>
          <p:cNvPicPr/>
          <p:nvPr/>
        </p:nvPicPr>
        <p:blipFill>
          <a:blip r:embed="rId2"/>
          <a:stretch/>
        </p:blipFill>
        <p:spPr>
          <a:xfrm>
            <a:off x="5580000" y="360000"/>
            <a:ext cx="4124880" cy="5139000"/>
          </a:xfrm>
          <a:prstGeom prst="rect">
            <a:avLst/>
          </a:prstGeom>
          <a:noFill/>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CuadroTexto 58"/>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s-ES" sz="2800" b="0" u="none" strike="noStrike">
                <a:solidFill>
                  <a:srgbClr val="0070C0"/>
                </a:solidFill>
                <a:effectLst/>
                <a:uFillTx/>
                <a:latin typeface="Titillium Web SemiBold"/>
                <a:ea typeface="DejaVu Sans"/>
              </a:rPr>
              <a:t>Operadores</a:t>
            </a:r>
            <a:endParaRPr lang="es-AR" sz="2800" b="0" u="none" strike="noStrike">
              <a:solidFill>
                <a:srgbClr val="000000"/>
              </a:solidFill>
              <a:effectLst/>
              <a:uFillTx/>
              <a:latin typeface="Arial"/>
            </a:endParaRPr>
          </a:p>
        </p:txBody>
      </p:sp>
      <p:sp>
        <p:nvSpPr>
          <p:cNvPr id="54" name="Rectángulo 53"/>
          <p:cNvSpPr/>
          <p:nvPr/>
        </p:nvSpPr>
        <p:spPr>
          <a:xfrm>
            <a:off x="286200" y="1275120"/>
            <a:ext cx="8893440" cy="22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AR" sz="1400" b="1" u="none" strike="noStrike">
                <a:solidFill>
                  <a:srgbClr val="000000"/>
                </a:solidFill>
                <a:effectLst/>
                <a:uFillTx/>
                <a:latin typeface="Arial"/>
              </a:rPr>
              <a:t>Operador de Incremento</a:t>
            </a:r>
            <a:endParaRPr lang="es-AR" sz="1400" b="0" u="none" strike="noStrike">
              <a:solidFill>
                <a:srgbClr val="000000"/>
              </a:solidFill>
              <a:effectLst/>
              <a:uFillTx/>
              <a:latin typeface="Arial"/>
            </a:endParaRPr>
          </a:p>
          <a:p>
            <a:pPr>
              <a:lnSpc>
                <a:spcPct val="100000"/>
              </a:lnSpc>
            </a:pPr>
            <a:r>
              <a:rPr lang="es-AR" sz="1400" b="0" u="none" strike="noStrike">
                <a:solidFill>
                  <a:srgbClr val="000000"/>
                </a:solidFill>
                <a:effectLst/>
                <a:uFillTx/>
                <a:latin typeface="Arial"/>
              </a:rPr>
              <a:t>Este operador se utiliza para aumentar el valor en uno. La notación prefija ++num incrementa el valor de la variable primero, luego devuelve un nuevo valor. La notación postfija num++ devuelve el valor actual de la variable primero, luego la incrementa. El operador de decremento  con -- hace lo opuesto.</a:t>
            </a:r>
          </a:p>
          <a:p>
            <a:pPr>
              <a:lnSpc>
                <a:spcPct val="100000"/>
              </a:lnSpc>
            </a:pPr>
            <a:endParaRPr lang="es-AR" sz="1500" b="0" u="none" strike="noStrike">
              <a:solidFill>
                <a:srgbClr val="000000"/>
              </a:solidFill>
              <a:effectLst/>
              <a:uFillTx/>
              <a:latin typeface="Arial"/>
            </a:endParaRPr>
          </a:p>
          <a:p>
            <a:pPr>
              <a:lnSpc>
                <a:spcPct val="100000"/>
              </a:lnSpc>
            </a:pPr>
            <a:endParaRPr lang="es-AR" sz="1500" b="0" u="none" strike="noStrike">
              <a:solidFill>
                <a:srgbClr val="000000"/>
              </a:solidFill>
              <a:effectLst/>
              <a:uFillTx/>
              <a:latin typeface="Arial"/>
            </a:endParaRPr>
          </a:p>
          <a:p>
            <a:pPr>
              <a:lnSpc>
                <a:spcPct val="100000"/>
              </a:lnSpc>
            </a:pPr>
            <a:r>
              <a:rPr lang="es-AR" sz="1400" b="1" u="none" strike="noStrike">
                <a:solidFill>
                  <a:srgbClr val="000000"/>
                </a:solidFill>
                <a:effectLst/>
                <a:uFillTx/>
                <a:latin typeface="Arial"/>
              </a:rPr>
              <a:t>Operadores de Asignación Compuesta</a:t>
            </a:r>
            <a:endParaRPr lang="es-AR" sz="1400" b="0" u="none" strike="noStrike">
              <a:solidFill>
                <a:srgbClr val="000000"/>
              </a:solidFill>
              <a:effectLst/>
              <a:uFillTx/>
              <a:latin typeface="Arial"/>
            </a:endParaRPr>
          </a:p>
          <a:p>
            <a:pPr>
              <a:lnSpc>
                <a:spcPct val="100000"/>
              </a:lnSpc>
            </a:pPr>
            <a:r>
              <a:rPr lang="es-AR" sz="1400" b="0" u="none" strike="noStrike">
                <a:solidFill>
                  <a:srgbClr val="000000"/>
                </a:solidFill>
                <a:effectLst/>
                <a:uFillTx/>
                <a:latin typeface="Arial"/>
                <a:ea typeface="Microsoft YaHei"/>
              </a:rPr>
              <a:t>Los operadores de asignación de Suma (+=), Resta (-=), Multiplicación (*=), División (/=), Resto(%=), Exponenciación (**=): Estos operadores realizan la operación sobre los valores y asigna el resultado a la variable.</a:t>
            </a:r>
            <a:endParaRPr lang="es-AR" sz="1400" b="0" u="none" strike="noStrike">
              <a:solidFill>
                <a:srgbClr val="000000"/>
              </a:solidFill>
              <a:effectLst/>
              <a:uFillTx/>
              <a:latin typeface="Arial"/>
            </a:endParaRPr>
          </a:p>
        </p:txBody>
      </p:sp>
      <p:pic>
        <p:nvPicPr>
          <p:cNvPr id="55" name="Imagen 54"/>
          <p:cNvPicPr/>
          <p:nvPr/>
        </p:nvPicPr>
        <p:blipFill>
          <a:blip r:embed="rId2"/>
          <a:stretch/>
        </p:blipFill>
        <p:spPr>
          <a:xfrm>
            <a:off x="360000" y="2479680"/>
            <a:ext cx="2159640" cy="1035000"/>
          </a:xfrm>
          <a:prstGeom prst="rect">
            <a:avLst/>
          </a:prstGeom>
          <a:noFill/>
          <a:ln w="0">
            <a:noFill/>
          </a:ln>
        </p:spPr>
      </p:pic>
      <p:pic>
        <p:nvPicPr>
          <p:cNvPr id="56" name="Imagen 55"/>
          <p:cNvPicPr/>
          <p:nvPr/>
        </p:nvPicPr>
        <p:blipFill>
          <a:blip r:embed="rId3"/>
          <a:stretch/>
        </p:blipFill>
        <p:spPr>
          <a:xfrm>
            <a:off x="2648520" y="2469960"/>
            <a:ext cx="2197440" cy="1057680"/>
          </a:xfrm>
          <a:prstGeom prst="rect">
            <a:avLst/>
          </a:prstGeom>
          <a:noFill/>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CuadroTexto 6"/>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s-ES" sz="2800" b="0" u="none" strike="noStrike">
                <a:solidFill>
                  <a:srgbClr val="0070C0"/>
                </a:solidFill>
                <a:effectLst/>
                <a:uFillTx/>
                <a:latin typeface="Titillium Web SemiBold"/>
                <a:ea typeface="DejaVu Sans"/>
              </a:rPr>
              <a:t>Operadores</a:t>
            </a:r>
            <a:endParaRPr lang="es-AR" sz="2800" b="0" u="none" strike="noStrike">
              <a:solidFill>
                <a:srgbClr val="000000"/>
              </a:solidFill>
              <a:effectLst/>
              <a:uFillTx/>
              <a:latin typeface="Arial"/>
            </a:endParaRPr>
          </a:p>
        </p:txBody>
      </p:sp>
      <p:sp>
        <p:nvSpPr>
          <p:cNvPr id="58" name="Rectángulo 57"/>
          <p:cNvSpPr/>
          <p:nvPr/>
        </p:nvSpPr>
        <p:spPr>
          <a:xfrm>
            <a:off x="286200" y="1275120"/>
            <a:ext cx="8893440" cy="303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AR" sz="1400" b="1" u="none" strike="noStrike">
                <a:solidFill>
                  <a:srgbClr val="000000"/>
                </a:solidFill>
                <a:effectLst/>
                <a:uFillTx/>
                <a:latin typeface="Arial"/>
              </a:rPr>
              <a:t>Operador de Incremento</a:t>
            </a:r>
            <a:endParaRPr lang="es-AR" sz="1400" b="0" u="none" strike="noStrike">
              <a:solidFill>
                <a:srgbClr val="000000"/>
              </a:solidFill>
              <a:effectLst/>
              <a:uFillTx/>
              <a:latin typeface="Arial"/>
            </a:endParaRPr>
          </a:p>
        </p:txBody>
      </p:sp>
      <p:graphicFrame>
        <p:nvGraphicFramePr>
          <p:cNvPr id="59" name="Tabla 58"/>
          <p:cNvGraphicFramePr/>
          <p:nvPr/>
        </p:nvGraphicFramePr>
        <p:xfrm>
          <a:off x="685800" y="1653120"/>
          <a:ext cx="8279640" cy="3840480"/>
        </p:xfrm>
        <a:graphic>
          <a:graphicData uri="http://schemas.openxmlformats.org/drawingml/2006/table">
            <a:tbl>
              <a:tblPr/>
              <a:tblGrid>
                <a:gridCol w="1239840">
                  <a:extLst>
                    <a:ext uri="{9D8B030D-6E8A-4147-A177-3AD203B41FA5}">
                      <a16:colId xmlns:a16="http://schemas.microsoft.com/office/drawing/2014/main" val="20000"/>
                    </a:ext>
                  </a:extLst>
                </a:gridCol>
                <a:gridCol w="2480760">
                  <a:extLst>
                    <a:ext uri="{9D8B030D-6E8A-4147-A177-3AD203B41FA5}">
                      <a16:colId xmlns:a16="http://schemas.microsoft.com/office/drawing/2014/main" val="20001"/>
                    </a:ext>
                  </a:extLst>
                </a:gridCol>
                <a:gridCol w="2368800">
                  <a:extLst>
                    <a:ext uri="{9D8B030D-6E8A-4147-A177-3AD203B41FA5}">
                      <a16:colId xmlns:a16="http://schemas.microsoft.com/office/drawing/2014/main" val="20002"/>
                    </a:ext>
                  </a:extLst>
                </a:gridCol>
                <a:gridCol w="2190240">
                  <a:extLst>
                    <a:ext uri="{9D8B030D-6E8A-4147-A177-3AD203B41FA5}">
                      <a16:colId xmlns:a16="http://schemas.microsoft.com/office/drawing/2014/main" val="20003"/>
                    </a:ext>
                  </a:extLst>
                </a:gridCol>
              </a:tblGrid>
              <a:tr h="346320">
                <a:tc>
                  <a:txBody>
                    <a:bodyPr/>
                    <a:lstStyle/>
                    <a:p>
                      <a:pPr algn="ctr">
                        <a:lnSpc>
                          <a:spcPct val="100000"/>
                        </a:lnSpc>
                      </a:pPr>
                      <a:r>
                        <a:rPr lang="es-AR" sz="1800" b="1" u="none" strike="noStrike">
                          <a:solidFill>
                            <a:srgbClr val="000000"/>
                          </a:solidFill>
                          <a:effectLst/>
                          <a:uFillTx/>
                          <a:latin typeface="Arial"/>
                          <a:ea typeface="Times New Roman"/>
                        </a:rPr>
                        <a:t>Operador</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800" b="1" u="none" strike="noStrike">
                          <a:solidFill>
                            <a:srgbClr val="000000"/>
                          </a:solidFill>
                          <a:effectLst/>
                          <a:uFillTx/>
                          <a:latin typeface="Arial"/>
                          <a:ea typeface="Times New Roman"/>
                        </a:rPr>
                        <a:t>Significado</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800" b="1" u="none" strike="noStrike">
                          <a:solidFill>
                            <a:srgbClr val="000000"/>
                          </a:solidFill>
                          <a:effectLst/>
                          <a:uFillTx/>
                          <a:latin typeface="Arial"/>
                          <a:ea typeface="Times New Roman"/>
                        </a:rPr>
                        <a:t>Ejemplo</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800" b="1" u="none" strike="noStrike">
                          <a:solidFill>
                            <a:srgbClr val="000000"/>
                          </a:solidFill>
                          <a:effectLst/>
                          <a:uFillTx/>
                          <a:latin typeface="Arial"/>
                          <a:ea typeface="Times New Roman"/>
                        </a:rPr>
                        <a:t>Resultado</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0"/>
                  </a:ext>
                </a:extLst>
              </a:tr>
              <a:tr h="585720">
                <a:tc>
                  <a:txBody>
                    <a:bodyPr/>
                    <a:lstStyle/>
                    <a:p>
                      <a:pPr algn="ctr">
                        <a:lnSpc>
                          <a:spcPct val="100000"/>
                        </a:lnSpc>
                      </a:pPr>
                      <a:r>
                        <a:rPr lang="es-AR" sz="1800" b="0" u="none" strike="noStrike">
                          <a:solidFill>
                            <a:srgbClr val="000000"/>
                          </a:solidFill>
                          <a:effectLst/>
                          <a:uFillTx/>
                          <a:latin typeface="Arial"/>
                          <a:ea typeface="Times New Roman"/>
                        </a:rPr>
                        <a:t>==</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800" b="0" u="none" strike="noStrike">
                          <a:solidFill>
                            <a:srgbClr val="000000"/>
                          </a:solidFill>
                          <a:effectLst/>
                          <a:uFillTx/>
                          <a:latin typeface="Arial"/>
                          <a:ea typeface="Times New Roman"/>
                        </a:rPr>
                        <a:t>Igualdad</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800" b="0" u="none" strike="noStrike">
                          <a:solidFill>
                            <a:srgbClr val="000000"/>
                          </a:solidFill>
                          <a:effectLst/>
                          <a:uFillTx/>
                          <a:latin typeface="Arial"/>
                          <a:ea typeface="Times New Roman"/>
                        </a:rPr>
                        <a:t>5 == 5</a:t>
                      </a:r>
                      <a:r>
                        <a:rPr sz="1800"/>
                        <a:t/>
                      </a:r>
                      <a:br>
                        <a:rPr sz="1800"/>
                      </a:br>
                      <a:r>
                        <a:rPr lang="es-AR" sz="1800" b="0" u="none" strike="noStrike">
                          <a:solidFill>
                            <a:srgbClr val="000000"/>
                          </a:solidFill>
                          <a:effectLst/>
                          <a:uFillTx/>
                          <a:latin typeface="Arial"/>
                          <a:ea typeface="Times New Roman"/>
                        </a:rPr>
                        <a:t>5 == "5"</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800" b="0" u="none" strike="noStrike">
                          <a:solidFill>
                            <a:srgbClr val="000000"/>
                          </a:solidFill>
                          <a:effectLst/>
                          <a:uFillTx/>
                          <a:latin typeface="Arial"/>
                          <a:ea typeface="Times New Roman"/>
                        </a:rPr>
                        <a:t>true</a:t>
                      </a:r>
                      <a:r>
                        <a:rPr sz="1800"/>
                        <a:t/>
                      </a:r>
                      <a:br>
                        <a:rPr sz="1800"/>
                      </a:br>
                      <a:r>
                        <a:rPr lang="es-AR" sz="1800" b="0" u="none" strike="noStrike">
                          <a:solidFill>
                            <a:srgbClr val="000000"/>
                          </a:solidFill>
                          <a:effectLst/>
                          <a:uFillTx/>
                          <a:latin typeface="Arial"/>
                          <a:ea typeface="Times New Roman"/>
                        </a:rPr>
                        <a:t>true</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1"/>
                  </a:ext>
                </a:extLst>
              </a:tr>
              <a:tr h="575640">
                <a:tc>
                  <a:txBody>
                    <a:bodyPr/>
                    <a:lstStyle/>
                    <a:p>
                      <a:pPr algn="ctr">
                        <a:lnSpc>
                          <a:spcPct val="100000"/>
                        </a:lnSpc>
                      </a:pPr>
                      <a:r>
                        <a:rPr lang="es-AR" sz="1800" b="0" u="none" strike="noStrike">
                          <a:solidFill>
                            <a:srgbClr val="000000"/>
                          </a:solidFill>
                          <a:effectLst/>
                          <a:uFillTx/>
                          <a:latin typeface="Arial"/>
                          <a:ea typeface="Times New Roman"/>
                        </a:rPr>
                        <a:t>===</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800" b="0" u="none" strike="noStrike">
                          <a:solidFill>
                            <a:srgbClr val="000000"/>
                          </a:solidFill>
                          <a:effectLst/>
                          <a:uFillTx/>
                          <a:latin typeface="Arial"/>
                          <a:ea typeface="Times New Roman"/>
                        </a:rPr>
                        <a:t>Igualdad (estricta)</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800" b="0" u="none" strike="noStrike">
                          <a:solidFill>
                            <a:srgbClr val="000000"/>
                          </a:solidFill>
                          <a:effectLst/>
                          <a:uFillTx/>
                          <a:latin typeface="Arial"/>
                          <a:ea typeface="Times New Roman"/>
                        </a:rPr>
                        <a:t>5 === '5'</a:t>
                      </a:r>
                      <a:r>
                        <a:rPr sz="1800"/>
                        <a:t/>
                      </a:r>
                      <a:br>
                        <a:rPr sz="1800"/>
                      </a:br>
                      <a:r>
                        <a:rPr lang="es-AR" sz="1800" b="0" u="none" strike="noStrike">
                          <a:solidFill>
                            <a:srgbClr val="000000"/>
                          </a:solidFill>
                          <a:effectLst/>
                          <a:uFillTx/>
                          <a:latin typeface="Arial"/>
                          <a:ea typeface="Times New Roman"/>
                        </a:rPr>
                        <a:t>5 === 5</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800" b="0" u="none" strike="noStrike">
                          <a:solidFill>
                            <a:srgbClr val="000000"/>
                          </a:solidFill>
                          <a:effectLst/>
                          <a:uFillTx/>
                          <a:latin typeface="Arial"/>
                          <a:ea typeface="Times New Roman"/>
                        </a:rPr>
                        <a:t>false</a:t>
                      </a:r>
                      <a:r>
                        <a:rPr sz="1800"/>
                        <a:t/>
                      </a:r>
                      <a:br>
                        <a:rPr sz="1800"/>
                      </a:br>
                      <a:r>
                        <a:rPr lang="es-AR" sz="1800" b="0" u="none" strike="noStrike">
                          <a:solidFill>
                            <a:srgbClr val="000000"/>
                          </a:solidFill>
                          <a:effectLst/>
                          <a:uFillTx/>
                          <a:latin typeface="Arial"/>
                          <a:ea typeface="Times New Roman"/>
                        </a:rPr>
                        <a:t>true</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2"/>
                  </a:ext>
                </a:extLst>
              </a:tr>
              <a:tr h="287640">
                <a:tc>
                  <a:txBody>
                    <a:bodyPr/>
                    <a:lstStyle/>
                    <a:p>
                      <a:pPr algn="ctr">
                        <a:lnSpc>
                          <a:spcPct val="100000"/>
                        </a:lnSpc>
                      </a:pPr>
                      <a:r>
                        <a:rPr lang="es-AR" sz="1800" b="0" u="none" strike="noStrike">
                          <a:solidFill>
                            <a:srgbClr val="000000"/>
                          </a:solidFill>
                          <a:effectLst/>
                          <a:uFillTx/>
                          <a:latin typeface="Arial"/>
                          <a:ea typeface="Times New Roman"/>
                        </a:rPr>
                        <a:t>!=</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800" b="0" u="none" strike="noStrike">
                          <a:solidFill>
                            <a:srgbClr val="000000"/>
                          </a:solidFill>
                          <a:effectLst/>
                          <a:uFillTx/>
                          <a:latin typeface="Arial"/>
                          <a:ea typeface="Times New Roman"/>
                        </a:rPr>
                        <a:t>Desigualdad</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800" b="0" u="none" strike="noStrike">
                          <a:solidFill>
                            <a:srgbClr val="000000"/>
                          </a:solidFill>
                          <a:effectLst/>
                          <a:uFillTx/>
                          <a:latin typeface="Arial"/>
                          <a:ea typeface="Times New Roman"/>
                        </a:rPr>
                        <a:t>5 != 3</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800" b="0" u="none" strike="noStrike">
                          <a:solidFill>
                            <a:srgbClr val="000000"/>
                          </a:solidFill>
                          <a:effectLst/>
                          <a:uFillTx/>
                          <a:latin typeface="Arial"/>
                          <a:ea typeface="Times New Roman"/>
                        </a:rPr>
                        <a:t>true</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3"/>
                  </a:ext>
                </a:extLst>
              </a:tr>
              <a:tr h="340560">
                <a:tc>
                  <a:txBody>
                    <a:bodyPr/>
                    <a:lstStyle/>
                    <a:p>
                      <a:pPr algn="ctr">
                        <a:lnSpc>
                          <a:spcPct val="100000"/>
                        </a:lnSpc>
                      </a:pPr>
                      <a:r>
                        <a:rPr lang="es-AR" sz="1800" b="0" u="none" strike="noStrike">
                          <a:solidFill>
                            <a:srgbClr val="000000"/>
                          </a:solidFill>
                          <a:effectLst/>
                          <a:uFillTx/>
                          <a:latin typeface="Arial"/>
                          <a:ea typeface="Times New Roman"/>
                        </a:rPr>
                        <a:t>!==</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800" b="0" u="none" strike="noStrike">
                          <a:solidFill>
                            <a:srgbClr val="000000"/>
                          </a:solidFill>
                          <a:effectLst/>
                          <a:uFillTx/>
                          <a:latin typeface="Arial"/>
                          <a:ea typeface="Times New Roman"/>
                        </a:rPr>
                        <a:t>Desigualdad (estricta)</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800" b="0" u="none" strike="noStrike">
                          <a:solidFill>
                            <a:srgbClr val="000000"/>
                          </a:solidFill>
                          <a:effectLst/>
                          <a:uFillTx/>
                          <a:latin typeface="Arial"/>
                          <a:ea typeface="Times New Roman"/>
                        </a:rPr>
                        <a:t>5 !== '5'</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800" b="0" u="none" strike="noStrike">
                          <a:solidFill>
                            <a:srgbClr val="000000"/>
                          </a:solidFill>
                          <a:effectLst/>
                          <a:uFillTx/>
                          <a:latin typeface="Arial"/>
                          <a:ea typeface="Times New Roman"/>
                        </a:rPr>
                        <a:t>true</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4"/>
                  </a:ext>
                </a:extLst>
              </a:tr>
              <a:tr h="347040">
                <a:tc>
                  <a:txBody>
                    <a:bodyPr/>
                    <a:lstStyle/>
                    <a:p>
                      <a:pPr algn="ctr">
                        <a:lnSpc>
                          <a:spcPct val="100000"/>
                        </a:lnSpc>
                      </a:pPr>
                      <a:r>
                        <a:rPr lang="es-AR" sz="1800" b="0" u="none" strike="noStrike">
                          <a:solidFill>
                            <a:srgbClr val="000000"/>
                          </a:solidFill>
                          <a:effectLst/>
                          <a:uFillTx/>
                          <a:latin typeface="Arial"/>
                          <a:ea typeface="Times New Roman"/>
                        </a:rPr>
                        <a:t>&gt;</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800" b="0" u="none" strike="noStrike">
                          <a:solidFill>
                            <a:srgbClr val="000000"/>
                          </a:solidFill>
                          <a:effectLst/>
                          <a:uFillTx/>
                          <a:latin typeface="Arial"/>
                          <a:ea typeface="Times New Roman"/>
                        </a:rPr>
                        <a:t>Mayor que</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800" b="0" u="none" strike="noStrike">
                          <a:solidFill>
                            <a:srgbClr val="000000"/>
                          </a:solidFill>
                          <a:effectLst/>
                          <a:uFillTx/>
                          <a:latin typeface="Arial"/>
                          <a:ea typeface="Times New Roman"/>
                        </a:rPr>
                        <a:t>5 &gt; 3</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800" b="0" u="none" strike="noStrike">
                          <a:solidFill>
                            <a:srgbClr val="000000"/>
                          </a:solidFill>
                          <a:effectLst/>
                          <a:uFillTx/>
                          <a:latin typeface="Arial"/>
                          <a:ea typeface="Times New Roman"/>
                        </a:rPr>
                        <a:t>true</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5"/>
                  </a:ext>
                </a:extLst>
              </a:tr>
              <a:tr h="330120">
                <a:tc>
                  <a:txBody>
                    <a:bodyPr/>
                    <a:lstStyle/>
                    <a:p>
                      <a:pPr algn="ctr">
                        <a:lnSpc>
                          <a:spcPct val="100000"/>
                        </a:lnSpc>
                      </a:pPr>
                      <a:r>
                        <a:rPr lang="es-AR" sz="1800" b="0" u="none" strike="noStrike">
                          <a:solidFill>
                            <a:srgbClr val="000000"/>
                          </a:solidFill>
                          <a:effectLst/>
                          <a:uFillTx/>
                          <a:latin typeface="Arial"/>
                          <a:ea typeface="Times New Roman"/>
                        </a:rPr>
                        <a:t>&lt;</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800" b="0" u="none" strike="noStrike">
                          <a:solidFill>
                            <a:srgbClr val="000000"/>
                          </a:solidFill>
                          <a:effectLst/>
                          <a:uFillTx/>
                          <a:latin typeface="Arial"/>
                          <a:ea typeface="Times New Roman"/>
                        </a:rPr>
                        <a:t>Menor que</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800" b="0" u="none" strike="noStrike">
                          <a:solidFill>
                            <a:srgbClr val="000000"/>
                          </a:solidFill>
                          <a:effectLst/>
                          <a:uFillTx/>
                          <a:latin typeface="Arial"/>
                          <a:ea typeface="Times New Roman"/>
                        </a:rPr>
                        <a:t>3 &lt; 5</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800" b="0" u="none" strike="noStrike">
                          <a:solidFill>
                            <a:srgbClr val="000000"/>
                          </a:solidFill>
                          <a:effectLst/>
                          <a:uFillTx/>
                          <a:latin typeface="Arial"/>
                          <a:ea typeface="Times New Roman"/>
                        </a:rPr>
                        <a:t>true</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6"/>
                  </a:ext>
                </a:extLst>
              </a:tr>
              <a:tr h="338760">
                <a:tc>
                  <a:txBody>
                    <a:bodyPr/>
                    <a:lstStyle/>
                    <a:p>
                      <a:pPr algn="ctr">
                        <a:lnSpc>
                          <a:spcPct val="100000"/>
                        </a:lnSpc>
                      </a:pPr>
                      <a:r>
                        <a:rPr lang="es-AR" sz="1800" b="0" u="none" strike="noStrike">
                          <a:solidFill>
                            <a:srgbClr val="000000"/>
                          </a:solidFill>
                          <a:effectLst/>
                          <a:uFillTx/>
                          <a:latin typeface="Arial"/>
                          <a:ea typeface="Times New Roman"/>
                        </a:rPr>
                        <a:t>&gt;=</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800" b="0" u="none" strike="noStrike">
                          <a:solidFill>
                            <a:srgbClr val="000000"/>
                          </a:solidFill>
                          <a:effectLst/>
                          <a:uFillTx/>
                          <a:latin typeface="Arial"/>
                          <a:ea typeface="Times New Roman"/>
                        </a:rPr>
                        <a:t>Mayor o igual que</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800" b="0" u="none" strike="noStrike">
                          <a:solidFill>
                            <a:srgbClr val="000000"/>
                          </a:solidFill>
                          <a:effectLst/>
                          <a:uFillTx/>
                          <a:latin typeface="Arial"/>
                          <a:ea typeface="Times New Roman"/>
                        </a:rPr>
                        <a:t>5 &gt;= 5</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800" b="0" u="none" strike="noStrike">
                          <a:solidFill>
                            <a:srgbClr val="000000"/>
                          </a:solidFill>
                          <a:effectLst/>
                          <a:uFillTx/>
                          <a:latin typeface="Arial"/>
                          <a:ea typeface="Times New Roman"/>
                        </a:rPr>
                        <a:t>true</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7"/>
                  </a:ext>
                </a:extLst>
              </a:tr>
              <a:tr h="363960">
                <a:tc>
                  <a:txBody>
                    <a:bodyPr/>
                    <a:lstStyle/>
                    <a:p>
                      <a:pPr algn="ctr">
                        <a:lnSpc>
                          <a:spcPct val="100000"/>
                        </a:lnSpc>
                      </a:pPr>
                      <a:r>
                        <a:rPr lang="es-AR" sz="1800" b="0" u="none" strike="noStrike">
                          <a:solidFill>
                            <a:srgbClr val="000000"/>
                          </a:solidFill>
                          <a:effectLst/>
                          <a:uFillTx/>
                          <a:latin typeface="Arial"/>
                          <a:ea typeface="Times New Roman"/>
                        </a:rPr>
                        <a:t>&lt;=</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800" b="0" u="none" strike="noStrike">
                          <a:solidFill>
                            <a:srgbClr val="000000"/>
                          </a:solidFill>
                          <a:effectLst/>
                          <a:uFillTx/>
                          <a:latin typeface="Arial"/>
                          <a:ea typeface="Times New Roman"/>
                        </a:rPr>
                        <a:t>Menor o igual que</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800" b="0" u="none" strike="noStrike">
                          <a:solidFill>
                            <a:srgbClr val="000000"/>
                          </a:solidFill>
                          <a:effectLst/>
                          <a:uFillTx/>
                          <a:latin typeface="Arial"/>
                          <a:ea typeface="Times New Roman"/>
                        </a:rPr>
                        <a:t>3 &lt;= 5</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800" b="0" u="none" strike="noStrike">
                          <a:solidFill>
                            <a:srgbClr val="000000"/>
                          </a:solidFill>
                          <a:effectLst/>
                          <a:uFillTx/>
                          <a:latin typeface="Arial"/>
                          <a:ea typeface="Times New Roman"/>
                        </a:rPr>
                        <a:t>true</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CuadroTexto 9"/>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s-ES" sz="2800" b="0" u="none" strike="noStrike">
                <a:solidFill>
                  <a:srgbClr val="0070C0"/>
                </a:solidFill>
                <a:effectLst/>
                <a:uFillTx/>
                <a:latin typeface="Titillium Web SemiBold"/>
                <a:ea typeface="DejaVu Sans"/>
              </a:rPr>
              <a:t>Operadores</a:t>
            </a:r>
            <a:endParaRPr lang="es-AR" sz="2800" b="0" u="none" strike="noStrike">
              <a:solidFill>
                <a:srgbClr val="000000"/>
              </a:solidFill>
              <a:effectLst/>
              <a:uFillTx/>
              <a:latin typeface="Arial"/>
            </a:endParaRPr>
          </a:p>
        </p:txBody>
      </p:sp>
      <p:sp>
        <p:nvSpPr>
          <p:cNvPr id="61" name="Rectángulo 60"/>
          <p:cNvSpPr/>
          <p:nvPr/>
        </p:nvSpPr>
        <p:spPr>
          <a:xfrm>
            <a:off x="286200" y="1275120"/>
            <a:ext cx="889344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AR" sz="1400" b="1" u="none" strike="noStrike">
                <a:solidFill>
                  <a:srgbClr val="000000"/>
                </a:solidFill>
                <a:effectLst/>
                <a:uFillTx/>
                <a:latin typeface="Arial"/>
              </a:rPr>
              <a:t>Operadores lógicos</a:t>
            </a:r>
            <a:endParaRPr lang="es-AR" sz="1400" b="0" u="none" strike="noStrike">
              <a:solidFill>
                <a:srgbClr val="000000"/>
              </a:solidFill>
              <a:effectLst/>
              <a:uFillTx/>
              <a:latin typeface="Arial"/>
            </a:endParaRPr>
          </a:p>
          <a:p>
            <a:pPr>
              <a:lnSpc>
                <a:spcPct val="100000"/>
              </a:lnSpc>
            </a:pPr>
            <a:endParaRPr lang="es-AR" sz="1400" b="0" u="none" strike="noStrike">
              <a:solidFill>
                <a:srgbClr val="000000"/>
              </a:solidFill>
              <a:effectLst/>
              <a:uFillTx/>
              <a:latin typeface="Arial"/>
            </a:endParaRPr>
          </a:p>
        </p:txBody>
      </p:sp>
      <p:graphicFrame>
        <p:nvGraphicFramePr>
          <p:cNvPr id="62" name="Tabla 61"/>
          <p:cNvGraphicFramePr/>
          <p:nvPr/>
        </p:nvGraphicFramePr>
        <p:xfrm>
          <a:off x="667800" y="1841400"/>
          <a:ext cx="7612560" cy="2770200"/>
        </p:xfrm>
        <a:graphic>
          <a:graphicData uri="http://schemas.openxmlformats.org/drawingml/2006/table">
            <a:tbl>
              <a:tblPr/>
              <a:tblGrid>
                <a:gridCol w="1612440">
                  <a:extLst>
                    <a:ext uri="{9D8B030D-6E8A-4147-A177-3AD203B41FA5}">
                      <a16:colId xmlns:a16="http://schemas.microsoft.com/office/drawing/2014/main" val="20000"/>
                    </a:ext>
                  </a:extLst>
                </a:gridCol>
                <a:gridCol w="1783800">
                  <a:extLst>
                    <a:ext uri="{9D8B030D-6E8A-4147-A177-3AD203B41FA5}">
                      <a16:colId xmlns:a16="http://schemas.microsoft.com/office/drawing/2014/main" val="20001"/>
                    </a:ext>
                  </a:extLst>
                </a:gridCol>
                <a:gridCol w="4216320">
                  <a:extLst>
                    <a:ext uri="{9D8B030D-6E8A-4147-A177-3AD203B41FA5}">
                      <a16:colId xmlns:a16="http://schemas.microsoft.com/office/drawing/2014/main" val="20002"/>
                    </a:ext>
                  </a:extLst>
                </a:gridCol>
              </a:tblGrid>
              <a:tr h="328320">
                <a:tc>
                  <a:txBody>
                    <a:bodyPr/>
                    <a:lstStyle/>
                    <a:p>
                      <a:pPr algn="ctr">
                        <a:lnSpc>
                          <a:spcPct val="100000"/>
                        </a:lnSpc>
                      </a:pPr>
                      <a:r>
                        <a:rPr lang="es-AR" sz="1800" b="1" u="none" strike="noStrike">
                          <a:solidFill>
                            <a:srgbClr val="000000"/>
                          </a:solidFill>
                          <a:effectLst/>
                          <a:uFillTx/>
                          <a:latin typeface="Arial"/>
                          <a:ea typeface="Times New Roman"/>
                        </a:rPr>
                        <a:t>Operador</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800" b="1" u="none" strike="noStrike">
                          <a:solidFill>
                            <a:srgbClr val="000000"/>
                          </a:solidFill>
                          <a:effectLst/>
                          <a:uFillTx/>
                          <a:latin typeface="Arial"/>
                          <a:ea typeface="Times New Roman"/>
                        </a:rPr>
                        <a:t>Uso</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800" b="1" u="none" strike="noStrike">
                          <a:solidFill>
                            <a:srgbClr val="000000"/>
                          </a:solidFill>
                          <a:effectLst/>
                          <a:uFillTx/>
                          <a:latin typeface="Arial"/>
                          <a:ea typeface="Times New Roman"/>
                        </a:rPr>
                        <a:t>Descripción</a:t>
                      </a:r>
                      <a:endParaRPr lang="es-AR" sz="18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0"/>
                  </a:ext>
                </a:extLst>
              </a:tr>
              <a:tr h="646560">
                <a:tc>
                  <a:txBody>
                    <a:bodyPr/>
                    <a:lstStyle/>
                    <a:p>
                      <a:pPr algn="ctr">
                        <a:lnSpc>
                          <a:spcPct val="100000"/>
                        </a:lnSpc>
                      </a:pPr>
                      <a:r>
                        <a:rPr lang="es-AR" sz="1800" b="0" u="none" strike="noStrike">
                          <a:solidFill>
                            <a:srgbClr val="000000"/>
                          </a:solidFill>
                          <a:effectLst/>
                          <a:uFillTx/>
                          <a:latin typeface="Arial"/>
                          <a:ea typeface="Times New Roman"/>
                        </a:rPr>
                        <a:t>&amp;&amp;</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800" b="0" u="none" strike="noStrike">
                          <a:solidFill>
                            <a:srgbClr val="000000"/>
                          </a:solidFill>
                          <a:effectLst/>
                          <a:uFillTx/>
                          <a:latin typeface="Arial"/>
                          <a:ea typeface="Times New Roman"/>
                        </a:rPr>
                        <a:t>expr1 &amp;&amp; expr2</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800" b="0" u="none" strike="noStrike">
                          <a:solidFill>
                            <a:srgbClr val="000000"/>
                          </a:solidFill>
                          <a:effectLst/>
                          <a:uFillTx/>
                          <a:latin typeface="Arial"/>
                          <a:ea typeface="Times New Roman"/>
                        </a:rPr>
                        <a:t>Devuelve verdadero si ambos operandos son verdaderos</a:t>
                      </a:r>
                      <a:endParaRPr lang="es-AR" sz="18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1"/>
                  </a:ext>
                </a:extLst>
              </a:tr>
              <a:tr h="843480">
                <a:tc>
                  <a:txBody>
                    <a:bodyPr/>
                    <a:lstStyle/>
                    <a:p>
                      <a:pPr algn="ctr">
                        <a:lnSpc>
                          <a:spcPct val="100000"/>
                        </a:lnSpc>
                      </a:pPr>
                      <a:r>
                        <a:rPr lang="es-AR" sz="1800" b="0" u="none" strike="noStrike">
                          <a:solidFill>
                            <a:srgbClr val="000000"/>
                          </a:solidFill>
                          <a:effectLst/>
                          <a:uFillTx/>
                          <a:latin typeface="Arial"/>
                          <a:ea typeface="Times New Roman"/>
                        </a:rPr>
                        <a:t>||</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800" b="0" u="none" strike="noStrike">
                          <a:solidFill>
                            <a:srgbClr val="000000"/>
                          </a:solidFill>
                          <a:effectLst/>
                          <a:uFillTx/>
                          <a:latin typeface="Arial"/>
                          <a:ea typeface="Times New Roman"/>
                        </a:rPr>
                        <a:t>expr1 || expr2</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800" b="0" u="none" strike="noStrike">
                          <a:solidFill>
                            <a:srgbClr val="000000"/>
                          </a:solidFill>
                          <a:effectLst/>
                          <a:uFillTx/>
                          <a:latin typeface="Arial"/>
                          <a:ea typeface="Times New Roman"/>
                        </a:rPr>
                        <a:t>Devuelve verdadero si uno de los operandos es verdadero</a:t>
                      </a:r>
                      <a:endParaRPr lang="es-AR" sz="18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2"/>
                  </a:ext>
                </a:extLst>
              </a:tr>
              <a:tr h="654840">
                <a:tc>
                  <a:txBody>
                    <a:bodyPr/>
                    <a:lstStyle/>
                    <a:p>
                      <a:pPr algn="ctr">
                        <a:lnSpc>
                          <a:spcPct val="100000"/>
                        </a:lnSpc>
                      </a:pPr>
                      <a:r>
                        <a:rPr lang="es-AR" sz="1800" b="0" u="none" strike="noStrike">
                          <a:solidFill>
                            <a:srgbClr val="000000"/>
                          </a:solidFill>
                          <a:effectLst/>
                          <a:uFillTx/>
                          <a:latin typeface="Arial"/>
                          <a:ea typeface="Times New Roman"/>
                        </a:rPr>
                        <a:t>!</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800" b="0" u="none" strike="noStrike">
                          <a:solidFill>
                            <a:srgbClr val="000000"/>
                          </a:solidFill>
                          <a:effectLst/>
                          <a:uFillTx/>
                          <a:latin typeface="Arial"/>
                          <a:ea typeface="Times New Roman"/>
                        </a:rPr>
                        <a:t>!expr</a:t>
                      </a:r>
                      <a:endParaRPr lang="es-AR" sz="18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800" b="0" u="none" strike="noStrike">
                          <a:solidFill>
                            <a:srgbClr val="000000"/>
                          </a:solidFill>
                          <a:effectLst/>
                          <a:uFillTx/>
                          <a:latin typeface="Arial"/>
                          <a:ea typeface="Times New Roman"/>
                        </a:rPr>
                        <a:t>Devuelve verdadero si el operando es falso. Si el operando es verdadero devuelve falso</a:t>
                      </a:r>
                      <a:endParaRPr lang="es-AR" sz="18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CuadroTexto 7"/>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s-ES" sz="2800" b="0" u="none" strike="noStrike">
                <a:solidFill>
                  <a:srgbClr val="0070C0"/>
                </a:solidFill>
                <a:effectLst/>
                <a:uFillTx/>
                <a:latin typeface="Titillium Web SemiBold"/>
                <a:ea typeface="DejaVu Sans"/>
              </a:rPr>
              <a:t>Objeto Math</a:t>
            </a:r>
            <a:endParaRPr lang="es-AR" sz="2800" b="0" u="none" strike="noStrike">
              <a:solidFill>
                <a:srgbClr val="000000"/>
              </a:solidFill>
              <a:effectLst/>
              <a:uFillTx/>
              <a:latin typeface="Arial"/>
            </a:endParaRPr>
          </a:p>
        </p:txBody>
      </p:sp>
      <p:sp>
        <p:nvSpPr>
          <p:cNvPr id="64" name="Rectángulo 63"/>
          <p:cNvSpPr/>
          <p:nvPr/>
        </p:nvSpPr>
        <p:spPr>
          <a:xfrm>
            <a:off x="286200" y="1275120"/>
            <a:ext cx="8893440" cy="3866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Bef>
                <a:spcPts val="907"/>
              </a:spcBef>
              <a:spcAft>
                <a:spcPts val="709"/>
              </a:spcAft>
            </a:pPr>
            <a:r>
              <a:rPr lang="es-AR" sz="1400" b="0" u="none" strike="noStrike">
                <a:solidFill>
                  <a:srgbClr val="000000"/>
                </a:solidFill>
                <a:effectLst/>
                <a:uFillTx/>
                <a:latin typeface="Arial"/>
              </a:rPr>
              <a:t>El Método Math.random(): Este método genera un número flotante aleatorio entre 0 (inclusivo) y 1 (exclusivo). Esto significa que el resultado posible puede ser 0, pero nunca llegará a 1.</a:t>
            </a:r>
          </a:p>
          <a:p>
            <a:pPr>
              <a:lnSpc>
                <a:spcPct val="100000"/>
              </a:lnSpc>
              <a:spcBef>
                <a:spcPts val="907"/>
              </a:spcBef>
              <a:spcAft>
                <a:spcPts val="709"/>
              </a:spcAft>
            </a:pPr>
            <a:r>
              <a:rPr lang="es-AR" sz="1400" b="0" u="none" strike="noStrike">
                <a:solidFill>
                  <a:srgbClr val="000000"/>
                </a:solidFill>
                <a:effectLst/>
                <a:uFillTx/>
                <a:latin typeface="Arial"/>
              </a:rPr>
              <a:t>El método Math.max(): Este método toma un conjunto de números y devuelve el valor máximo.</a:t>
            </a:r>
          </a:p>
          <a:p>
            <a:pPr>
              <a:lnSpc>
                <a:spcPct val="100000"/>
              </a:lnSpc>
              <a:spcBef>
                <a:spcPts val="907"/>
              </a:spcBef>
              <a:spcAft>
                <a:spcPts val="709"/>
              </a:spcAft>
            </a:pPr>
            <a:r>
              <a:rPr lang="es-AR" sz="1400" b="0" u="none" strike="noStrike">
                <a:solidFill>
                  <a:srgbClr val="000000"/>
                </a:solidFill>
                <a:effectLst/>
                <a:uFillTx/>
                <a:latin typeface="Arial"/>
              </a:rPr>
              <a:t>El método Math.min(): Este método toma un conjunto de números y devuelve el valor mínimo.</a:t>
            </a:r>
          </a:p>
          <a:p>
            <a:pPr>
              <a:lnSpc>
                <a:spcPct val="100000"/>
              </a:lnSpc>
              <a:spcBef>
                <a:spcPts val="907"/>
              </a:spcBef>
              <a:spcAft>
                <a:spcPts val="709"/>
              </a:spcAft>
            </a:pPr>
            <a:r>
              <a:rPr lang="es-AR" sz="1400" b="0" u="none" strike="noStrike">
                <a:solidFill>
                  <a:srgbClr val="000000"/>
                </a:solidFill>
                <a:effectLst/>
                <a:uFillTx/>
                <a:latin typeface="Arial"/>
              </a:rPr>
              <a:t>El Método Math.ceil(): Este método redondea un valor hacia arriba al número entero más cercano.</a:t>
            </a:r>
          </a:p>
          <a:p>
            <a:pPr>
              <a:lnSpc>
                <a:spcPct val="100000"/>
              </a:lnSpc>
              <a:spcBef>
                <a:spcPts val="907"/>
              </a:spcBef>
              <a:spcAft>
                <a:spcPts val="709"/>
              </a:spcAft>
            </a:pPr>
            <a:r>
              <a:rPr lang="es-AR" sz="1400" b="0" u="none" strike="noStrike">
                <a:solidFill>
                  <a:srgbClr val="000000"/>
                </a:solidFill>
                <a:effectLst/>
                <a:uFillTx/>
                <a:latin typeface="Arial"/>
              </a:rPr>
              <a:t>El Método Math.floor(): Este método redondea un valor hacia abajo hasta el número entero más cercano.</a:t>
            </a:r>
          </a:p>
          <a:p>
            <a:pPr>
              <a:lnSpc>
                <a:spcPct val="100000"/>
              </a:lnSpc>
              <a:spcBef>
                <a:spcPts val="907"/>
              </a:spcBef>
              <a:spcAft>
                <a:spcPts val="709"/>
              </a:spcAft>
            </a:pPr>
            <a:r>
              <a:rPr lang="es-AR" sz="1400" b="0" u="none" strike="noStrike">
                <a:solidFill>
                  <a:srgbClr val="000000"/>
                </a:solidFill>
                <a:effectLst/>
                <a:uFillTx/>
                <a:latin typeface="Arial"/>
              </a:rPr>
              <a:t>El Método Math.round(): Este método redondea un valor al número entero más cercano.</a:t>
            </a:r>
          </a:p>
          <a:p>
            <a:pPr>
              <a:lnSpc>
                <a:spcPct val="100000"/>
              </a:lnSpc>
              <a:spcBef>
                <a:spcPts val="907"/>
              </a:spcBef>
              <a:spcAft>
                <a:spcPts val="709"/>
              </a:spcAft>
            </a:pPr>
            <a:r>
              <a:rPr lang="es-AR" sz="1400" b="0" u="none" strike="noStrike">
                <a:solidFill>
                  <a:srgbClr val="000000"/>
                </a:solidFill>
                <a:effectLst/>
                <a:uFillTx/>
                <a:latin typeface="Arial"/>
              </a:rPr>
              <a:t>console.log(Math.round(2.3)); // 2</a:t>
            </a:r>
          </a:p>
          <a:p>
            <a:pPr>
              <a:lnSpc>
                <a:spcPct val="100000"/>
              </a:lnSpc>
              <a:spcBef>
                <a:spcPts val="907"/>
              </a:spcBef>
              <a:spcAft>
                <a:spcPts val="709"/>
              </a:spcAft>
            </a:pPr>
            <a:r>
              <a:rPr lang="es-AR" sz="1400" b="0" u="none" strike="noStrike">
                <a:solidFill>
                  <a:srgbClr val="000000"/>
                </a:solidFill>
                <a:effectLst/>
                <a:uFillTx/>
                <a:latin typeface="Arial"/>
              </a:rPr>
              <a:t>console.log(Math.round(4.5)); // 5</a:t>
            </a:r>
          </a:p>
          <a:p>
            <a:pPr>
              <a:lnSpc>
                <a:spcPct val="100000"/>
              </a:lnSpc>
              <a:spcBef>
                <a:spcPts val="907"/>
              </a:spcBef>
              <a:spcAft>
                <a:spcPts val="709"/>
              </a:spcAft>
            </a:pPr>
            <a:r>
              <a:rPr lang="es-AR" sz="1400" b="0" u="none" strike="noStrike">
                <a:solidFill>
                  <a:srgbClr val="000000"/>
                </a:solidFill>
                <a:effectLst/>
                <a:uFillTx/>
                <a:latin typeface="Arial"/>
              </a:rPr>
              <a:t>console.log(Math.round(4.8)); // 5</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CuadroTexto 8"/>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s-ES" sz="2800" b="0" u="none" strike="noStrike">
                <a:solidFill>
                  <a:srgbClr val="0070C0"/>
                </a:solidFill>
                <a:effectLst/>
                <a:uFillTx/>
                <a:latin typeface="Titillium Web SemiBold"/>
                <a:ea typeface="DejaVu Sans"/>
              </a:rPr>
              <a:t>Objeto Math</a:t>
            </a:r>
            <a:endParaRPr lang="es-AR" sz="2800" b="0" u="none" strike="noStrike">
              <a:solidFill>
                <a:srgbClr val="000000"/>
              </a:solidFill>
              <a:effectLst/>
              <a:uFillTx/>
              <a:latin typeface="Arial"/>
            </a:endParaRPr>
          </a:p>
        </p:txBody>
      </p:sp>
      <p:sp>
        <p:nvSpPr>
          <p:cNvPr id="66" name="Rectángulo 65"/>
          <p:cNvSpPr/>
          <p:nvPr/>
        </p:nvSpPr>
        <p:spPr>
          <a:xfrm>
            <a:off x="286200" y="1275120"/>
            <a:ext cx="8893440" cy="2314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Bef>
                <a:spcPts val="907"/>
              </a:spcBef>
              <a:spcAft>
                <a:spcPts val="709"/>
              </a:spcAft>
            </a:pPr>
            <a:r>
              <a:rPr lang="es-AR" sz="1400" b="0" u="none" strike="noStrike">
                <a:solidFill>
                  <a:srgbClr val="000000"/>
                </a:solidFill>
                <a:effectLst/>
                <a:uFillTx/>
                <a:latin typeface="Arial"/>
              </a:rPr>
              <a:t>El Método Math.trunc(): Este método elimina la parte decimal de un número, devolviendo solo la parte entera, sin redondear.</a:t>
            </a:r>
          </a:p>
          <a:p>
            <a:pPr>
              <a:lnSpc>
                <a:spcPct val="100000"/>
              </a:lnSpc>
            </a:pPr>
            <a:r>
              <a:rPr lang="es-AR" sz="1400" b="0" u="none" strike="noStrike">
                <a:solidFill>
                  <a:srgbClr val="000000"/>
                </a:solidFill>
                <a:effectLst/>
                <a:uFillTx/>
                <a:latin typeface="Arial"/>
              </a:rPr>
              <a:t>El Método Math.sqrt(): Este método devolverá la raíz cuadrada de un número.</a:t>
            </a:r>
          </a:p>
          <a:p>
            <a:pPr>
              <a:lnSpc>
                <a:spcPct val="100000"/>
              </a:lnSpc>
            </a:pPr>
            <a:endParaRPr lang="es-AR" sz="1400" b="0" u="none" strike="noStrike">
              <a:solidFill>
                <a:srgbClr val="000000"/>
              </a:solidFill>
              <a:effectLst/>
              <a:uFillTx/>
              <a:latin typeface="Arial"/>
            </a:endParaRPr>
          </a:p>
          <a:p>
            <a:pPr>
              <a:lnSpc>
                <a:spcPct val="100000"/>
              </a:lnSpc>
            </a:pPr>
            <a:r>
              <a:rPr lang="es-AR" sz="1400" b="0" u="none" strike="noStrike">
                <a:solidFill>
                  <a:srgbClr val="000000"/>
                </a:solidFill>
                <a:effectLst/>
                <a:uFillTx/>
                <a:latin typeface="Arial"/>
              </a:rPr>
              <a:t>El Método Math.cbrt(): Este método devolverá la raíz cúbica de un número.</a:t>
            </a:r>
          </a:p>
          <a:p>
            <a:pPr>
              <a:lnSpc>
                <a:spcPct val="100000"/>
              </a:lnSpc>
            </a:pPr>
            <a:endParaRPr lang="es-AR" sz="1400" b="0" u="none" strike="noStrike">
              <a:solidFill>
                <a:srgbClr val="000000"/>
              </a:solidFill>
              <a:effectLst/>
              <a:uFillTx/>
              <a:latin typeface="Arial"/>
            </a:endParaRPr>
          </a:p>
          <a:p>
            <a:pPr>
              <a:lnSpc>
                <a:spcPct val="100000"/>
              </a:lnSpc>
            </a:pPr>
            <a:r>
              <a:rPr lang="es-AR" sz="1400" b="0" u="none" strike="noStrike">
                <a:solidFill>
                  <a:srgbClr val="000000"/>
                </a:solidFill>
                <a:effectLst/>
                <a:uFillTx/>
                <a:latin typeface="Arial"/>
              </a:rPr>
              <a:t>El Método Math.abs(): Este método devolverá el valor absoluto de un número.</a:t>
            </a:r>
          </a:p>
          <a:p>
            <a:pPr>
              <a:lnSpc>
                <a:spcPct val="100000"/>
              </a:lnSpc>
            </a:pPr>
            <a:endParaRPr lang="es-AR" sz="1400" b="0" u="none" strike="noStrike">
              <a:solidFill>
                <a:srgbClr val="000000"/>
              </a:solidFill>
              <a:effectLst/>
              <a:uFillTx/>
              <a:latin typeface="Arial"/>
            </a:endParaRPr>
          </a:p>
          <a:p>
            <a:pPr>
              <a:lnSpc>
                <a:spcPct val="100000"/>
              </a:lnSpc>
            </a:pPr>
            <a:r>
              <a:rPr lang="es-AR" sz="1400" b="0" u="none" strike="noStrike">
                <a:solidFill>
                  <a:srgbClr val="000000"/>
                </a:solidFill>
                <a:effectLst/>
                <a:uFillTx/>
                <a:latin typeface="Arial"/>
              </a:rPr>
              <a:t>El Método Math.pow(): Este método toma dos números y eleva el primero a la potencia del segundo.</a:t>
            </a:r>
          </a:p>
          <a:p>
            <a:pPr>
              <a:lnSpc>
                <a:spcPct val="100000"/>
              </a:lnSpc>
            </a:pPr>
            <a:endParaRPr lang="es-AR" sz="14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CuadroTexto 23"/>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s-ES" sz="2800" b="0" u="none" strike="noStrike">
                <a:solidFill>
                  <a:srgbClr val="0070C0"/>
                </a:solidFill>
                <a:effectLst/>
                <a:uFillTx/>
                <a:latin typeface="Titillium Web SemiBold"/>
                <a:ea typeface="DejaVu Sans"/>
              </a:rPr>
              <a:t>Metodos utiles</a:t>
            </a:r>
            <a:endParaRPr lang="es-AR" sz="2800" b="0" u="none" strike="noStrike">
              <a:solidFill>
                <a:srgbClr val="000000"/>
              </a:solidFill>
              <a:effectLst/>
              <a:uFillTx/>
              <a:latin typeface="Arial"/>
            </a:endParaRPr>
          </a:p>
        </p:txBody>
      </p:sp>
      <p:sp>
        <p:nvSpPr>
          <p:cNvPr id="68" name="Rectángulo 67"/>
          <p:cNvSpPr/>
          <p:nvPr/>
        </p:nvSpPr>
        <p:spPr>
          <a:xfrm>
            <a:off x="286200" y="1275120"/>
            <a:ext cx="8893440" cy="414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Bef>
                <a:spcPts val="907"/>
              </a:spcBef>
              <a:spcAft>
                <a:spcPts val="709"/>
              </a:spcAft>
            </a:pPr>
            <a:r>
              <a:rPr lang="es-AR" sz="1400" b="0" u="none" strike="noStrike">
                <a:solidFill>
                  <a:srgbClr val="000000"/>
                </a:solidFill>
                <a:effectLst/>
                <a:uFillTx/>
                <a:latin typeface="Arial"/>
              </a:rPr>
              <a:t>El Método parseFloat(): Este método analiza una cadena y devuelve un número de punto flotante. Está diseñado para extraer un número del comienzo de una cadena, incluso si la cadena contiene caracteres no numéricos más adelante.</a:t>
            </a:r>
          </a:p>
          <a:p>
            <a:pPr>
              <a:lnSpc>
                <a:spcPct val="100000"/>
              </a:lnSpc>
            </a:pPr>
            <a:r>
              <a:rPr lang="es-AR" sz="1400" b="0" u="none" strike="noStrike">
                <a:solidFill>
                  <a:srgbClr val="000000"/>
                </a:solidFill>
                <a:effectLst/>
                <a:uFillTx/>
                <a:latin typeface="Arial"/>
              </a:rPr>
              <a:t>The parseInt() Method: This method parses a string argument and returns an integer. parseInt() stops parsing at the first non-digit it encounters. Para números de punto flotante, solo devuelve la parte entera. Si no puede encontrar un entero válido al inicio de la cadena, devuelve NaN.</a:t>
            </a:r>
          </a:p>
          <a:p>
            <a:pPr>
              <a:lnSpc>
                <a:spcPct val="100000"/>
              </a:lnSpc>
            </a:pPr>
            <a:r>
              <a:rPr lang="es-AR" sz="1400" b="0" u="none" strike="noStrike">
                <a:solidFill>
                  <a:srgbClr val="000000"/>
                </a:solidFill>
                <a:effectLst/>
                <a:uFillTx/>
                <a:latin typeface="Arial"/>
              </a:rPr>
              <a:t>El Método toFixed(): Este método se llama en un número y toma un argumento opcional, que es el número de dígitos que aparecerán después del punto decimal. Devuelve una representación en cadena del número con el número especificado de decimales.</a:t>
            </a:r>
          </a:p>
          <a:p>
            <a:pPr>
              <a:lnSpc>
                <a:spcPct val="100000"/>
              </a:lnSpc>
            </a:pPr>
            <a:endParaRPr lang="es-AR" sz="1400" b="0" u="none" strike="noStrike">
              <a:solidFill>
                <a:srgbClr val="000000"/>
              </a:solidFill>
              <a:effectLst/>
              <a:uFillTx/>
              <a:latin typeface="Arial"/>
            </a:endParaRPr>
          </a:p>
          <a:p>
            <a:pPr>
              <a:lnSpc>
                <a:spcPct val="100000"/>
              </a:lnSpc>
            </a:pPr>
            <a:r>
              <a:rPr lang="es-AR" sz="1200" b="0" u="none" strike="noStrike">
                <a:solidFill>
                  <a:srgbClr val="000000"/>
                </a:solidFill>
                <a:effectLst/>
                <a:uFillTx/>
                <a:latin typeface="Arial"/>
              </a:rPr>
              <a:t>let limite = prompt("Ingrese nuevo límite de extracción:");</a:t>
            </a:r>
            <a:r>
              <a:rPr sz="1200"/>
              <a:t/>
            </a:r>
            <a:br>
              <a:rPr sz="1200"/>
            </a:br>
            <a:r>
              <a:rPr lang="es-AR" sz="1200" b="0" u="none" strike="noStrike">
                <a:solidFill>
                  <a:srgbClr val="000000"/>
                </a:solidFill>
                <a:effectLst/>
                <a:uFillTx/>
                <a:latin typeface="Arial"/>
              </a:rPr>
              <a:t>let limiteNumerico = parseInt(limite);</a:t>
            </a:r>
          </a:p>
          <a:p>
            <a:pPr>
              <a:lnSpc>
                <a:spcPct val="100000"/>
              </a:lnSpc>
            </a:pPr>
            <a:r>
              <a:rPr lang="es-AR" sz="1200" b="0" u="none" strike="noStrike">
                <a:solidFill>
                  <a:srgbClr val="000000"/>
                </a:solidFill>
                <a:effectLst/>
                <a:uFillTx/>
                <a:latin typeface="Arial"/>
              </a:rPr>
              <a:t>// Verifica si la conversión fue exitosa (no es NaN)</a:t>
            </a:r>
            <a:r>
              <a:rPr sz="1200"/>
              <a:t/>
            </a:r>
            <a:br>
              <a:rPr sz="1200"/>
            </a:br>
            <a:r>
              <a:rPr lang="es-AR" sz="1200" b="0" u="none" strike="noStrike">
                <a:solidFill>
                  <a:srgbClr val="000000"/>
                </a:solidFill>
                <a:effectLst/>
                <a:uFillTx/>
                <a:latin typeface="Arial"/>
              </a:rPr>
              <a:t>if (!isNaN(limiteNumerico)) </a:t>
            </a:r>
          </a:p>
          <a:p>
            <a:pPr>
              <a:lnSpc>
                <a:spcPct val="100000"/>
              </a:lnSpc>
            </a:pPr>
            <a:r>
              <a:rPr lang="es-AR" sz="1200" b="0" u="none" strike="noStrike">
                <a:solidFill>
                  <a:srgbClr val="000000"/>
                </a:solidFill>
                <a:effectLst/>
                <a:uFillTx/>
                <a:latin typeface="Arial"/>
              </a:rPr>
              <a:t>{</a:t>
            </a:r>
            <a:r>
              <a:rPr sz="1200"/>
              <a:t/>
            </a:r>
            <a:br>
              <a:rPr sz="1200"/>
            </a:br>
            <a:r>
              <a:rPr lang="es-AR" sz="1200" b="0" u="none" strike="noStrike">
                <a:solidFill>
                  <a:srgbClr val="000000"/>
                </a:solidFill>
                <a:effectLst/>
                <a:uFillTx/>
                <a:latin typeface="Arial"/>
              </a:rPr>
              <a:t>	console.log("Límite actualizado a: " + limiteNumerico);</a:t>
            </a:r>
            <a:r>
              <a:rPr sz="1200"/>
              <a:t/>
            </a:r>
            <a:br>
              <a:rPr sz="1200"/>
            </a:br>
            <a:r>
              <a:rPr lang="es-AR" sz="1200" b="0" u="none" strike="noStrike">
                <a:solidFill>
                  <a:srgbClr val="000000"/>
                </a:solidFill>
                <a:effectLst/>
                <a:uFillTx/>
                <a:latin typeface="Arial"/>
              </a:rPr>
              <a:t>} else </a:t>
            </a:r>
          </a:p>
          <a:p>
            <a:pPr>
              <a:lnSpc>
                <a:spcPct val="100000"/>
              </a:lnSpc>
            </a:pPr>
            <a:r>
              <a:rPr lang="es-AR" sz="1200" b="0" u="none" strike="noStrike">
                <a:solidFill>
                  <a:srgbClr val="000000"/>
                </a:solidFill>
                <a:effectLst/>
                <a:uFillTx/>
                <a:latin typeface="Arial"/>
              </a:rPr>
              <a:t>{</a:t>
            </a:r>
            <a:r>
              <a:rPr sz="1200"/>
              <a:t/>
            </a:r>
            <a:br>
              <a:rPr sz="1200"/>
            </a:br>
            <a:r>
              <a:rPr lang="es-AR" sz="1200" b="0" u="none" strike="noStrike">
                <a:solidFill>
                  <a:srgbClr val="000000"/>
                </a:solidFill>
                <a:effectLst/>
                <a:uFillTx/>
                <a:latin typeface="Arial"/>
              </a:rPr>
              <a:t>	alert("Por favor, ingrese un valor numérico válido.");</a:t>
            </a:r>
            <a:r>
              <a:rPr sz="1200"/>
              <a:t/>
            </a:r>
            <a:br>
              <a:rPr sz="1200"/>
            </a:br>
            <a:r>
              <a:rPr lang="es-AR" sz="1200" b="0" u="none" strike="noStrike">
                <a:solidFill>
                  <a:srgbClr val="000000"/>
                </a:solidFill>
                <a:effectLst/>
                <a:uFillTx/>
                <a:latin typeface="Arial"/>
              </a:rPr>
              <a:t>}</a:t>
            </a:r>
            <a:r>
              <a:rPr lang="es-AR" sz="1000" b="0" u="none" strike="noStrike">
                <a:solidFill>
                  <a:srgbClr val="000000"/>
                </a:solidFill>
                <a:effectLst/>
                <a:uFillTx/>
                <a:latin typeface="Arial"/>
              </a:rPr>
              <a:t>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CuadroTexto 11"/>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s-ES" sz="2800" b="0" u="none" strike="noStrike">
                <a:solidFill>
                  <a:srgbClr val="0070C0"/>
                </a:solidFill>
                <a:effectLst/>
                <a:uFillTx/>
                <a:latin typeface="Titillium Web SemiBold"/>
                <a:ea typeface="DejaVu Sans"/>
              </a:rPr>
              <a:t>Estructuras de control</a:t>
            </a:r>
            <a:endParaRPr lang="es-AR" sz="2800" b="0" u="none" strike="noStrike">
              <a:solidFill>
                <a:srgbClr val="000000"/>
              </a:solidFill>
              <a:effectLst/>
              <a:uFillTx/>
              <a:latin typeface="Arial"/>
            </a:endParaRPr>
          </a:p>
        </p:txBody>
      </p:sp>
      <p:sp>
        <p:nvSpPr>
          <p:cNvPr id="70" name="Rectángulo 69"/>
          <p:cNvSpPr/>
          <p:nvPr/>
        </p:nvSpPr>
        <p:spPr>
          <a:xfrm>
            <a:off x="286200" y="1275120"/>
            <a:ext cx="8893440" cy="224531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AR" sz="1400" b="0" u="none" strike="noStrike" dirty="0">
                <a:solidFill>
                  <a:srgbClr val="000000"/>
                </a:solidFill>
                <a:effectLst/>
                <a:uFillTx/>
                <a:latin typeface="Arial"/>
              </a:rPr>
              <a:t>Las estructuras de control permiten controlar el flujo de ejecución de un programa. Estas estructuras incluyen condicionales y bucles, que son fundamentales para la lógica y la iteración en el código</a:t>
            </a:r>
            <a:r>
              <a:rPr lang="es-AR" sz="1400" b="0" u="none" strike="noStrike" dirty="0" smtClean="0">
                <a:solidFill>
                  <a:srgbClr val="000000"/>
                </a:solidFill>
                <a:effectLst/>
                <a:uFillTx/>
                <a:latin typeface="Arial"/>
              </a:rPr>
              <a:t>.</a:t>
            </a:r>
          </a:p>
          <a:p>
            <a:pPr>
              <a:lnSpc>
                <a:spcPct val="100000"/>
              </a:lnSpc>
            </a:pPr>
            <a:endParaRPr lang="es-AR" sz="1400" b="0" u="none" strike="noStrike" dirty="0">
              <a:solidFill>
                <a:srgbClr val="000000"/>
              </a:solidFill>
              <a:effectLst/>
              <a:uFillTx/>
              <a:latin typeface="Arial"/>
            </a:endParaRPr>
          </a:p>
          <a:p>
            <a:pPr>
              <a:lnSpc>
                <a:spcPct val="100000"/>
              </a:lnSpc>
            </a:pPr>
            <a:r>
              <a:rPr lang="es-AR" sz="1400" b="0" u="none" strike="noStrike" dirty="0">
                <a:solidFill>
                  <a:srgbClr val="000000"/>
                </a:solidFill>
                <a:effectLst/>
                <a:uFillTx/>
                <a:latin typeface="Arial"/>
              </a:rPr>
              <a:t>En JavaScript, las llaves {} se utilizan para delimitar bloques de código dentro de las estructuras de control.</a:t>
            </a:r>
          </a:p>
          <a:p>
            <a:pPr>
              <a:lnSpc>
                <a:spcPct val="100000"/>
              </a:lnSpc>
            </a:pPr>
            <a:r>
              <a:rPr lang="es-AR" sz="1400" b="1" u="none" strike="noStrike" dirty="0">
                <a:solidFill>
                  <a:srgbClr val="000000"/>
                </a:solidFill>
                <a:effectLst/>
                <a:uFillTx/>
                <a:latin typeface="Arial"/>
              </a:rPr>
              <a:t>Condicionales (</a:t>
            </a:r>
            <a:r>
              <a:rPr lang="es-AR" sz="1400" b="1" u="none" strike="noStrike" dirty="0" err="1">
                <a:solidFill>
                  <a:srgbClr val="000000"/>
                </a:solidFill>
                <a:effectLst/>
                <a:uFillTx/>
                <a:latin typeface="Arial"/>
              </a:rPr>
              <a:t>if</a:t>
            </a:r>
            <a:r>
              <a:rPr lang="es-AR" sz="1400" b="1" u="none" strike="noStrike" dirty="0">
                <a:solidFill>
                  <a:srgbClr val="000000"/>
                </a:solidFill>
                <a:effectLst/>
                <a:uFillTx/>
                <a:latin typeface="Arial"/>
              </a:rPr>
              <a:t>, </a:t>
            </a:r>
            <a:r>
              <a:rPr lang="es-AR" sz="1400" b="1" u="none" strike="noStrike" dirty="0" err="1">
                <a:solidFill>
                  <a:srgbClr val="000000"/>
                </a:solidFill>
                <a:effectLst/>
                <a:uFillTx/>
                <a:latin typeface="Arial"/>
              </a:rPr>
              <a:t>else</a:t>
            </a:r>
            <a:r>
              <a:rPr lang="es-AR" sz="1400" b="1" u="none" strike="noStrike" dirty="0">
                <a:solidFill>
                  <a:srgbClr val="000000"/>
                </a:solidFill>
                <a:effectLst/>
                <a:uFillTx/>
                <a:latin typeface="Arial"/>
              </a:rPr>
              <a:t> </a:t>
            </a:r>
            <a:r>
              <a:rPr lang="es-AR" sz="1400" b="1" u="none" strike="noStrike" dirty="0" err="1">
                <a:solidFill>
                  <a:srgbClr val="000000"/>
                </a:solidFill>
                <a:effectLst/>
                <a:uFillTx/>
                <a:latin typeface="Arial"/>
              </a:rPr>
              <a:t>if</a:t>
            </a:r>
            <a:r>
              <a:rPr lang="es-AR" sz="1400" b="1" u="none" strike="noStrike" dirty="0">
                <a:solidFill>
                  <a:srgbClr val="000000"/>
                </a:solidFill>
                <a:effectLst/>
                <a:uFillTx/>
                <a:latin typeface="Arial"/>
              </a:rPr>
              <a:t>, </a:t>
            </a:r>
            <a:r>
              <a:rPr lang="es-AR" sz="1400" b="1" u="none" strike="noStrike" dirty="0" err="1">
                <a:solidFill>
                  <a:srgbClr val="000000"/>
                </a:solidFill>
                <a:effectLst/>
                <a:uFillTx/>
                <a:latin typeface="Arial"/>
              </a:rPr>
              <a:t>else</a:t>
            </a:r>
            <a:r>
              <a:rPr lang="es-AR" sz="1400" b="1" u="none" strike="noStrike" dirty="0">
                <a:solidFill>
                  <a:srgbClr val="000000"/>
                </a:solidFill>
                <a:effectLst/>
                <a:uFillTx/>
                <a:latin typeface="Arial"/>
              </a:rPr>
              <a:t>): </a:t>
            </a:r>
            <a:r>
              <a:rPr lang="es-AR" sz="1400" b="0" u="none" strike="noStrike" dirty="0">
                <a:solidFill>
                  <a:srgbClr val="000000"/>
                </a:solidFill>
                <a:effectLst/>
                <a:uFillTx/>
                <a:latin typeface="Arial"/>
              </a:rPr>
              <a:t>Los condicionales en JavaScript se utilizan para ejecutar diferentes bloques de código según una condición especificada.</a:t>
            </a:r>
          </a:p>
          <a:p>
            <a:pPr>
              <a:lnSpc>
                <a:spcPct val="100000"/>
              </a:lnSpc>
            </a:pPr>
            <a:endParaRPr lang="es-AR" sz="1400" b="0" u="none" strike="noStrike" dirty="0">
              <a:solidFill>
                <a:srgbClr val="000000"/>
              </a:solidFill>
              <a:effectLst/>
              <a:uFillTx/>
              <a:latin typeface="Arial"/>
            </a:endParaRPr>
          </a:p>
          <a:p>
            <a:pPr>
              <a:lnSpc>
                <a:spcPct val="100000"/>
              </a:lnSpc>
            </a:pPr>
            <a:endParaRPr lang="es-AR" sz="1400" b="0" u="none" strike="noStrike" dirty="0">
              <a:solidFill>
                <a:srgbClr val="000000"/>
              </a:solidFill>
              <a:effectLst/>
              <a:uFillTx/>
              <a:latin typeface="Arial"/>
            </a:endParaRPr>
          </a:p>
          <a:p>
            <a:pPr>
              <a:lnSpc>
                <a:spcPct val="100000"/>
              </a:lnSpc>
            </a:pPr>
            <a:endParaRPr lang="es-AR" sz="1400" b="0" u="none" strike="noStrike" dirty="0">
              <a:solidFill>
                <a:srgbClr val="000000"/>
              </a:solidFill>
              <a:effectLst/>
              <a:uFillTx/>
              <a:latin typeface="Arial"/>
            </a:endParaRPr>
          </a:p>
          <a:p>
            <a:pPr>
              <a:lnSpc>
                <a:spcPct val="100000"/>
              </a:lnSpc>
            </a:pPr>
            <a:endParaRPr lang="es-AR" sz="1400" b="0" u="none" strike="noStrike" dirty="0">
              <a:solidFill>
                <a:srgbClr val="000000"/>
              </a:solidFill>
              <a:effectLst/>
              <a:uFillTx/>
              <a:latin typeface="Arial"/>
            </a:endParaRPr>
          </a:p>
        </p:txBody>
      </p:sp>
      <p:pic>
        <p:nvPicPr>
          <p:cNvPr id="71" name="Imagen 70"/>
          <p:cNvPicPr/>
          <p:nvPr/>
        </p:nvPicPr>
        <p:blipFill>
          <a:blip r:embed="rId2"/>
          <a:stretch/>
        </p:blipFill>
        <p:spPr>
          <a:xfrm>
            <a:off x="360000" y="3144960"/>
            <a:ext cx="7019640" cy="1390320"/>
          </a:xfrm>
          <a:prstGeom prst="rect">
            <a:avLst/>
          </a:prstGeom>
          <a:noFill/>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CuadroTexto 12"/>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s-ES" sz="2800" b="0" u="none" strike="noStrike">
                <a:solidFill>
                  <a:srgbClr val="0070C0"/>
                </a:solidFill>
                <a:effectLst/>
                <a:uFillTx/>
                <a:latin typeface="Titillium Web SemiBold"/>
                <a:ea typeface="DejaVu Sans"/>
              </a:rPr>
              <a:t>Estructuras de control</a:t>
            </a:r>
            <a:endParaRPr lang="es-AR" sz="2800" b="0" u="none" strike="noStrike">
              <a:solidFill>
                <a:srgbClr val="000000"/>
              </a:solidFill>
              <a:effectLst/>
              <a:uFillTx/>
              <a:latin typeface="Arial"/>
            </a:endParaRPr>
          </a:p>
        </p:txBody>
      </p:sp>
      <p:sp>
        <p:nvSpPr>
          <p:cNvPr id="73" name="Rectángulo 72"/>
          <p:cNvSpPr/>
          <p:nvPr/>
        </p:nvSpPr>
        <p:spPr>
          <a:xfrm>
            <a:off x="286200" y="1275120"/>
            <a:ext cx="7093440" cy="3107089"/>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AR" sz="1400" b="1" u="none" strike="noStrike" dirty="0">
                <a:solidFill>
                  <a:srgbClr val="000000"/>
                </a:solidFill>
                <a:effectLst/>
                <a:uFillTx/>
                <a:latin typeface="Arial"/>
              </a:rPr>
              <a:t>Bucles (</a:t>
            </a:r>
            <a:r>
              <a:rPr lang="es-AR" sz="1400" b="1" u="none" strike="noStrike" dirty="0" err="1">
                <a:solidFill>
                  <a:srgbClr val="000000"/>
                </a:solidFill>
                <a:effectLst/>
                <a:uFillTx/>
                <a:latin typeface="Arial"/>
              </a:rPr>
              <a:t>for</a:t>
            </a:r>
            <a:r>
              <a:rPr lang="es-AR" sz="1400" b="1" u="none" strike="noStrike" dirty="0">
                <a:solidFill>
                  <a:srgbClr val="000000"/>
                </a:solidFill>
                <a:effectLst/>
                <a:uFillTx/>
                <a:latin typeface="Arial"/>
              </a:rPr>
              <a:t>, </a:t>
            </a:r>
            <a:r>
              <a:rPr lang="es-AR" sz="1400" b="1" u="none" strike="noStrike" dirty="0" err="1">
                <a:solidFill>
                  <a:srgbClr val="000000"/>
                </a:solidFill>
                <a:effectLst/>
                <a:uFillTx/>
                <a:latin typeface="Arial"/>
              </a:rPr>
              <a:t>while</a:t>
            </a:r>
            <a:r>
              <a:rPr lang="es-AR" sz="1400" b="1" u="none" strike="noStrike" dirty="0">
                <a:solidFill>
                  <a:srgbClr val="000000"/>
                </a:solidFill>
                <a:effectLst/>
                <a:uFillTx/>
                <a:latin typeface="Arial"/>
              </a:rPr>
              <a:t>, do-</a:t>
            </a:r>
            <a:r>
              <a:rPr lang="es-AR" sz="1400" b="1" u="none" strike="noStrike" dirty="0" err="1">
                <a:solidFill>
                  <a:srgbClr val="000000"/>
                </a:solidFill>
                <a:effectLst/>
                <a:uFillTx/>
                <a:latin typeface="Arial"/>
              </a:rPr>
              <a:t>while</a:t>
            </a:r>
            <a:r>
              <a:rPr lang="es-AR" sz="1400" b="1" u="none" strike="noStrike" dirty="0">
                <a:solidFill>
                  <a:srgbClr val="000000"/>
                </a:solidFill>
                <a:effectLst/>
                <a:uFillTx/>
                <a:latin typeface="Arial"/>
              </a:rPr>
              <a:t>)</a:t>
            </a:r>
            <a:endParaRPr lang="es-AR" sz="1400" b="0" u="none" strike="noStrike" dirty="0">
              <a:solidFill>
                <a:srgbClr val="000000"/>
              </a:solidFill>
              <a:effectLst/>
              <a:uFillTx/>
              <a:latin typeface="Arial"/>
            </a:endParaRPr>
          </a:p>
          <a:p>
            <a:pPr>
              <a:lnSpc>
                <a:spcPct val="100000"/>
              </a:lnSpc>
            </a:pPr>
            <a:r>
              <a:rPr lang="es-AR" sz="1400" b="1" u="none" strike="noStrike" dirty="0" err="1">
                <a:solidFill>
                  <a:srgbClr val="000000"/>
                </a:solidFill>
                <a:effectLst/>
                <a:uFillTx/>
                <a:latin typeface="Arial"/>
              </a:rPr>
              <a:t>for</a:t>
            </a:r>
            <a:r>
              <a:rPr lang="es-AR" sz="1400" b="1" u="none" strike="noStrike" dirty="0">
                <a:solidFill>
                  <a:srgbClr val="000000"/>
                </a:solidFill>
                <a:effectLst/>
                <a:uFillTx/>
                <a:latin typeface="Arial"/>
              </a:rPr>
              <a:t>:</a:t>
            </a:r>
            <a:r>
              <a:rPr lang="es-AR" sz="1400" b="0" u="none" strike="noStrike" dirty="0">
                <a:solidFill>
                  <a:srgbClr val="000000"/>
                </a:solidFill>
                <a:effectLst/>
                <a:uFillTx/>
                <a:latin typeface="Arial"/>
              </a:rPr>
              <a:t> Se utiliza cuando se conoce el número de iteraciones que se realizarán.</a:t>
            </a:r>
          </a:p>
          <a:p>
            <a:pPr>
              <a:lnSpc>
                <a:spcPct val="100000"/>
              </a:lnSpc>
            </a:pPr>
            <a:endParaRPr lang="es-AR" sz="1400" b="0" u="none" strike="noStrike" dirty="0" smtClean="0">
              <a:solidFill>
                <a:srgbClr val="000000"/>
              </a:solidFill>
              <a:effectLst/>
              <a:uFillTx/>
              <a:latin typeface="Arial"/>
            </a:endParaRPr>
          </a:p>
          <a:p>
            <a:pPr>
              <a:lnSpc>
                <a:spcPct val="100000"/>
              </a:lnSpc>
            </a:pPr>
            <a:endParaRPr lang="es-AR" sz="1400" dirty="0">
              <a:solidFill>
                <a:srgbClr val="000000"/>
              </a:solidFill>
              <a:latin typeface="Arial"/>
            </a:endParaRPr>
          </a:p>
          <a:p>
            <a:pPr>
              <a:lnSpc>
                <a:spcPct val="100000"/>
              </a:lnSpc>
            </a:pPr>
            <a:endParaRPr lang="es-AR" sz="1400" b="0" u="none" strike="noStrike" dirty="0" smtClean="0">
              <a:solidFill>
                <a:srgbClr val="000000"/>
              </a:solidFill>
              <a:effectLst/>
              <a:uFillTx/>
              <a:latin typeface="Arial"/>
            </a:endParaRPr>
          </a:p>
          <a:p>
            <a:pPr>
              <a:lnSpc>
                <a:spcPct val="100000"/>
              </a:lnSpc>
            </a:pPr>
            <a:endParaRPr lang="es-AR" sz="1400" b="0" u="none" strike="noStrike" dirty="0">
              <a:solidFill>
                <a:srgbClr val="000000"/>
              </a:solidFill>
              <a:effectLst/>
              <a:uFillTx/>
              <a:latin typeface="Arial"/>
            </a:endParaRPr>
          </a:p>
          <a:p>
            <a:pPr>
              <a:lnSpc>
                <a:spcPct val="100000"/>
              </a:lnSpc>
            </a:pPr>
            <a:r>
              <a:rPr lang="es-AR" sz="1400" b="1" u="none" strike="noStrike" dirty="0" err="1">
                <a:solidFill>
                  <a:srgbClr val="000000"/>
                </a:solidFill>
                <a:effectLst/>
                <a:uFillTx/>
                <a:latin typeface="Arial"/>
              </a:rPr>
              <a:t>while</a:t>
            </a:r>
            <a:r>
              <a:rPr lang="es-AR" sz="1400" b="1" u="none" strike="noStrike" dirty="0">
                <a:solidFill>
                  <a:srgbClr val="000000"/>
                </a:solidFill>
                <a:effectLst/>
                <a:uFillTx/>
                <a:latin typeface="Arial"/>
              </a:rPr>
              <a:t>: </a:t>
            </a:r>
            <a:r>
              <a:rPr lang="es-AR" sz="1400" b="0" u="none" strike="noStrike" dirty="0">
                <a:solidFill>
                  <a:srgbClr val="000000"/>
                </a:solidFill>
                <a:effectLst/>
                <a:uFillTx/>
                <a:latin typeface="Arial"/>
              </a:rPr>
              <a:t>Se utiliza cuando no se sabe cuántas veces se repetirá el bloque de código.</a:t>
            </a:r>
          </a:p>
          <a:p>
            <a:pPr>
              <a:lnSpc>
                <a:spcPct val="100000"/>
              </a:lnSpc>
            </a:pPr>
            <a:endParaRPr lang="es-AR" sz="1400" b="0" u="none" strike="noStrike" dirty="0" smtClean="0">
              <a:solidFill>
                <a:srgbClr val="000000"/>
              </a:solidFill>
              <a:effectLst/>
              <a:uFillTx/>
              <a:latin typeface="Arial"/>
            </a:endParaRPr>
          </a:p>
          <a:p>
            <a:pPr>
              <a:lnSpc>
                <a:spcPct val="100000"/>
              </a:lnSpc>
            </a:pPr>
            <a:endParaRPr lang="es-AR" sz="1400" dirty="0">
              <a:solidFill>
                <a:srgbClr val="000000"/>
              </a:solidFill>
              <a:latin typeface="Arial"/>
            </a:endParaRPr>
          </a:p>
          <a:p>
            <a:pPr>
              <a:lnSpc>
                <a:spcPct val="100000"/>
              </a:lnSpc>
            </a:pPr>
            <a:endParaRPr lang="es-AR" sz="1400" b="0" u="none" strike="noStrike" dirty="0" smtClean="0">
              <a:solidFill>
                <a:srgbClr val="000000"/>
              </a:solidFill>
              <a:effectLst/>
              <a:uFillTx/>
              <a:latin typeface="Arial"/>
            </a:endParaRPr>
          </a:p>
          <a:p>
            <a:pPr>
              <a:lnSpc>
                <a:spcPct val="100000"/>
              </a:lnSpc>
            </a:pPr>
            <a:endParaRPr lang="es-AR" sz="1400" dirty="0">
              <a:solidFill>
                <a:srgbClr val="000000"/>
              </a:solidFill>
              <a:latin typeface="Arial"/>
            </a:endParaRPr>
          </a:p>
          <a:p>
            <a:pPr>
              <a:lnSpc>
                <a:spcPct val="100000"/>
              </a:lnSpc>
            </a:pPr>
            <a:endParaRPr lang="es-AR" sz="1400" b="0" u="none" strike="noStrike" dirty="0">
              <a:solidFill>
                <a:srgbClr val="000000"/>
              </a:solidFill>
              <a:effectLst/>
              <a:uFillTx/>
              <a:latin typeface="Arial"/>
            </a:endParaRPr>
          </a:p>
          <a:p>
            <a:pPr>
              <a:lnSpc>
                <a:spcPct val="100000"/>
              </a:lnSpc>
            </a:pPr>
            <a:r>
              <a:rPr lang="es-AR" sz="1400" b="1" u="none" strike="noStrike" dirty="0">
                <a:solidFill>
                  <a:srgbClr val="000000"/>
                </a:solidFill>
                <a:effectLst/>
                <a:uFillTx/>
                <a:latin typeface="Arial"/>
              </a:rPr>
              <a:t>do-</a:t>
            </a:r>
            <a:r>
              <a:rPr lang="es-AR" sz="1400" b="1" u="none" strike="noStrike" dirty="0" err="1">
                <a:solidFill>
                  <a:srgbClr val="000000"/>
                </a:solidFill>
                <a:effectLst/>
                <a:uFillTx/>
                <a:latin typeface="Arial"/>
              </a:rPr>
              <a:t>while</a:t>
            </a:r>
            <a:r>
              <a:rPr lang="es-AR" sz="1400" b="1" u="none" strike="noStrike" dirty="0">
                <a:solidFill>
                  <a:srgbClr val="000000"/>
                </a:solidFill>
                <a:effectLst/>
                <a:uFillTx/>
                <a:latin typeface="Arial"/>
              </a:rPr>
              <a:t>:</a:t>
            </a:r>
            <a:r>
              <a:rPr lang="es-AR" sz="1400" b="0" u="none" strike="noStrike" dirty="0">
                <a:solidFill>
                  <a:srgbClr val="000000"/>
                </a:solidFill>
                <a:effectLst/>
                <a:uFillTx/>
                <a:latin typeface="Arial"/>
              </a:rPr>
              <a:t> Similar a </a:t>
            </a:r>
            <a:r>
              <a:rPr lang="es-AR" sz="1400" b="0" u="none" strike="noStrike" dirty="0" err="1">
                <a:solidFill>
                  <a:srgbClr val="000000"/>
                </a:solidFill>
                <a:effectLst/>
                <a:uFillTx/>
                <a:latin typeface="Arial"/>
              </a:rPr>
              <a:t>while</a:t>
            </a:r>
            <a:r>
              <a:rPr lang="es-AR" sz="1400" b="0" u="none" strike="noStrike" dirty="0">
                <a:solidFill>
                  <a:srgbClr val="000000"/>
                </a:solidFill>
                <a:effectLst/>
                <a:uFillTx/>
                <a:latin typeface="Arial"/>
              </a:rPr>
              <a:t>, pero garantiza que el bloque de código se ejecutará al menos una vez antes de evaluar la condición.</a:t>
            </a:r>
          </a:p>
        </p:txBody>
      </p:sp>
      <p:pic>
        <p:nvPicPr>
          <p:cNvPr id="74" name="Imagen 73"/>
          <p:cNvPicPr/>
          <p:nvPr/>
        </p:nvPicPr>
        <p:blipFill>
          <a:blip r:embed="rId2"/>
          <a:stretch/>
        </p:blipFill>
        <p:spPr>
          <a:xfrm>
            <a:off x="310320" y="1844667"/>
            <a:ext cx="4679640" cy="679680"/>
          </a:xfrm>
          <a:prstGeom prst="rect">
            <a:avLst/>
          </a:prstGeom>
          <a:noFill/>
          <a:ln w="0">
            <a:noFill/>
          </a:ln>
        </p:spPr>
      </p:pic>
      <p:pic>
        <p:nvPicPr>
          <p:cNvPr id="75" name="Imagen 74"/>
          <p:cNvPicPr/>
          <p:nvPr/>
        </p:nvPicPr>
        <p:blipFill>
          <a:blip r:embed="rId3"/>
          <a:stretch/>
        </p:blipFill>
        <p:spPr>
          <a:xfrm>
            <a:off x="310320" y="3019839"/>
            <a:ext cx="2879640" cy="631080"/>
          </a:xfrm>
          <a:prstGeom prst="rect">
            <a:avLst/>
          </a:prstGeom>
          <a:noFill/>
          <a:ln w="0">
            <a:noFill/>
          </a:ln>
        </p:spPr>
      </p:pic>
      <p:pic>
        <p:nvPicPr>
          <p:cNvPr id="76" name="Imagen 75"/>
          <p:cNvPicPr/>
          <p:nvPr/>
        </p:nvPicPr>
        <p:blipFill>
          <a:blip r:embed="rId4"/>
          <a:stretch/>
        </p:blipFill>
        <p:spPr>
          <a:xfrm>
            <a:off x="413399" y="4427454"/>
            <a:ext cx="2878920" cy="640800"/>
          </a:xfrm>
          <a:prstGeom prst="rect">
            <a:avLst/>
          </a:prstGeom>
          <a:noFill/>
          <a:ln w="0">
            <a:noFill/>
          </a:ln>
        </p:spPr>
      </p:pic>
      <p:sp>
        <p:nvSpPr>
          <p:cNvPr id="77" name="Rectángulo 76"/>
          <p:cNvSpPr/>
          <p:nvPr/>
        </p:nvSpPr>
        <p:spPr>
          <a:xfrm>
            <a:off x="7200000" y="1636920"/>
            <a:ext cx="2699640" cy="1345320"/>
          </a:xfrm>
          <a:prstGeom prst="rect">
            <a:avLst/>
          </a:prstGeom>
          <a:noFill/>
          <a:ln w="0">
            <a:solidFill>
              <a:srgbClr val="666666"/>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Bef>
                <a:spcPts val="1191"/>
              </a:spcBef>
              <a:spcAft>
                <a:spcPts val="992"/>
              </a:spcAft>
            </a:pPr>
            <a:r>
              <a:rPr lang="es-AR" sz="1200" b="1" u="none" strike="noStrike">
                <a:solidFill>
                  <a:srgbClr val="000000"/>
                </a:solidFill>
                <a:effectLst/>
                <a:uFillTx/>
                <a:latin typeface="Arial"/>
              </a:rPr>
              <a:t>Interrupción de bucles (break, continue)</a:t>
            </a:r>
            <a:endParaRPr lang="es-AR" sz="1200" b="0" u="none" strike="noStrike">
              <a:solidFill>
                <a:srgbClr val="000000"/>
              </a:solidFill>
              <a:effectLst/>
              <a:uFillTx/>
              <a:latin typeface="Arial"/>
            </a:endParaRPr>
          </a:p>
          <a:p>
            <a:pPr>
              <a:lnSpc>
                <a:spcPct val="100000"/>
              </a:lnSpc>
            </a:pPr>
            <a:r>
              <a:rPr lang="es-AR" sz="1000" b="0" u="none" strike="noStrike">
                <a:solidFill>
                  <a:srgbClr val="000000"/>
                </a:solidFill>
                <a:effectLst/>
                <a:uFillTx/>
                <a:latin typeface="Arial"/>
              </a:rPr>
              <a:t>break: Se utiliza para salir de un bucle antes de que se complete todas las iteraciones.</a:t>
            </a:r>
          </a:p>
          <a:p>
            <a:pPr>
              <a:lnSpc>
                <a:spcPct val="100000"/>
              </a:lnSpc>
            </a:pPr>
            <a:r>
              <a:rPr lang="es-AR" sz="1000" b="0" u="none" strike="noStrike">
                <a:solidFill>
                  <a:srgbClr val="000000"/>
                </a:solidFill>
                <a:effectLst/>
                <a:uFillTx/>
                <a:latin typeface="Arial"/>
              </a:rPr>
              <a:t>continue: Se utiliza para saltar una iteración específica del bucle y continuar con la siguiente.</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CuadroTexto 13"/>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s-ES" sz="2800" b="0" u="none" strike="noStrike">
                <a:solidFill>
                  <a:srgbClr val="0070C0"/>
                </a:solidFill>
                <a:effectLst/>
                <a:uFillTx/>
                <a:latin typeface="Titillium Web SemiBold"/>
                <a:ea typeface="DejaVu Sans"/>
              </a:rPr>
              <a:t>Estructuras de control</a:t>
            </a:r>
            <a:endParaRPr lang="es-AR" sz="2800" b="0" u="none" strike="noStrike">
              <a:solidFill>
                <a:srgbClr val="000000"/>
              </a:solidFill>
              <a:effectLst/>
              <a:uFillTx/>
              <a:latin typeface="Arial"/>
            </a:endParaRPr>
          </a:p>
        </p:txBody>
      </p:sp>
      <p:sp>
        <p:nvSpPr>
          <p:cNvPr id="79" name="Rectángulo 78"/>
          <p:cNvSpPr/>
          <p:nvPr/>
        </p:nvSpPr>
        <p:spPr>
          <a:xfrm>
            <a:off x="286200" y="1275120"/>
            <a:ext cx="8893440" cy="73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AR" sz="1400" b="1" u="none" strike="noStrike">
                <a:solidFill>
                  <a:srgbClr val="000000"/>
                </a:solidFill>
                <a:effectLst/>
                <a:uFillTx/>
                <a:latin typeface="Arial"/>
              </a:rPr>
              <a:t>Switch</a:t>
            </a:r>
            <a:endParaRPr lang="es-AR" sz="1400" b="0" u="none" strike="noStrike">
              <a:solidFill>
                <a:srgbClr val="000000"/>
              </a:solidFill>
              <a:effectLst/>
              <a:uFillTx/>
              <a:latin typeface="Arial"/>
            </a:endParaRPr>
          </a:p>
          <a:p>
            <a:pPr>
              <a:lnSpc>
                <a:spcPct val="100000"/>
              </a:lnSpc>
            </a:pPr>
            <a:r>
              <a:rPr lang="es-AR" sz="1400" b="0" u="none" strike="noStrike">
                <a:solidFill>
                  <a:srgbClr val="000000"/>
                </a:solidFill>
                <a:effectLst/>
                <a:uFillTx/>
                <a:latin typeface="Arial"/>
              </a:rPr>
              <a:t>La estructura de control switch se utiliza para tomar decisiones basadas en el valor de una expresión.</a:t>
            </a:r>
          </a:p>
          <a:p>
            <a:pPr>
              <a:lnSpc>
                <a:spcPct val="100000"/>
              </a:lnSpc>
            </a:pPr>
            <a:endParaRPr lang="es-AR" sz="1400" b="0" u="none" strike="noStrike">
              <a:solidFill>
                <a:srgbClr val="000000"/>
              </a:solidFill>
              <a:effectLst/>
              <a:uFillTx/>
              <a:latin typeface="Arial"/>
            </a:endParaRPr>
          </a:p>
        </p:txBody>
      </p:sp>
      <p:pic>
        <p:nvPicPr>
          <p:cNvPr id="80" name="Imagen 79"/>
          <p:cNvPicPr/>
          <p:nvPr/>
        </p:nvPicPr>
        <p:blipFill>
          <a:blip r:embed="rId2"/>
          <a:stretch/>
        </p:blipFill>
        <p:spPr>
          <a:xfrm>
            <a:off x="540000" y="2340000"/>
            <a:ext cx="8279640" cy="2243160"/>
          </a:xfrm>
          <a:prstGeom prst="rect">
            <a:avLst/>
          </a:prstGeom>
          <a:noFill/>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CuadroTexto 1"/>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s-ES" sz="2800" b="0" u="none" strike="noStrike">
                <a:solidFill>
                  <a:srgbClr val="0070C0"/>
                </a:solidFill>
                <a:effectLst/>
                <a:uFillTx/>
                <a:latin typeface="Titillium Web SemiBold"/>
                <a:ea typeface="DejaVu Sans"/>
              </a:rPr>
              <a:t>Atributos de eventos</a:t>
            </a:r>
            <a:endParaRPr lang="es-AR" sz="2800" b="0" u="none" strike="noStrike">
              <a:solidFill>
                <a:srgbClr val="000000"/>
              </a:solidFill>
              <a:effectLst/>
              <a:uFillTx/>
              <a:latin typeface="Arial"/>
            </a:endParaRPr>
          </a:p>
        </p:txBody>
      </p:sp>
      <p:sp>
        <p:nvSpPr>
          <p:cNvPr id="82" name="Rectángulo 81"/>
          <p:cNvSpPr/>
          <p:nvPr/>
        </p:nvSpPr>
        <p:spPr>
          <a:xfrm>
            <a:off x="286200" y="1147795"/>
            <a:ext cx="8893440" cy="94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AR" sz="1400" b="0" u="none" strike="noStrike" dirty="0">
                <a:solidFill>
                  <a:srgbClr val="000000"/>
                </a:solidFill>
                <a:effectLst/>
                <a:uFillTx/>
                <a:latin typeface="Arial"/>
              </a:rPr>
              <a:t>HTML proporciona una serie de atributos para manejar eventos. Los atributos más utilizados para manejar eventos se ven a continuación.</a:t>
            </a:r>
            <a:r>
              <a:rPr sz="1400" dirty="0"/>
              <a:t/>
            </a:r>
            <a:br>
              <a:rPr sz="1400" dirty="0"/>
            </a:br>
            <a:r>
              <a:rPr sz="1400" dirty="0"/>
              <a:t/>
            </a:r>
            <a:br>
              <a:rPr sz="1400" dirty="0"/>
            </a:br>
            <a:r>
              <a:rPr lang="es-AR" sz="1400" b="0" u="none" strike="noStrike" dirty="0">
                <a:solidFill>
                  <a:srgbClr val="000000"/>
                </a:solidFill>
                <a:effectLst/>
                <a:uFillTx/>
                <a:latin typeface="Arial"/>
              </a:rPr>
              <a:t>Atributos relacionados con eventos del ratón:</a:t>
            </a:r>
          </a:p>
        </p:txBody>
      </p:sp>
      <p:graphicFrame>
        <p:nvGraphicFramePr>
          <p:cNvPr id="83" name="Tabla 82"/>
          <p:cNvGraphicFramePr/>
          <p:nvPr>
            <p:extLst>
              <p:ext uri="{D42A27DB-BD31-4B8C-83A1-F6EECF244321}">
                <p14:modId xmlns:p14="http://schemas.microsoft.com/office/powerpoint/2010/main" val="519248770"/>
              </p:ext>
            </p:extLst>
          </p:nvPr>
        </p:nvGraphicFramePr>
        <p:xfrm>
          <a:off x="746280" y="2199531"/>
          <a:ext cx="8504280" cy="3215640"/>
        </p:xfrm>
        <a:graphic>
          <a:graphicData uri="http://schemas.openxmlformats.org/drawingml/2006/table">
            <a:tbl>
              <a:tblPr/>
              <a:tblGrid>
                <a:gridCol w="1452910">
                  <a:extLst>
                    <a:ext uri="{9D8B030D-6E8A-4147-A177-3AD203B41FA5}">
                      <a16:colId xmlns:a16="http://schemas.microsoft.com/office/drawing/2014/main" val="20000"/>
                    </a:ext>
                  </a:extLst>
                </a:gridCol>
                <a:gridCol w="7051370">
                  <a:extLst>
                    <a:ext uri="{9D8B030D-6E8A-4147-A177-3AD203B41FA5}">
                      <a16:colId xmlns:a16="http://schemas.microsoft.com/office/drawing/2014/main" val="20001"/>
                    </a:ext>
                  </a:extLst>
                </a:gridCol>
              </a:tblGrid>
              <a:tr h="256680">
                <a:tc>
                  <a:txBody>
                    <a:bodyPr/>
                    <a:lstStyle/>
                    <a:p>
                      <a:pPr algn="ctr">
                        <a:lnSpc>
                          <a:spcPct val="100000"/>
                        </a:lnSpc>
                      </a:pPr>
                      <a:r>
                        <a:rPr lang="es-AR" sz="1300" b="1" u="none" strike="noStrike">
                          <a:solidFill>
                            <a:srgbClr val="000000"/>
                          </a:solidFill>
                          <a:effectLst/>
                          <a:uFillTx/>
                          <a:latin typeface="Arial"/>
                          <a:ea typeface="Times New Roman"/>
                        </a:rPr>
                        <a:t>Atributo</a:t>
                      </a:r>
                      <a:endParaRPr lang="es-AR" sz="13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300" b="1" u="none" strike="noStrike">
                          <a:solidFill>
                            <a:srgbClr val="000000"/>
                          </a:solidFill>
                          <a:effectLst/>
                          <a:uFillTx/>
                          <a:latin typeface="Arial"/>
                          <a:ea typeface="Times New Roman"/>
                        </a:rPr>
                        <a:t>Propósito</a:t>
                      </a:r>
                      <a:endParaRPr lang="es-AR" sz="13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0"/>
                  </a:ext>
                </a:extLst>
              </a:tr>
              <a:tr h="256680">
                <a:tc>
                  <a:txBody>
                    <a:bodyPr/>
                    <a:lstStyle/>
                    <a:p>
                      <a:pPr>
                        <a:lnSpc>
                          <a:spcPct val="100000"/>
                        </a:lnSpc>
                      </a:pPr>
                      <a:r>
                        <a:rPr lang="es-AR" sz="1300" b="0" u="none" strike="noStrike" dirty="0" err="1">
                          <a:solidFill>
                            <a:srgbClr val="000000"/>
                          </a:solidFill>
                          <a:effectLst/>
                          <a:uFillTx/>
                          <a:latin typeface="Arial"/>
                          <a:ea typeface="Times New Roman"/>
                        </a:rPr>
                        <a:t>onclick</a:t>
                      </a:r>
                      <a:endParaRPr lang="es-AR" sz="1300" b="0" u="none" strike="noStrike" dirty="0">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300" b="0" u="none" strike="noStrike">
                          <a:solidFill>
                            <a:srgbClr val="000000"/>
                          </a:solidFill>
                          <a:effectLst/>
                          <a:uFillTx/>
                          <a:latin typeface="Arial"/>
                          <a:ea typeface="Times New Roman"/>
                        </a:rPr>
                        <a:t>Responde al evento click. Se ejecuta cuando el usuario hace clic con el botón izquierdo del ratón.</a:t>
                      </a:r>
                      <a:endParaRPr lang="es-AR" sz="13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1"/>
                  </a:ext>
                </a:extLst>
              </a:tr>
              <a:tr h="441000">
                <a:tc>
                  <a:txBody>
                    <a:bodyPr/>
                    <a:lstStyle/>
                    <a:p>
                      <a:pPr>
                        <a:lnSpc>
                          <a:spcPct val="100000"/>
                        </a:lnSpc>
                      </a:pPr>
                      <a:r>
                        <a:rPr lang="es-AR" sz="1300" b="0" u="none" strike="noStrike" dirty="0" err="1">
                          <a:solidFill>
                            <a:srgbClr val="000000"/>
                          </a:solidFill>
                          <a:effectLst/>
                          <a:uFillTx/>
                          <a:latin typeface="Arial"/>
                          <a:ea typeface="Times New Roman"/>
                        </a:rPr>
                        <a:t>ondblclick</a:t>
                      </a:r>
                      <a:endParaRPr lang="es-AR" sz="1300" b="0" u="none" strike="noStrike" dirty="0">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300" b="0" u="none" strike="noStrike">
                          <a:solidFill>
                            <a:srgbClr val="000000"/>
                          </a:solidFill>
                          <a:effectLst/>
                          <a:uFillTx/>
                          <a:latin typeface="Arial"/>
                          <a:ea typeface="Times New Roman"/>
                        </a:rPr>
                        <a:t>Responde al evento double click. Se ejecuta cuando el usuario hace doble clic con el botón izquierdo del ratón.</a:t>
                      </a:r>
                      <a:endParaRPr lang="es-AR" sz="13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2"/>
                  </a:ext>
                </a:extLst>
              </a:tr>
              <a:tr h="441000">
                <a:tc>
                  <a:txBody>
                    <a:bodyPr/>
                    <a:lstStyle/>
                    <a:p>
                      <a:pPr>
                        <a:lnSpc>
                          <a:spcPct val="100000"/>
                        </a:lnSpc>
                      </a:pPr>
                      <a:r>
                        <a:rPr lang="es-AR" sz="1300" b="0" u="none" strike="noStrike">
                          <a:solidFill>
                            <a:srgbClr val="000000"/>
                          </a:solidFill>
                          <a:effectLst/>
                          <a:uFillTx/>
                          <a:latin typeface="Arial"/>
                          <a:ea typeface="Times New Roman"/>
                        </a:rPr>
                        <a:t>onmousedown</a:t>
                      </a:r>
                      <a:endParaRPr lang="es-AR" sz="13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300" b="0" u="none" strike="noStrike">
                          <a:solidFill>
                            <a:srgbClr val="000000"/>
                          </a:solidFill>
                          <a:effectLst/>
                          <a:uFillTx/>
                          <a:latin typeface="Arial"/>
                          <a:ea typeface="Times New Roman"/>
                        </a:rPr>
                        <a:t>Responde al evento mousedown. Se desencadena cuando el usuario pulsa el botón izquierdo o derecho del ratón.</a:t>
                      </a:r>
                      <a:endParaRPr lang="es-AR" sz="13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3"/>
                  </a:ext>
                </a:extLst>
              </a:tr>
              <a:tr h="441000">
                <a:tc>
                  <a:txBody>
                    <a:bodyPr/>
                    <a:lstStyle/>
                    <a:p>
                      <a:pPr>
                        <a:lnSpc>
                          <a:spcPct val="100000"/>
                        </a:lnSpc>
                      </a:pPr>
                      <a:r>
                        <a:rPr lang="es-AR" sz="1300" b="0" u="none" strike="noStrike">
                          <a:solidFill>
                            <a:srgbClr val="000000"/>
                          </a:solidFill>
                          <a:effectLst/>
                          <a:uFillTx/>
                          <a:latin typeface="Arial"/>
                          <a:ea typeface="Times New Roman"/>
                        </a:rPr>
                        <a:t>onmouseup</a:t>
                      </a:r>
                      <a:endParaRPr lang="es-AR" sz="13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300" b="0" u="none" strike="noStrike">
                          <a:solidFill>
                            <a:srgbClr val="000000"/>
                          </a:solidFill>
                          <a:effectLst/>
                          <a:uFillTx/>
                          <a:latin typeface="Arial"/>
                          <a:ea typeface="Times New Roman"/>
                        </a:rPr>
                        <a:t>Responde al evento mouseup. Se desencadena cuando el usuario libera el botón izquierdo del ratón.</a:t>
                      </a:r>
                      <a:endParaRPr lang="es-AR" sz="13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4"/>
                  </a:ext>
                </a:extLst>
              </a:tr>
              <a:tr h="441000">
                <a:tc>
                  <a:txBody>
                    <a:bodyPr/>
                    <a:lstStyle/>
                    <a:p>
                      <a:pPr>
                        <a:lnSpc>
                          <a:spcPct val="100000"/>
                        </a:lnSpc>
                      </a:pPr>
                      <a:r>
                        <a:rPr lang="es-AR" sz="1300" b="0" u="none" strike="noStrike">
                          <a:solidFill>
                            <a:srgbClr val="000000"/>
                          </a:solidFill>
                          <a:effectLst/>
                          <a:uFillTx/>
                          <a:latin typeface="Arial"/>
                          <a:ea typeface="Times New Roman"/>
                        </a:rPr>
                        <a:t>onmouseenter</a:t>
                      </a:r>
                      <a:endParaRPr lang="es-AR" sz="13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300" b="0" u="none" strike="noStrike">
                          <a:solidFill>
                            <a:srgbClr val="000000"/>
                          </a:solidFill>
                          <a:effectLst/>
                          <a:uFillTx/>
                          <a:latin typeface="Arial"/>
                          <a:ea typeface="Times New Roman"/>
                        </a:rPr>
                        <a:t>Responde al evento mouseenter. Se desencadena cuando el ratón entra en el área ocupada por el elemento.</a:t>
                      </a:r>
                      <a:endParaRPr lang="es-AR" sz="13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5"/>
                  </a:ext>
                </a:extLst>
              </a:tr>
              <a:tr h="441000">
                <a:tc>
                  <a:txBody>
                    <a:bodyPr/>
                    <a:lstStyle/>
                    <a:p>
                      <a:pPr>
                        <a:lnSpc>
                          <a:spcPct val="100000"/>
                        </a:lnSpc>
                      </a:pPr>
                      <a:r>
                        <a:rPr lang="es-AR" sz="1300" b="0" u="none" strike="noStrike">
                          <a:solidFill>
                            <a:srgbClr val="000000"/>
                          </a:solidFill>
                          <a:effectLst/>
                          <a:uFillTx/>
                          <a:latin typeface="Arial"/>
                          <a:ea typeface="Times New Roman"/>
                        </a:rPr>
                        <a:t>onmouseleave</a:t>
                      </a:r>
                      <a:endParaRPr lang="es-AR" sz="13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300" b="0" u="none" strike="noStrike" dirty="0">
                          <a:solidFill>
                            <a:srgbClr val="000000"/>
                          </a:solidFill>
                          <a:effectLst/>
                          <a:uFillTx/>
                          <a:latin typeface="Arial"/>
                          <a:ea typeface="Times New Roman"/>
                        </a:rPr>
                        <a:t>Responde al evento </a:t>
                      </a:r>
                      <a:r>
                        <a:rPr lang="es-AR" sz="1300" b="0" u="none" strike="noStrike" dirty="0" err="1">
                          <a:solidFill>
                            <a:srgbClr val="000000"/>
                          </a:solidFill>
                          <a:effectLst/>
                          <a:uFillTx/>
                          <a:latin typeface="Arial"/>
                          <a:ea typeface="Times New Roman"/>
                        </a:rPr>
                        <a:t>mouseleave</a:t>
                      </a:r>
                      <a:r>
                        <a:rPr lang="es-AR" sz="1300" b="0" u="none" strike="noStrike" dirty="0">
                          <a:solidFill>
                            <a:srgbClr val="000000"/>
                          </a:solidFill>
                          <a:effectLst/>
                          <a:uFillTx/>
                          <a:latin typeface="Arial"/>
                          <a:ea typeface="Times New Roman"/>
                        </a:rPr>
                        <a:t>. Se desencadena cuando el ratón sale del área ocupada por el elemento.</a:t>
                      </a:r>
                      <a:endParaRPr lang="es-AR" sz="1300" b="0" u="none" strike="noStrike" dirty="0">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CuadroTexto 4"/>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s-ES" sz="2800" b="0" u="none" strike="noStrike">
                <a:solidFill>
                  <a:srgbClr val="0070C0"/>
                </a:solidFill>
                <a:effectLst/>
                <a:uFillTx/>
                <a:latin typeface="Titillium Web SemiBold"/>
                <a:ea typeface="DejaVu Sans"/>
              </a:rPr>
              <a:t>Atributos de eventos</a:t>
            </a:r>
            <a:endParaRPr lang="es-AR" sz="2800" b="0" u="none" strike="noStrike">
              <a:solidFill>
                <a:srgbClr val="000000"/>
              </a:solidFill>
              <a:effectLst/>
              <a:uFillTx/>
              <a:latin typeface="Arial"/>
            </a:endParaRPr>
          </a:p>
        </p:txBody>
      </p:sp>
      <p:sp>
        <p:nvSpPr>
          <p:cNvPr id="85" name="Rectángulo 84"/>
          <p:cNvSpPr/>
          <p:nvPr/>
        </p:nvSpPr>
        <p:spPr>
          <a:xfrm>
            <a:off x="286200" y="1275120"/>
            <a:ext cx="8893440" cy="318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AR" sz="1500" b="0" u="none" strike="noStrike">
                <a:solidFill>
                  <a:srgbClr val="000000"/>
                </a:solidFill>
                <a:effectLst/>
                <a:uFillTx/>
                <a:latin typeface="Arial"/>
              </a:rPr>
              <a:t>Atributos relacionados con eventos generados por el teclado</a:t>
            </a:r>
            <a:r>
              <a:rPr lang="es-AR" sz="1000" b="0" u="none" strike="noStrike">
                <a:solidFill>
                  <a:srgbClr val="000000"/>
                </a:solidFill>
                <a:effectLst/>
                <a:uFillTx/>
                <a:latin typeface="Arial"/>
              </a:rPr>
              <a:t>.</a:t>
            </a:r>
          </a:p>
        </p:txBody>
      </p:sp>
      <p:graphicFrame>
        <p:nvGraphicFramePr>
          <p:cNvPr id="86" name="Tabla 85"/>
          <p:cNvGraphicFramePr/>
          <p:nvPr/>
        </p:nvGraphicFramePr>
        <p:xfrm>
          <a:off x="624960" y="2188080"/>
          <a:ext cx="8639640" cy="2143800"/>
        </p:xfrm>
        <a:graphic>
          <a:graphicData uri="http://schemas.openxmlformats.org/drawingml/2006/table">
            <a:tbl>
              <a:tblPr/>
              <a:tblGrid>
                <a:gridCol w="4319280">
                  <a:extLst>
                    <a:ext uri="{9D8B030D-6E8A-4147-A177-3AD203B41FA5}">
                      <a16:colId xmlns:a16="http://schemas.microsoft.com/office/drawing/2014/main" val="20000"/>
                    </a:ext>
                  </a:extLst>
                </a:gridCol>
                <a:gridCol w="4320360">
                  <a:extLst>
                    <a:ext uri="{9D8B030D-6E8A-4147-A177-3AD203B41FA5}">
                      <a16:colId xmlns:a16="http://schemas.microsoft.com/office/drawing/2014/main" val="20001"/>
                    </a:ext>
                  </a:extLst>
                </a:gridCol>
              </a:tblGrid>
              <a:tr h="463680">
                <a:tc>
                  <a:txBody>
                    <a:bodyPr/>
                    <a:lstStyle/>
                    <a:p>
                      <a:pPr algn="ctr">
                        <a:lnSpc>
                          <a:spcPct val="100000"/>
                        </a:lnSpc>
                      </a:pPr>
                      <a:r>
                        <a:rPr lang="es-AR" sz="1400" b="1" u="none" strike="noStrike">
                          <a:solidFill>
                            <a:srgbClr val="000000"/>
                          </a:solidFill>
                          <a:effectLst/>
                          <a:uFillTx/>
                          <a:latin typeface="Arial"/>
                          <a:ea typeface="Times New Roman"/>
                        </a:rPr>
                        <a:t>Atributo</a:t>
                      </a:r>
                      <a:endParaRPr lang="es-AR" sz="14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400" b="1" u="none" strike="noStrike">
                          <a:solidFill>
                            <a:srgbClr val="000000"/>
                          </a:solidFill>
                          <a:effectLst/>
                          <a:uFillTx/>
                          <a:latin typeface="Arial"/>
                          <a:ea typeface="Times New Roman"/>
                        </a:rPr>
                        <a:t>Propósito</a:t>
                      </a:r>
                      <a:endParaRPr lang="es-AR" sz="14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0"/>
                  </a:ext>
                </a:extLst>
              </a:tr>
              <a:tr h="840240">
                <a:tc>
                  <a:txBody>
                    <a:bodyPr/>
                    <a:lstStyle/>
                    <a:p>
                      <a:pPr>
                        <a:lnSpc>
                          <a:spcPct val="100000"/>
                        </a:lnSpc>
                      </a:pPr>
                      <a:r>
                        <a:rPr lang="es-AR" sz="1400" b="0" u="none" strike="noStrike">
                          <a:solidFill>
                            <a:srgbClr val="000000"/>
                          </a:solidFill>
                          <a:effectLst/>
                          <a:uFillTx/>
                          <a:latin typeface="Arial"/>
                          <a:ea typeface="Times New Roman"/>
                        </a:rPr>
                        <a:t>onkeydown</a:t>
                      </a:r>
                      <a:endParaRPr lang="es-AR" sz="14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400" b="0" u="none" strike="noStrike">
                          <a:solidFill>
                            <a:srgbClr val="000000"/>
                          </a:solidFill>
                          <a:effectLst/>
                          <a:uFillTx/>
                          <a:latin typeface="Arial"/>
                          <a:ea typeface="Times New Roman"/>
                        </a:rPr>
                        <a:t>Responde al evento keydown. Se desencadena cuando se activa el elemento y se pulsa una tecla.</a:t>
                      </a:r>
                      <a:endParaRPr lang="es-AR" sz="14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1"/>
                  </a:ext>
                </a:extLst>
              </a:tr>
              <a:tr h="839880">
                <a:tc>
                  <a:txBody>
                    <a:bodyPr/>
                    <a:lstStyle/>
                    <a:p>
                      <a:pPr>
                        <a:lnSpc>
                          <a:spcPct val="100000"/>
                        </a:lnSpc>
                      </a:pPr>
                      <a:r>
                        <a:rPr lang="es-AR" sz="1400" b="0" u="none" strike="noStrike">
                          <a:solidFill>
                            <a:srgbClr val="000000"/>
                          </a:solidFill>
                          <a:effectLst/>
                          <a:uFillTx/>
                          <a:latin typeface="Arial"/>
                          <a:ea typeface="Times New Roman"/>
                        </a:rPr>
                        <a:t>onkeyup</a:t>
                      </a:r>
                      <a:endParaRPr lang="es-AR" sz="14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400" b="0" u="none" strike="noStrike">
                          <a:solidFill>
                            <a:srgbClr val="000000"/>
                          </a:solidFill>
                          <a:effectLst/>
                          <a:uFillTx/>
                          <a:latin typeface="Arial"/>
                          <a:ea typeface="Times New Roman"/>
                        </a:rPr>
                        <a:t>Responde al evento keyup. Se desencadena cuando se activa el elemento y se libera una tecla.</a:t>
                      </a:r>
                      <a:endParaRPr lang="es-AR" sz="14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CuadroTexto 5"/>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s-ES" sz="2800" b="0" u="none" strike="noStrike">
                <a:solidFill>
                  <a:srgbClr val="0070C0"/>
                </a:solidFill>
                <a:effectLst/>
                <a:uFillTx/>
                <a:latin typeface="Titillium Web SemiBold"/>
                <a:ea typeface="DejaVu Sans"/>
              </a:rPr>
              <a:t>Atributos de eventos</a:t>
            </a:r>
            <a:endParaRPr lang="es-AR" sz="2800" b="0" u="none" strike="noStrike">
              <a:solidFill>
                <a:srgbClr val="000000"/>
              </a:solidFill>
              <a:effectLst/>
              <a:uFillTx/>
              <a:latin typeface="Arial"/>
            </a:endParaRPr>
          </a:p>
        </p:txBody>
      </p:sp>
      <p:sp>
        <p:nvSpPr>
          <p:cNvPr id="88" name="Rectángulo 87"/>
          <p:cNvSpPr/>
          <p:nvPr/>
        </p:nvSpPr>
        <p:spPr>
          <a:xfrm>
            <a:off x="286200" y="1275120"/>
            <a:ext cx="8893440" cy="334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AR" sz="1600" b="0" u="none" strike="noStrike">
                <a:solidFill>
                  <a:srgbClr val="000000"/>
                </a:solidFill>
                <a:effectLst/>
                <a:uFillTx/>
                <a:latin typeface="Arial"/>
              </a:rPr>
              <a:t>Atributos asociados al documento: </a:t>
            </a:r>
          </a:p>
        </p:txBody>
      </p:sp>
      <p:graphicFrame>
        <p:nvGraphicFramePr>
          <p:cNvPr id="89" name="Tabla 88"/>
          <p:cNvGraphicFramePr/>
          <p:nvPr/>
        </p:nvGraphicFramePr>
        <p:xfrm>
          <a:off x="860400" y="1820520"/>
          <a:ext cx="8499240" cy="2264760"/>
        </p:xfrm>
        <a:graphic>
          <a:graphicData uri="http://schemas.openxmlformats.org/drawingml/2006/table">
            <a:tbl>
              <a:tblPr/>
              <a:tblGrid>
                <a:gridCol w="1013040">
                  <a:extLst>
                    <a:ext uri="{9D8B030D-6E8A-4147-A177-3AD203B41FA5}">
                      <a16:colId xmlns:a16="http://schemas.microsoft.com/office/drawing/2014/main" val="20000"/>
                    </a:ext>
                  </a:extLst>
                </a:gridCol>
                <a:gridCol w="7486200">
                  <a:extLst>
                    <a:ext uri="{9D8B030D-6E8A-4147-A177-3AD203B41FA5}">
                      <a16:colId xmlns:a16="http://schemas.microsoft.com/office/drawing/2014/main" val="20001"/>
                    </a:ext>
                  </a:extLst>
                </a:gridCol>
              </a:tblGrid>
              <a:tr h="328320">
                <a:tc>
                  <a:txBody>
                    <a:bodyPr/>
                    <a:lstStyle/>
                    <a:p>
                      <a:pPr algn="ctr">
                        <a:lnSpc>
                          <a:spcPct val="100000"/>
                        </a:lnSpc>
                      </a:pPr>
                      <a:r>
                        <a:rPr lang="es-AR" sz="1500" b="1" u="none" strike="noStrike">
                          <a:solidFill>
                            <a:srgbClr val="000000"/>
                          </a:solidFill>
                          <a:effectLst/>
                          <a:uFillTx/>
                          <a:latin typeface="Arial"/>
                          <a:ea typeface="Times New Roman"/>
                        </a:rPr>
                        <a:t>Atributo</a:t>
                      </a:r>
                      <a:endParaRPr lang="es-AR" sz="15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500" b="1" u="none" strike="noStrike">
                          <a:solidFill>
                            <a:srgbClr val="000000"/>
                          </a:solidFill>
                          <a:effectLst/>
                          <a:uFillTx/>
                          <a:latin typeface="Arial"/>
                          <a:ea typeface="Times New Roman"/>
                        </a:rPr>
                        <a:t>Propósito</a:t>
                      </a:r>
                      <a:endParaRPr lang="es-AR" sz="15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0"/>
                  </a:ext>
                </a:extLst>
              </a:tr>
              <a:tr h="840240">
                <a:tc>
                  <a:txBody>
                    <a:bodyPr/>
                    <a:lstStyle/>
                    <a:p>
                      <a:pPr>
                        <a:lnSpc>
                          <a:spcPct val="100000"/>
                        </a:lnSpc>
                      </a:pPr>
                      <a:r>
                        <a:rPr lang="es-AR" sz="1500" b="0" u="none" strike="noStrike" dirty="0" err="1">
                          <a:solidFill>
                            <a:srgbClr val="000000"/>
                          </a:solidFill>
                          <a:effectLst/>
                          <a:uFillTx/>
                          <a:latin typeface="Arial"/>
                          <a:ea typeface="Times New Roman"/>
                        </a:rPr>
                        <a:t>onload</a:t>
                      </a:r>
                      <a:endParaRPr lang="es-AR" sz="1500" b="0" u="none" strike="noStrike" dirty="0">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500" b="0" u="none" strike="noStrike">
                          <a:solidFill>
                            <a:srgbClr val="000000"/>
                          </a:solidFill>
                          <a:effectLst/>
                          <a:uFillTx/>
                          <a:latin typeface="Arial"/>
                          <a:ea typeface="Times New Roman"/>
                        </a:rPr>
                        <a:t>Responde al evento load. Se desencadena cuando un recurso termina de cargarse.</a:t>
                      </a:r>
                      <a:endParaRPr lang="es-AR" sz="15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1"/>
                  </a:ext>
                </a:extLst>
              </a:tr>
              <a:tr h="1096200">
                <a:tc>
                  <a:txBody>
                    <a:bodyPr/>
                    <a:lstStyle/>
                    <a:p>
                      <a:pPr>
                        <a:lnSpc>
                          <a:spcPct val="100000"/>
                        </a:lnSpc>
                      </a:pPr>
                      <a:r>
                        <a:rPr lang="es-AR" sz="1500" b="0" u="none" strike="noStrike">
                          <a:solidFill>
                            <a:srgbClr val="000000"/>
                          </a:solidFill>
                          <a:effectLst/>
                          <a:uFillTx/>
                          <a:latin typeface="Arial"/>
                          <a:ea typeface="Times New Roman"/>
                        </a:rPr>
                        <a:t>onunload</a:t>
                      </a:r>
                      <a:endParaRPr lang="es-AR" sz="15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500" b="0" u="none" strike="noStrike" dirty="0">
                          <a:solidFill>
                            <a:srgbClr val="000000"/>
                          </a:solidFill>
                          <a:effectLst/>
                          <a:uFillTx/>
                          <a:latin typeface="Arial"/>
                          <a:ea typeface="Times New Roman"/>
                        </a:rPr>
                        <a:t>Responde al evento </a:t>
                      </a:r>
                      <a:r>
                        <a:rPr lang="es-AR" sz="1500" b="0" u="none" strike="noStrike" dirty="0" err="1">
                          <a:solidFill>
                            <a:srgbClr val="000000"/>
                          </a:solidFill>
                          <a:effectLst/>
                          <a:uFillTx/>
                          <a:latin typeface="Arial"/>
                          <a:ea typeface="Times New Roman"/>
                        </a:rPr>
                        <a:t>unload</a:t>
                      </a:r>
                      <a:r>
                        <a:rPr lang="es-AR" sz="1500" b="0" u="none" strike="noStrike" dirty="0">
                          <a:solidFill>
                            <a:srgbClr val="000000"/>
                          </a:solidFill>
                          <a:effectLst/>
                          <a:uFillTx/>
                          <a:latin typeface="Arial"/>
                          <a:ea typeface="Times New Roman"/>
                        </a:rPr>
                        <a:t>. Se desencadena cuando un recurso termina de descargarse.</a:t>
                      </a:r>
                      <a:endParaRPr lang="es-AR" sz="1500" b="0" u="none" strike="noStrike" dirty="0">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CuadroTexto 14"/>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s-ES" sz="2800" b="0" u="none" strike="noStrike">
                <a:solidFill>
                  <a:srgbClr val="0070C0"/>
                </a:solidFill>
                <a:effectLst/>
                <a:uFillTx/>
                <a:latin typeface="Titillium Web SemiBold"/>
                <a:ea typeface="DejaVu Sans"/>
              </a:rPr>
              <a:t>DOM y eventos</a:t>
            </a:r>
            <a:endParaRPr lang="es-AR" sz="2800" b="0" u="none" strike="noStrike">
              <a:solidFill>
                <a:srgbClr val="000000"/>
              </a:solidFill>
              <a:effectLst/>
              <a:uFillTx/>
              <a:latin typeface="Arial"/>
            </a:endParaRPr>
          </a:p>
        </p:txBody>
      </p:sp>
      <p:sp>
        <p:nvSpPr>
          <p:cNvPr id="91" name="Rectángulo 90"/>
          <p:cNvSpPr/>
          <p:nvPr/>
        </p:nvSpPr>
        <p:spPr>
          <a:xfrm>
            <a:off x="286200" y="1275120"/>
            <a:ext cx="8893440" cy="141431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AR" sz="1400" b="1" u="none" strike="noStrike" dirty="0">
                <a:solidFill>
                  <a:srgbClr val="000000"/>
                </a:solidFill>
                <a:effectLst/>
                <a:uFillTx/>
                <a:latin typeface="Arial"/>
              </a:rPr>
              <a:t>DOM</a:t>
            </a:r>
            <a:endParaRPr lang="es-AR" sz="1400" b="0" u="none" strike="noStrike" dirty="0">
              <a:solidFill>
                <a:srgbClr val="000000"/>
              </a:solidFill>
              <a:effectLst/>
              <a:uFillTx/>
              <a:latin typeface="Arial"/>
            </a:endParaRPr>
          </a:p>
          <a:p>
            <a:pPr>
              <a:lnSpc>
                <a:spcPct val="100000"/>
              </a:lnSpc>
            </a:pPr>
            <a:r>
              <a:rPr lang="es-AR" sz="1200" b="0" u="none" strike="noStrike" dirty="0">
                <a:solidFill>
                  <a:srgbClr val="000000"/>
                </a:solidFill>
                <a:effectLst/>
                <a:uFillTx/>
                <a:latin typeface="Arial"/>
              </a:rPr>
              <a:t>El DOM es una representación en forma de árbol de la estructura de un documento HTML/XML. Cada elemento HTML se convierte en un objeto en el DOM, lo que permite acceder, manipular y modificar los elementos y el contenido de una página web mediante JavaScript.</a:t>
            </a:r>
          </a:p>
          <a:p>
            <a:pPr>
              <a:lnSpc>
                <a:spcPct val="100000"/>
              </a:lnSpc>
            </a:pPr>
            <a:r>
              <a:rPr lang="es-AR" sz="1200" b="0" u="none" strike="noStrike" dirty="0">
                <a:solidFill>
                  <a:srgbClr val="000000"/>
                </a:solidFill>
                <a:effectLst/>
                <a:uFillTx/>
                <a:latin typeface="Arial"/>
              </a:rPr>
              <a:t>En la parte más alta del árbol del DOM de un documento HTML se encuentra el nodo raíz </a:t>
            </a:r>
            <a:r>
              <a:rPr lang="es-AR" sz="1200" b="0" u="none" strike="noStrike" dirty="0" err="1">
                <a:solidFill>
                  <a:srgbClr val="000000"/>
                </a:solidFill>
                <a:effectLst/>
                <a:uFillTx/>
                <a:latin typeface="Arial"/>
              </a:rPr>
              <a:t>document</a:t>
            </a:r>
            <a:r>
              <a:rPr lang="es-AR" sz="1200" b="0" u="none" strike="noStrike" dirty="0">
                <a:solidFill>
                  <a:srgbClr val="000000"/>
                </a:solidFill>
                <a:effectLst/>
                <a:uFillTx/>
                <a:latin typeface="Arial"/>
              </a:rPr>
              <a:t>, que representa el documento HTML en su totalidad. Este objeto </a:t>
            </a:r>
            <a:r>
              <a:rPr lang="es-AR" sz="1200" b="0" u="none" strike="noStrike" dirty="0" err="1">
                <a:solidFill>
                  <a:srgbClr val="000000"/>
                </a:solidFill>
                <a:effectLst/>
                <a:uFillTx/>
                <a:latin typeface="Arial"/>
              </a:rPr>
              <a:t>document</a:t>
            </a:r>
            <a:r>
              <a:rPr lang="es-AR" sz="1200" b="0" u="none" strike="noStrike" dirty="0">
                <a:solidFill>
                  <a:srgbClr val="000000"/>
                </a:solidFill>
                <a:effectLst/>
                <a:uFillTx/>
                <a:latin typeface="Arial"/>
              </a:rPr>
              <a:t> se encuentra predefinido en JavaScript y se utiliza para acceder a los elementos del DOM.</a:t>
            </a:r>
          </a:p>
        </p:txBody>
      </p:sp>
      <p:pic>
        <p:nvPicPr>
          <p:cNvPr id="92" name="Imagen 91"/>
          <p:cNvPicPr/>
          <p:nvPr/>
        </p:nvPicPr>
        <p:blipFill>
          <a:blip r:embed="rId2"/>
          <a:stretch/>
        </p:blipFill>
        <p:spPr>
          <a:xfrm>
            <a:off x="5226380" y="3264780"/>
            <a:ext cx="3179520" cy="1935720"/>
          </a:xfrm>
          <a:prstGeom prst="rect">
            <a:avLst/>
          </a:prstGeom>
          <a:noFill/>
          <a:ln w="0">
            <a:noFill/>
          </a:ln>
        </p:spPr>
      </p:pic>
      <p:pic>
        <p:nvPicPr>
          <p:cNvPr id="93" name="Imagen 92"/>
          <p:cNvPicPr/>
          <p:nvPr/>
        </p:nvPicPr>
        <p:blipFill>
          <a:blip r:embed="rId3"/>
          <a:stretch/>
        </p:blipFill>
        <p:spPr>
          <a:xfrm>
            <a:off x="360000" y="2812680"/>
            <a:ext cx="7620120" cy="246960"/>
          </a:xfrm>
          <a:prstGeom prst="rect">
            <a:avLst/>
          </a:prstGeom>
          <a:noFill/>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CuadroTexto 15"/>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s-ES" sz="2800" b="0" u="none" strike="noStrike">
                <a:solidFill>
                  <a:srgbClr val="0070C0"/>
                </a:solidFill>
                <a:effectLst/>
                <a:uFillTx/>
                <a:latin typeface="Titillium Web SemiBold"/>
                <a:ea typeface="DejaVu Sans"/>
              </a:rPr>
              <a:t>Selección de elementos</a:t>
            </a:r>
            <a:endParaRPr lang="es-AR" sz="2800" b="0" u="none" strike="noStrike">
              <a:solidFill>
                <a:srgbClr val="000000"/>
              </a:solidFill>
              <a:effectLst/>
              <a:uFillTx/>
              <a:latin typeface="Arial"/>
            </a:endParaRPr>
          </a:p>
        </p:txBody>
      </p:sp>
      <p:sp>
        <p:nvSpPr>
          <p:cNvPr id="95" name="Rectángulo 94"/>
          <p:cNvSpPr/>
          <p:nvPr/>
        </p:nvSpPr>
        <p:spPr>
          <a:xfrm>
            <a:off x="286200" y="1275120"/>
            <a:ext cx="8893440" cy="547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Bef>
                <a:spcPts val="624"/>
              </a:spcBef>
              <a:spcAft>
                <a:spcPts val="425"/>
              </a:spcAft>
            </a:pPr>
            <a:r>
              <a:rPr lang="es-AR" sz="1500" b="0" u="none" strike="noStrike">
                <a:solidFill>
                  <a:srgbClr val="000000"/>
                </a:solidFill>
                <a:effectLst/>
                <a:uFillTx/>
                <a:latin typeface="Arial"/>
              </a:rPr>
              <a:t>La selección de elementos en el DOM es fundamental para la interacción desde JavaScript. Existen varios métodos para seleccionar elementos de diferentes maneras, ya sea por etiqueta, clase, id, etc.</a:t>
            </a:r>
          </a:p>
        </p:txBody>
      </p:sp>
      <p:graphicFrame>
        <p:nvGraphicFramePr>
          <p:cNvPr id="96" name="Tabla 95"/>
          <p:cNvGraphicFramePr/>
          <p:nvPr/>
        </p:nvGraphicFramePr>
        <p:xfrm>
          <a:off x="460800" y="2266560"/>
          <a:ext cx="9048960" cy="2879040"/>
        </p:xfrm>
        <a:graphic>
          <a:graphicData uri="http://schemas.openxmlformats.org/drawingml/2006/table">
            <a:tbl>
              <a:tblPr/>
              <a:tblGrid>
                <a:gridCol w="3047760">
                  <a:extLst>
                    <a:ext uri="{9D8B030D-6E8A-4147-A177-3AD203B41FA5}">
                      <a16:colId xmlns:a16="http://schemas.microsoft.com/office/drawing/2014/main" val="20000"/>
                    </a:ext>
                  </a:extLst>
                </a:gridCol>
                <a:gridCol w="6001200">
                  <a:extLst>
                    <a:ext uri="{9D8B030D-6E8A-4147-A177-3AD203B41FA5}">
                      <a16:colId xmlns:a16="http://schemas.microsoft.com/office/drawing/2014/main" val="20001"/>
                    </a:ext>
                  </a:extLst>
                </a:gridCol>
              </a:tblGrid>
              <a:tr h="440640">
                <a:tc>
                  <a:txBody>
                    <a:bodyPr/>
                    <a:lstStyle/>
                    <a:p>
                      <a:pPr algn="ctr">
                        <a:lnSpc>
                          <a:spcPct val="100000"/>
                        </a:lnSpc>
                      </a:pPr>
                      <a:r>
                        <a:rPr lang="es-AR" sz="1300" b="1" u="none" strike="noStrike">
                          <a:solidFill>
                            <a:srgbClr val="000000"/>
                          </a:solidFill>
                          <a:effectLst/>
                          <a:uFillTx/>
                          <a:latin typeface="Arial"/>
                        </a:rPr>
                        <a:t>Método</a:t>
                      </a:r>
                      <a:endParaRPr lang="es-AR" sz="13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300" b="1" u="none" strike="noStrike">
                          <a:solidFill>
                            <a:srgbClr val="000000"/>
                          </a:solidFill>
                          <a:effectLst/>
                          <a:uFillTx/>
                          <a:latin typeface="Arial"/>
                        </a:rPr>
                        <a:t>Descripción</a:t>
                      </a:r>
                      <a:endParaRPr lang="es-AR" sz="13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0"/>
                  </a:ext>
                </a:extLst>
              </a:tr>
              <a:tr h="441000">
                <a:tc>
                  <a:txBody>
                    <a:bodyPr/>
                    <a:lstStyle/>
                    <a:p>
                      <a:pPr>
                        <a:lnSpc>
                          <a:spcPct val="100000"/>
                        </a:lnSpc>
                      </a:pPr>
                      <a:r>
                        <a:rPr lang="es-AR" sz="1300" b="0" u="none" strike="noStrike" dirty="0" err="1">
                          <a:solidFill>
                            <a:srgbClr val="000000"/>
                          </a:solidFill>
                          <a:effectLst/>
                          <a:uFillTx/>
                          <a:latin typeface="Arial"/>
                        </a:rPr>
                        <a:t>document.getElementById</a:t>
                      </a:r>
                      <a:r>
                        <a:rPr lang="es-AR" sz="1300" b="0" u="none" strike="noStrike" dirty="0">
                          <a:solidFill>
                            <a:srgbClr val="000000"/>
                          </a:solidFill>
                          <a:effectLst/>
                          <a:uFillTx/>
                          <a:latin typeface="Arial"/>
                        </a:rPr>
                        <a:t>()</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300" b="0" u="none" strike="noStrike">
                          <a:solidFill>
                            <a:srgbClr val="000000"/>
                          </a:solidFill>
                          <a:effectLst/>
                          <a:uFillTx/>
                          <a:latin typeface="Arial"/>
                        </a:rPr>
                        <a:t>Selecciona un elemento por su id. Devuelve un único elemento. Ejemplo: document.getElementById("miId");</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1"/>
                  </a:ext>
                </a:extLst>
              </a:tr>
              <a:tr h="441000">
                <a:tc>
                  <a:txBody>
                    <a:bodyPr/>
                    <a:lstStyle/>
                    <a:p>
                      <a:pPr>
                        <a:lnSpc>
                          <a:spcPct val="100000"/>
                        </a:lnSpc>
                      </a:pPr>
                      <a:r>
                        <a:rPr lang="es-AR" sz="1300" b="0" u="none" strike="noStrike" dirty="0" err="1">
                          <a:solidFill>
                            <a:srgbClr val="000000"/>
                          </a:solidFill>
                          <a:effectLst/>
                          <a:uFillTx/>
                          <a:latin typeface="Arial"/>
                        </a:rPr>
                        <a:t>document.getElementsByClassName</a:t>
                      </a:r>
                      <a:r>
                        <a:rPr lang="es-AR" sz="1300" b="0" u="none" strike="noStrike" dirty="0">
                          <a:solidFill>
                            <a:srgbClr val="000000"/>
                          </a:solidFill>
                          <a:effectLst/>
                          <a:uFillTx/>
                          <a:latin typeface="Arial"/>
                        </a:rPr>
                        <a:t>()</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300" b="0" u="none" strike="noStrike" dirty="0">
                          <a:solidFill>
                            <a:srgbClr val="000000"/>
                          </a:solidFill>
                          <a:effectLst/>
                          <a:uFillTx/>
                          <a:latin typeface="Arial"/>
                        </a:rPr>
                        <a:t>Selecciona elementos por su clase. Devuelve una colección de elementos. Ejemplo: </a:t>
                      </a:r>
                      <a:r>
                        <a:rPr lang="es-AR" sz="1300" b="0" u="none" strike="noStrike" dirty="0" err="1">
                          <a:solidFill>
                            <a:srgbClr val="000000"/>
                          </a:solidFill>
                          <a:effectLst/>
                          <a:uFillTx/>
                          <a:latin typeface="Arial"/>
                        </a:rPr>
                        <a:t>document.getElementsByClassName</a:t>
                      </a:r>
                      <a:r>
                        <a:rPr lang="es-AR" sz="1300" b="0" u="none" strike="noStrike" dirty="0">
                          <a:solidFill>
                            <a:srgbClr val="000000"/>
                          </a:solidFill>
                          <a:effectLst/>
                          <a:uFillTx/>
                          <a:latin typeface="Arial"/>
                        </a:rPr>
                        <a:t>("</a:t>
                      </a:r>
                      <a:r>
                        <a:rPr lang="es-AR" sz="1300" b="0" u="none" strike="noStrike" dirty="0" err="1">
                          <a:solidFill>
                            <a:srgbClr val="000000"/>
                          </a:solidFill>
                          <a:effectLst/>
                          <a:uFillTx/>
                          <a:latin typeface="Arial"/>
                        </a:rPr>
                        <a:t>miClase</a:t>
                      </a:r>
                      <a:r>
                        <a:rPr lang="es-AR" sz="1300" b="0" u="none" strike="noStrike" dirty="0">
                          <a:solidFill>
                            <a:srgbClr val="000000"/>
                          </a:solidFill>
                          <a:effectLst/>
                          <a:uFillTx/>
                          <a:latin typeface="Arial"/>
                        </a:rPr>
                        <a:t>");</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2"/>
                  </a:ext>
                </a:extLst>
              </a:tr>
              <a:tr h="441000">
                <a:tc>
                  <a:txBody>
                    <a:bodyPr/>
                    <a:lstStyle/>
                    <a:p>
                      <a:pPr>
                        <a:lnSpc>
                          <a:spcPct val="100000"/>
                        </a:lnSpc>
                      </a:pPr>
                      <a:r>
                        <a:rPr lang="es-AR" sz="1300" b="0" u="none" strike="noStrike" dirty="0" err="1">
                          <a:solidFill>
                            <a:srgbClr val="000000"/>
                          </a:solidFill>
                          <a:effectLst/>
                          <a:uFillTx/>
                          <a:latin typeface="Arial"/>
                        </a:rPr>
                        <a:t>document.getElementsByTagName</a:t>
                      </a:r>
                      <a:r>
                        <a:rPr lang="es-AR" sz="1300" b="0" u="none" strike="noStrike" dirty="0">
                          <a:solidFill>
                            <a:srgbClr val="000000"/>
                          </a:solidFill>
                          <a:effectLst/>
                          <a:uFillTx/>
                          <a:latin typeface="Arial"/>
                        </a:rPr>
                        <a:t>()</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300" b="0" u="none" strike="noStrike" dirty="0">
                          <a:solidFill>
                            <a:srgbClr val="000000"/>
                          </a:solidFill>
                          <a:effectLst/>
                          <a:uFillTx/>
                          <a:latin typeface="Arial"/>
                        </a:rPr>
                        <a:t>Selecciona elementos por su etiqueta. Devuelve una colección de elementos. Ejemplo: </a:t>
                      </a:r>
                      <a:r>
                        <a:rPr lang="es-AR" sz="1300" b="0" u="none" strike="noStrike" dirty="0" err="1">
                          <a:solidFill>
                            <a:srgbClr val="000000"/>
                          </a:solidFill>
                          <a:effectLst/>
                          <a:uFillTx/>
                          <a:latin typeface="Arial"/>
                        </a:rPr>
                        <a:t>document.getElementsByTagName</a:t>
                      </a:r>
                      <a:r>
                        <a:rPr lang="es-AR" sz="1300" b="0" u="none" strike="noStrike" dirty="0">
                          <a:solidFill>
                            <a:srgbClr val="000000"/>
                          </a:solidFill>
                          <a:effectLst/>
                          <a:uFillTx/>
                          <a:latin typeface="Arial"/>
                        </a:rPr>
                        <a:t>("p");</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3"/>
                  </a:ext>
                </a:extLst>
              </a:tr>
              <a:tr h="441000">
                <a:tc>
                  <a:txBody>
                    <a:bodyPr/>
                    <a:lstStyle/>
                    <a:p>
                      <a:pPr>
                        <a:lnSpc>
                          <a:spcPct val="100000"/>
                        </a:lnSpc>
                      </a:pPr>
                      <a:r>
                        <a:rPr lang="es-AR" sz="1300" b="0" u="none" strike="noStrike" dirty="0" err="1">
                          <a:solidFill>
                            <a:srgbClr val="000000"/>
                          </a:solidFill>
                          <a:effectLst/>
                          <a:uFillTx/>
                          <a:latin typeface="Arial"/>
                        </a:rPr>
                        <a:t>document.querySelector</a:t>
                      </a:r>
                      <a:r>
                        <a:rPr lang="es-AR" sz="1300" b="0" u="none" strike="noStrike" dirty="0">
                          <a:solidFill>
                            <a:srgbClr val="000000"/>
                          </a:solidFill>
                          <a:effectLst/>
                          <a:uFillTx/>
                          <a:latin typeface="Arial"/>
                        </a:rPr>
                        <a:t>()</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300" b="0" u="none" strike="noStrike" dirty="0">
                          <a:solidFill>
                            <a:srgbClr val="000000"/>
                          </a:solidFill>
                          <a:effectLst/>
                          <a:uFillTx/>
                          <a:latin typeface="Arial"/>
                        </a:rPr>
                        <a:t>Selecciona el primer elemento que coincida con un selector CSS. Devuelve un único elemento. Ejemplo: </a:t>
                      </a:r>
                      <a:r>
                        <a:rPr lang="es-AR" sz="1300" b="0" u="none" strike="noStrike" dirty="0" err="1">
                          <a:solidFill>
                            <a:srgbClr val="000000"/>
                          </a:solidFill>
                          <a:effectLst/>
                          <a:uFillTx/>
                          <a:latin typeface="Arial"/>
                        </a:rPr>
                        <a:t>document.querySelector</a:t>
                      </a:r>
                      <a:r>
                        <a:rPr lang="es-AR" sz="1300" b="0" u="none" strike="noStrike" dirty="0">
                          <a:solidFill>
                            <a:srgbClr val="000000"/>
                          </a:solidFill>
                          <a:effectLst/>
                          <a:uFillTx/>
                          <a:latin typeface="Arial"/>
                        </a:rPr>
                        <a:t>("#</a:t>
                      </a:r>
                      <a:r>
                        <a:rPr lang="es-AR" sz="1300" b="0" u="none" strike="noStrike" dirty="0" err="1">
                          <a:solidFill>
                            <a:srgbClr val="000000"/>
                          </a:solidFill>
                          <a:effectLst/>
                          <a:uFillTx/>
                          <a:latin typeface="Arial"/>
                        </a:rPr>
                        <a:t>miId</a:t>
                      </a:r>
                      <a:r>
                        <a:rPr lang="es-AR" sz="1300" b="0" u="none" strike="noStrike" dirty="0">
                          <a:solidFill>
                            <a:srgbClr val="000000"/>
                          </a:solidFill>
                          <a:effectLst/>
                          <a:uFillTx/>
                          <a:latin typeface="Arial"/>
                        </a:rPr>
                        <a:t>");</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4"/>
                  </a:ext>
                </a:extLst>
              </a:tr>
              <a:tr h="441000">
                <a:tc>
                  <a:txBody>
                    <a:bodyPr/>
                    <a:lstStyle/>
                    <a:p>
                      <a:pPr>
                        <a:lnSpc>
                          <a:spcPct val="100000"/>
                        </a:lnSpc>
                      </a:pPr>
                      <a:r>
                        <a:rPr lang="es-AR" sz="1300" b="0" u="none" strike="noStrike" dirty="0" err="1">
                          <a:solidFill>
                            <a:srgbClr val="000000"/>
                          </a:solidFill>
                          <a:effectLst/>
                          <a:uFillTx/>
                          <a:latin typeface="Arial"/>
                        </a:rPr>
                        <a:t>document.querySelectorAll</a:t>
                      </a:r>
                      <a:r>
                        <a:rPr lang="es-AR" sz="1300" b="0" u="none" strike="noStrike" dirty="0">
                          <a:solidFill>
                            <a:srgbClr val="000000"/>
                          </a:solidFill>
                          <a:effectLst/>
                          <a:uFillTx/>
                          <a:latin typeface="Arial"/>
                        </a:rPr>
                        <a:t>()</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300" b="0" u="none" strike="noStrike" dirty="0">
                          <a:solidFill>
                            <a:srgbClr val="000000"/>
                          </a:solidFill>
                          <a:effectLst/>
                          <a:uFillTx/>
                          <a:latin typeface="Arial"/>
                        </a:rPr>
                        <a:t>Selecciona todos los elementos que coincidan con un selector CSS. Devuelve una colección de elementos. Ejemplo: </a:t>
                      </a:r>
                      <a:r>
                        <a:rPr lang="es-AR" sz="1300" b="0" u="none" strike="noStrike" dirty="0" err="1">
                          <a:solidFill>
                            <a:srgbClr val="000000"/>
                          </a:solidFill>
                          <a:effectLst/>
                          <a:uFillTx/>
                          <a:latin typeface="Arial"/>
                        </a:rPr>
                        <a:t>document.querySelectorAll</a:t>
                      </a:r>
                      <a:r>
                        <a:rPr lang="es-AR" sz="1300" b="0" u="none" strike="noStrike" dirty="0">
                          <a:solidFill>
                            <a:srgbClr val="000000"/>
                          </a:solidFill>
                          <a:effectLst/>
                          <a:uFillTx/>
                          <a:latin typeface="Arial"/>
                        </a:rPr>
                        <a:t>(".</a:t>
                      </a:r>
                      <a:r>
                        <a:rPr lang="es-AR" sz="1300" b="0" u="none" strike="noStrike" dirty="0" err="1">
                          <a:solidFill>
                            <a:srgbClr val="000000"/>
                          </a:solidFill>
                          <a:effectLst/>
                          <a:uFillTx/>
                          <a:latin typeface="Arial"/>
                        </a:rPr>
                        <a:t>miClase</a:t>
                      </a:r>
                      <a:r>
                        <a:rPr lang="es-AR" sz="1300" b="0" u="none" strike="noStrike" dirty="0">
                          <a:solidFill>
                            <a:srgbClr val="000000"/>
                          </a:solidFill>
                          <a:effectLst/>
                          <a:uFillTx/>
                          <a:latin typeface="Arial"/>
                        </a:rPr>
                        <a:t>");</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CuadroTexto 16"/>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s-ES" sz="2800" b="0" u="none" strike="noStrike">
                <a:solidFill>
                  <a:srgbClr val="0070C0"/>
                </a:solidFill>
                <a:effectLst/>
                <a:uFillTx/>
                <a:latin typeface="Titillium Web SemiBold"/>
                <a:ea typeface="DejaVu Sans"/>
              </a:rPr>
              <a:t>Manipulación de elementos</a:t>
            </a:r>
            <a:endParaRPr lang="es-AR" sz="2800" b="0" u="none" strike="noStrike">
              <a:solidFill>
                <a:srgbClr val="000000"/>
              </a:solidFill>
              <a:effectLst/>
              <a:uFillTx/>
              <a:latin typeface="Arial"/>
            </a:endParaRPr>
          </a:p>
        </p:txBody>
      </p:sp>
      <p:sp>
        <p:nvSpPr>
          <p:cNvPr id="98" name="Rectángulo 97"/>
          <p:cNvSpPr/>
          <p:nvPr/>
        </p:nvSpPr>
        <p:spPr>
          <a:xfrm>
            <a:off x="286200" y="1275120"/>
            <a:ext cx="8893440" cy="288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AR" sz="1300" b="0" u="none" strike="noStrike">
                <a:solidFill>
                  <a:srgbClr val="000000"/>
                </a:solidFill>
                <a:effectLst/>
                <a:uFillTx/>
                <a:latin typeface="Arial"/>
              </a:rPr>
              <a:t>Una vez seleccionados los elementos, la idea es manipular su contenido, estilo y otros atributos a través de javascript.</a:t>
            </a:r>
          </a:p>
        </p:txBody>
      </p:sp>
      <p:graphicFrame>
        <p:nvGraphicFramePr>
          <p:cNvPr id="99" name="Tabla 98"/>
          <p:cNvGraphicFramePr/>
          <p:nvPr/>
        </p:nvGraphicFramePr>
        <p:xfrm>
          <a:off x="497160" y="1690560"/>
          <a:ext cx="8881200" cy="3674160"/>
        </p:xfrm>
        <a:graphic>
          <a:graphicData uri="http://schemas.openxmlformats.org/drawingml/2006/table">
            <a:tbl>
              <a:tblPr/>
              <a:tblGrid>
                <a:gridCol w="2124360">
                  <a:extLst>
                    <a:ext uri="{9D8B030D-6E8A-4147-A177-3AD203B41FA5}">
                      <a16:colId xmlns:a16="http://schemas.microsoft.com/office/drawing/2014/main" val="20000"/>
                    </a:ext>
                  </a:extLst>
                </a:gridCol>
                <a:gridCol w="6756840">
                  <a:extLst>
                    <a:ext uri="{9D8B030D-6E8A-4147-A177-3AD203B41FA5}">
                      <a16:colId xmlns:a16="http://schemas.microsoft.com/office/drawing/2014/main" val="20001"/>
                    </a:ext>
                  </a:extLst>
                </a:gridCol>
              </a:tblGrid>
              <a:tr h="346320">
                <a:tc>
                  <a:txBody>
                    <a:bodyPr/>
                    <a:lstStyle/>
                    <a:p>
                      <a:pPr algn="ctr">
                        <a:lnSpc>
                          <a:spcPct val="100000"/>
                        </a:lnSpc>
                      </a:pPr>
                      <a:r>
                        <a:rPr lang="es-AR" sz="1300" b="1" u="none" strike="noStrike">
                          <a:solidFill>
                            <a:srgbClr val="000000"/>
                          </a:solidFill>
                          <a:effectLst/>
                          <a:uFillTx/>
                          <a:latin typeface="Arial"/>
                        </a:rPr>
                        <a:t>Método</a:t>
                      </a:r>
                      <a:endParaRPr lang="es-AR" sz="13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300" b="1" u="none" strike="noStrike">
                          <a:solidFill>
                            <a:srgbClr val="000000"/>
                          </a:solidFill>
                          <a:effectLst/>
                          <a:uFillTx/>
                          <a:latin typeface="Arial"/>
                        </a:rPr>
                        <a:t>Descripción</a:t>
                      </a:r>
                      <a:endParaRPr lang="es-AR" sz="13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0"/>
                  </a:ext>
                </a:extLst>
              </a:tr>
              <a:tr h="493200">
                <a:tc>
                  <a:txBody>
                    <a:bodyPr/>
                    <a:lstStyle/>
                    <a:p>
                      <a:pPr>
                        <a:lnSpc>
                          <a:spcPct val="100000"/>
                        </a:lnSpc>
                      </a:pPr>
                      <a:r>
                        <a:rPr lang="es-AR" sz="1300" b="0" u="none" strike="noStrike" dirty="0" err="1">
                          <a:solidFill>
                            <a:srgbClr val="000000"/>
                          </a:solidFill>
                          <a:effectLst/>
                          <a:uFillTx/>
                          <a:latin typeface="Arial"/>
                        </a:rPr>
                        <a:t>elemento.innerHTML</a:t>
                      </a:r>
                      <a:endParaRPr lang="es-AR" sz="1300" b="0" u="none" strike="noStrike" dirty="0">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300" b="0" u="none" strike="noStrike">
                          <a:solidFill>
                            <a:srgbClr val="000000"/>
                          </a:solidFill>
                          <a:effectLst/>
                          <a:uFillTx/>
                          <a:latin typeface="Arial"/>
                        </a:rPr>
                        <a:t>Obtiene o establece el contenido HTML de un elemento. Ejemplo: document.getElementById("element1").innerHTML = "Nuevo contenido";</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1"/>
                  </a:ext>
                </a:extLst>
              </a:tr>
              <a:tr h="479880">
                <a:tc>
                  <a:txBody>
                    <a:bodyPr/>
                    <a:lstStyle/>
                    <a:p>
                      <a:pPr>
                        <a:lnSpc>
                          <a:spcPct val="100000"/>
                        </a:lnSpc>
                      </a:pPr>
                      <a:r>
                        <a:rPr lang="es-AR" sz="1300" b="0" u="none" strike="noStrike" dirty="0" err="1">
                          <a:solidFill>
                            <a:srgbClr val="000000"/>
                          </a:solidFill>
                          <a:effectLst/>
                          <a:uFillTx/>
                          <a:latin typeface="Arial"/>
                        </a:rPr>
                        <a:t>elemento.textContent</a:t>
                      </a:r>
                      <a:endParaRPr lang="es-AR" sz="1300" b="0" u="none" strike="noStrike" dirty="0">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300" b="0" u="none" strike="noStrike">
                          <a:solidFill>
                            <a:srgbClr val="000000"/>
                          </a:solidFill>
                          <a:effectLst/>
                          <a:uFillTx/>
                          <a:latin typeface="Arial"/>
                        </a:rPr>
                        <a:t>Obtiene o establece el contenido de texto de un elemento. Ejemplo: document.getElementById("element2").textContent = "Nuevo texto";</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2"/>
                  </a:ext>
                </a:extLst>
              </a:tr>
              <a:tr h="472680">
                <a:tc>
                  <a:txBody>
                    <a:bodyPr/>
                    <a:lstStyle/>
                    <a:p>
                      <a:pPr>
                        <a:lnSpc>
                          <a:spcPct val="100000"/>
                        </a:lnSpc>
                      </a:pPr>
                      <a:r>
                        <a:rPr lang="es-AR" sz="1300" b="0" u="none" strike="noStrike" dirty="0" err="1">
                          <a:solidFill>
                            <a:srgbClr val="000000"/>
                          </a:solidFill>
                          <a:effectLst/>
                          <a:uFillTx/>
                          <a:latin typeface="Arial"/>
                        </a:rPr>
                        <a:t>elemento.setAttribute</a:t>
                      </a:r>
                      <a:r>
                        <a:rPr lang="es-AR" sz="1300" b="0" u="none" strike="noStrike" dirty="0">
                          <a:solidFill>
                            <a:srgbClr val="000000"/>
                          </a:solidFill>
                          <a:effectLst/>
                          <a:uFillTx/>
                          <a:latin typeface="Arial"/>
                        </a:rPr>
                        <a:t>()</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300" b="0" u="none" strike="noStrike">
                          <a:solidFill>
                            <a:srgbClr val="000000"/>
                          </a:solidFill>
                          <a:effectLst/>
                          <a:uFillTx/>
                          <a:latin typeface="Arial"/>
                        </a:rPr>
                        <a:t>Establece el valor de un atributo de un elemento. Ejemplo: document.getElementById("element3").setAttribute("class", "miClase");</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3"/>
                  </a:ext>
                </a:extLst>
              </a:tr>
              <a:tr h="472320">
                <a:tc>
                  <a:txBody>
                    <a:bodyPr/>
                    <a:lstStyle/>
                    <a:p>
                      <a:pPr>
                        <a:lnSpc>
                          <a:spcPct val="100000"/>
                        </a:lnSpc>
                      </a:pPr>
                      <a:r>
                        <a:rPr lang="es-AR" sz="1300" b="0" u="none" strike="noStrike" dirty="0" err="1">
                          <a:solidFill>
                            <a:srgbClr val="000000"/>
                          </a:solidFill>
                          <a:effectLst/>
                          <a:uFillTx/>
                          <a:latin typeface="Arial"/>
                        </a:rPr>
                        <a:t>elemento.style.property</a:t>
                      </a:r>
                      <a:endParaRPr lang="es-AR" sz="1300" b="0" u="none" strike="noStrike" dirty="0">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300" b="0" u="none" strike="noStrike">
                          <a:solidFill>
                            <a:srgbClr val="000000"/>
                          </a:solidFill>
                          <a:effectLst/>
                          <a:uFillTx/>
                          <a:latin typeface="Arial"/>
                        </a:rPr>
                        <a:t>Accede a las propiedades de estilo CSS de un elemento. Ejemplo: document.getElementById("element4").style.color = "blue";</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4"/>
                  </a:ext>
                </a:extLst>
              </a:tr>
              <a:tr h="647640">
                <a:tc>
                  <a:txBody>
                    <a:bodyPr/>
                    <a:lstStyle/>
                    <a:p>
                      <a:pPr>
                        <a:lnSpc>
                          <a:spcPct val="100000"/>
                        </a:lnSpc>
                      </a:pPr>
                      <a:r>
                        <a:rPr lang="es-AR" sz="1300" b="0" u="none" strike="noStrike">
                          <a:solidFill>
                            <a:srgbClr val="000000"/>
                          </a:solidFill>
                          <a:effectLst/>
                          <a:uFillTx/>
                          <a:latin typeface="Arial"/>
                        </a:rPr>
                        <a:t>document.write()</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300" b="0" u="none" strike="noStrike">
                          <a:solidFill>
                            <a:srgbClr val="000000"/>
                          </a:solidFill>
                          <a:effectLst/>
                          <a:uFillTx/>
                          <a:latin typeface="Arial"/>
                        </a:rPr>
                        <a:t>Escribe contenido en el documento HTML. Lo normal es que lo escriba a continuación del contenido existente, pero no es recomendable su uso porque puede sobreescribir todo el contenido existente.</a:t>
                      </a:r>
                    </a:p>
                    <a:p>
                      <a:pPr>
                        <a:lnSpc>
                          <a:spcPct val="100000"/>
                        </a:lnSpc>
                      </a:pPr>
                      <a:r>
                        <a:rPr lang="es-AR" sz="1300" b="0" u="none" strike="noStrike">
                          <a:solidFill>
                            <a:srgbClr val="000000"/>
                          </a:solidFill>
                          <a:effectLst/>
                          <a:uFillTx/>
                          <a:latin typeface="Arial"/>
                        </a:rPr>
                        <a:t>Ejemplo: document.write("¡Hola mundo!");</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5"/>
                  </a:ext>
                </a:extLst>
              </a:tr>
              <a:tr h="216000">
                <a:tc>
                  <a:txBody>
                    <a:bodyPr/>
                    <a:lstStyle/>
                    <a:p>
                      <a:pPr>
                        <a:lnSpc>
                          <a:spcPct val="100000"/>
                        </a:lnSpc>
                      </a:pPr>
                      <a:r>
                        <a:rPr lang="es-AR" sz="1300" b="0" u="none" strike="noStrike">
                          <a:solidFill>
                            <a:srgbClr val="000000"/>
                          </a:solidFill>
                          <a:effectLst/>
                          <a:uFillTx/>
                          <a:latin typeface="Arial"/>
                        </a:rPr>
                        <a:t>document.createElement()</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300" b="0" u="none" strike="noStrike" dirty="0">
                          <a:solidFill>
                            <a:srgbClr val="000000"/>
                          </a:solidFill>
                          <a:effectLst/>
                          <a:uFillTx/>
                          <a:latin typeface="Arial"/>
                        </a:rPr>
                        <a:t>Crea un nuevo elemento HTML especificado por su etiqueta.</a:t>
                      </a:r>
                    </a:p>
                    <a:p>
                      <a:pPr>
                        <a:lnSpc>
                          <a:spcPct val="100000"/>
                        </a:lnSpc>
                      </a:pPr>
                      <a:r>
                        <a:rPr lang="es-AR" sz="1300" b="0" u="none" strike="noStrike" dirty="0">
                          <a:solidFill>
                            <a:srgbClr val="000000"/>
                          </a:solidFill>
                          <a:effectLst/>
                          <a:uFillTx/>
                          <a:latin typeface="Arial"/>
                        </a:rPr>
                        <a:t>Ejemplo: </a:t>
                      </a:r>
                      <a:r>
                        <a:rPr lang="es-AR" sz="1300" b="0" u="none" strike="noStrike" dirty="0" err="1">
                          <a:solidFill>
                            <a:srgbClr val="000000"/>
                          </a:solidFill>
                          <a:effectLst/>
                          <a:uFillTx/>
                          <a:latin typeface="Arial"/>
                        </a:rPr>
                        <a:t>boton</a:t>
                      </a:r>
                      <a:r>
                        <a:rPr lang="es-AR" sz="1300" b="0" u="none" strike="noStrike" dirty="0">
                          <a:solidFill>
                            <a:srgbClr val="000000"/>
                          </a:solidFill>
                          <a:effectLst/>
                          <a:uFillTx/>
                          <a:latin typeface="Arial"/>
                        </a:rPr>
                        <a:t> = </a:t>
                      </a:r>
                      <a:r>
                        <a:rPr lang="es-AR" sz="1300" b="0" u="none" strike="noStrike" dirty="0" err="1">
                          <a:solidFill>
                            <a:srgbClr val="000000"/>
                          </a:solidFill>
                          <a:effectLst/>
                          <a:uFillTx/>
                          <a:latin typeface="Arial"/>
                        </a:rPr>
                        <a:t>document.createElement</a:t>
                      </a:r>
                      <a:r>
                        <a:rPr lang="es-AR" sz="1300" b="0" u="none" strike="noStrike" dirty="0">
                          <a:solidFill>
                            <a:srgbClr val="000000"/>
                          </a:solidFill>
                          <a:effectLst/>
                          <a:uFillTx/>
                          <a:latin typeface="Arial"/>
                        </a:rPr>
                        <a:t>("</a:t>
                      </a:r>
                      <a:r>
                        <a:rPr lang="es-AR" sz="1300" b="0" u="none" strike="noStrike" dirty="0" err="1">
                          <a:solidFill>
                            <a:srgbClr val="000000"/>
                          </a:solidFill>
                          <a:effectLst/>
                          <a:uFillTx/>
                          <a:latin typeface="Arial"/>
                        </a:rPr>
                        <a:t>button</a:t>
                      </a:r>
                      <a:r>
                        <a:rPr lang="es-AR" sz="1300" b="0" u="none" strike="noStrike" dirty="0">
                          <a:solidFill>
                            <a:srgbClr val="000000"/>
                          </a:solidFill>
                          <a:effectLst/>
                          <a:uFillTx/>
                          <a:latin typeface="Arial"/>
                        </a:rPr>
                        <a:t>");</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CuadroTexto 17"/>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s-ES" sz="2800" b="0" u="none" strike="noStrike">
                <a:solidFill>
                  <a:srgbClr val="0070C0"/>
                </a:solidFill>
                <a:effectLst/>
                <a:uFillTx/>
                <a:latin typeface="Titillium Web SemiBold"/>
                <a:ea typeface="DejaVu Sans"/>
              </a:rPr>
              <a:t>Manipulación de elementos</a:t>
            </a:r>
            <a:endParaRPr lang="es-AR" sz="2800" b="0" u="none" strike="noStrike">
              <a:solidFill>
                <a:srgbClr val="000000"/>
              </a:solidFill>
              <a:effectLst/>
              <a:uFillTx/>
              <a:latin typeface="Arial"/>
            </a:endParaRPr>
          </a:p>
        </p:txBody>
      </p:sp>
      <p:graphicFrame>
        <p:nvGraphicFramePr>
          <p:cNvPr id="101" name="Tabla 100"/>
          <p:cNvGraphicFramePr/>
          <p:nvPr>
            <p:extLst>
              <p:ext uri="{D42A27DB-BD31-4B8C-83A1-F6EECF244321}">
                <p14:modId xmlns:p14="http://schemas.microsoft.com/office/powerpoint/2010/main" val="3533267395"/>
              </p:ext>
            </p:extLst>
          </p:nvPr>
        </p:nvGraphicFramePr>
        <p:xfrm>
          <a:off x="497160" y="1667014"/>
          <a:ext cx="8881200" cy="2835537"/>
        </p:xfrm>
        <a:graphic>
          <a:graphicData uri="http://schemas.openxmlformats.org/drawingml/2006/table">
            <a:tbl>
              <a:tblPr/>
              <a:tblGrid>
                <a:gridCol w="2124360">
                  <a:extLst>
                    <a:ext uri="{9D8B030D-6E8A-4147-A177-3AD203B41FA5}">
                      <a16:colId xmlns:a16="http://schemas.microsoft.com/office/drawing/2014/main" val="20000"/>
                    </a:ext>
                  </a:extLst>
                </a:gridCol>
                <a:gridCol w="6756840">
                  <a:extLst>
                    <a:ext uri="{9D8B030D-6E8A-4147-A177-3AD203B41FA5}">
                      <a16:colId xmlns:a16="http://schemas.microsoft.com/office/drawing/2014/main" val="20001"/>
                    </a:ext>
                  </a:extLst>
                </a:gridCol>
              </a:tblGrid>
              <a:tr h="363134">
                <a:tc>
                  <a:txBody>
                    <a:bodyPr/>
                    <a:lstStyle/>
                    <a:p>
                      <a:pPr algn="ctr">
                        <a:lnSpc>
                          <a:spcPct val="100000"/>
                        </a:lnSpc>
                      </a:pPr>
                      <a:r>
                        <a:rPr lang="es-AR" sz="1300" b="1" u="none" strike="noStrike">
                          <a:solidFill>
                            <a:srgbClr val="000000"/>
                          </a:solidFill>
                          <a:effectLst/>
                          <a:uFillTx/>
                          <a:latin typeface="Arial"/>
                        </a:rPr>
                        <a:t>Método</a:t>
                      </a:r>
                      <a:endParaRPr lang="es-AR" sz="13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300" b="1" u="none" strike="noStrike">
                          <a:solidFill>
                            <a:srgbClr val="000000"/>
                          </a:solidFill>
                          <a:effectLst/>
                          <a:uFillTx/>
                          <a:latin typeface="Arial"/>
                        </a:rPr>
                        <a:t>Descripción</a:t>
                      </a:r>
                      <a:endParaRPr lang="es-AR" sz="13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0"/>
                  </a:ext>
                </a:extLst>
              </a:tr>
              <a:tr h="538210">
                <a:tc>
                  <a:txBody>
                    <a:bodyPr/>
                    <a:lstStyle/>
                    <a:p>
                      <a:pPr>
                        <a:lnSpc>
                          <a:spcPct val="100000"/>
                        </a:lnSpc>
                      </a:pPr>
                      <a:r>
                        <a:rPr lang="es-AR" sz="1300" b="0" u="none" strike="noStrike" dirty="0" err="1">
                          <a:solidFill>
                            <a:srgbClr val="000000"/>
                          </a:solidFill>
                          <a:effectLst/>
                          <a:uFillTx/>
                          <a:latin typeface="Arial"/>
                        </a:rPr>
                        <a:t>element.appendChild</a:t>
                      </a:r>
                      <a:r>
                        <a:rPr lang="es-AR" sz="1300" b="0" u="none" strike="noStrike" dirty="0">
                          <a:solidFill>
                            <a:srgbClr val="000000"/>
                          </a:solidFill>
                          <a:effectLst/>
                          <a:uFillTx/>
                          <a:latin typeface="Arial"/>
                        </a:rPr>
                        <a:t>()</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300" b="0" u="none" strike="noStrike">
                          <a:solidFill>
                            <a:srgbClr val="000000"/>
                          </a:solidFill>
                          <a:effectLst/>
                          <a:uFillTx/>
                          <a:latin typeface="Arial"/>
                        </a:rPr>
                        <a:t>Agrega un nodo al final de la lista de hijos de un elemento. </a:t>
                      </a:r>
                    </a:p>
                    <a:p>
                      <a:pPr>
                        <a:lnSpc>
                          <a:spcPct val="100000"/>
                        </a:lnSpc>
                      </a:pPr>
                      <a:r>
                        <a:rPr lang="es-AR" sz="1300" b="0" u="none" strike="noStrike">
                          <a:solidFill>
                            <a:srgbClr val="000000"/>
                          </a:solidFill>
                          <a:effectLst/>
                          <a:uFillTx/>
                          <a:latin typeface="Arial"/>
                        </a:rPr>
                        <a:t>Ejemplo: document.body.appendChild(boton);</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1"/>
                  </a:ext>
                </a:extLst>
              </a:tr>
              <a:tr h="538210">
                <a:tc>
                  <a:txBody>
                    <a:bodyPr/>
                    <a:lstStyle/>
                    <a:p>
                      <a:pPr>
                        <a:lnSpc>
                          <a:spcPct val="100000"/>
                        </a:lnSpc>
                      </a:pPr>
                      <a:r>
                        <a:rPr lang="es-AR" sz="1300" b="0" u="none" strike="noStrike">
                          <a:solidFill>
                            <a:srgbClr val="000000"/>
                          </a:solidFill>
                          <a:effectLst/>
                          <a:uFillTx/>
                          <a:latin typeface="Arial"/>
                        </a:rPr>
                        <a:t>element.createAttribute()</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300" b="0" u="none" strike="noStrike">
                          <a:solidFill>
                            <a:srgbClr val="000000"/>
                          </a:solidFill>
                          <a:effectLst/>
                          <a:uFillTx/>
                          <a:latin typeface="Arial"/>
                        </a:rPr>
                        <a:t>Crea un nuevo atributo y devuelve el nuevo objeto de atributo. </a:t>
                      </a:r>
                    </a:p>
                    <a:p>
                      <a:pPr>
                        <a:lnSpc>
                          <a:spcPct val="100000"/>
                        </a:lnSpc>
                      </a:pPr>
                      <a:r>
                        <a:rPr lang="es-AR" sz="1300" b="0" u="none" strike="noStrike">
                          <a:solidFill>
                            <a:srgbClr val="000000"/>
                          </a:solidFill>
                          <a:effectLst/>
                          <a:uFillTx/>
                          <a:latin typeface="Arial"/>
                        </a:rPr>
                        <a:t>Ejemplo: nuevoAtributo = document.createAttribute("class");</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2"/>
                  </a:ext>
                </a:extLst>
              </a:tr>
              <a:tr h="538210">
                <a:tc>
                  <a:txBody>
                    <a:bodyPr/>
                    <a:lstStyle/>
                    <a:p>
                      <a:pPr>
                        <a:lnSpc>
                          <a:spcPct val="100000"/>
                        </a:lnSpc>
                      </a:pPr>
                      <a:r>
                        <a:rPr lang="es-AR" sz="1300" b="0" u="none" strike="noStrike" dirty="0" err="1">
                          <a:solidFill>
                            <a:srgbClr val="000000"/>
                          </a:solidFill>
                          <a:effectLst/>
                          <a:uFillTx/>
                          <a:latin typeface="Arial"/>
                        </a:rPr>
                        <a:t>element.setAttributeNode</a:t>
                      </a:r>
                      <a:r>
                        <a:rPr lang="es-AR" sz="1300" b="0" u="none" strike="noStrike" dirty="0">
                          <a:solidFill>
                            <a:srgbClr val="000000"/>
                          </a:solidFill>
                          <a:effectLst/>
                          <a:uFillTx/>
                          <a:latin typeface="Arial"/>
                        </a:rPr>
                        <a:t>()</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300" b="0" u="none" strike="noStrike">
                          <a:solidFill>
                            <a:srgbClr val="000000"/>
                          </a:solidFill>
                          <a:effectLst/>
                          <a:uFillTx/>
                          <a:latin typeface="Arial"/>
                        </a:rPr>
                        <a:t>Establece el atributo especificado en el elemento. </a:t>
                      </a:r>
                    </a:p>
                    <a:p>
                      <a:pPr>
                        <a:lnSpc>
                          <a:spcPct val="100000"/>
                        </a:lnSpc>
                      </a:pPr>
                      <a:r>
                        <a:rPr lang="es-AR" sz="1300" b="0" u="none" strike="noStrike">
                          <a:solidFill>
                            <a:srgbClr val="000000"/>
                          </a:solidFill>
                          <a:effectLst/>
                          <a:uFillTx/>
                          <a:latin typeface="Arial"/>
                        </a:rPr>
                        <a:t>Ejemplo: nuevoAtributo.value = "miClase2";</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3"/>
                  </a:ext>
                </a:extLst>
              </a:tr>
              <a:tr h="538210">
                <a:tc>
                  <a:txBody>
                    <a:bodyPr/>
                    <a:lstStyle/>
                    <a:p>
                      <a:pPr>
                        <a:lnSpc>
                          <a:spcPct val="100000"/>
                        </a:lnSpc>
                      </a:pPr>
                      <a:r>
                        <a:rPr lang="es-AR" sz="1300" b="0" u="none" strike="noStrike" dirty="0" err="1">
                          <a:solidFill>
                            <a:srgbClr val="000000"/>
                          </a:solidFill>
                          <a:effectLst/>
                          <a:uFillTx/>
                          <a:latin typeface="Arial"/>
                        </a:rPr>
                        <a:t>element.removeAttribute</a:t>
                      </a:r>
                      <a:r>
                        <a:rPr lang="es-AR" sz="1300" b="0" u="none" strike="noStrike" dirty="0">
                          <a:solidFill>
                            <a:srgbClr val="000000"/>
                          </a:solidFill>
                          <a:effectLst/>
                          <a:uFillTx/>
                          <a:latin typeface="Arial"/>
                        </a:rPr>
                        <a:t>()</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300" b="0" u="none" strike="noStrike">
                          <a:solidFill>
                            <a:srgbClr val="000000"/>
                          </a:solidFill>
                          <a:effectLst/>
                          <a:uFillTx/>
                          <a:latin typeface="Arial"/>
                        </a:rPr>
                        <a:t>Elimina un atributo especificado de un elemento. Ejemplo: document.getElementById("miId6").removeAttribute("class");</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4"/>
                  </a:ext>
                </a:extLst>
              </a:tr>
              <a:tr h="319563">
                <a:tc>
                  <a:txBody>
                    <a:bodyPr/>
                    <a:lstStyle/>
                    <a:p>
                      <a:pPr>
                        <a:lnSpc>
                          <a:spcPct val="100000"/>
                        </a:lnSpc>
                      </a:pPr>
                      <a:r>
                        <a:rPr lang="es-AR" sz="1300" b="0" u="none" strike="noStrike" dirty="0" err="1">
                          <a:solidFill>
                            <a:srgbClr val="000000"/>
                          </a:solidFill>
                          <a:effectLst/>
                          <a:uFillTx/>
                          <a:latin typeface="Arial"/>
                        </a:rPr>
                        <a:t>element.remove</a:t>
                      </a:r>
                      <a:r>
                        <a:rPr lang="es-AR" sz="1300" b="0" u="none" strike="noStrike" dirty="0">
                          <a:solidFill>
                            <a:srgbClr val="000000"/>
                          </a:solidFill>
                          <a:effectLst/>
                          <a:uFillTx/>
                          <a:latin typeface="Arial"/>
                        </a:rPr>
                        <a:t>()</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300" b="0" u="none" strike="noStrike" dirty="0">
                          <a:solidFill>
                            <a:srgbClr val="000000"/>
                          </a:solidFill>
                          <a:effectLst/>
                          <a:uFillTx/>
                          <a:latin typeface="Arial"/>
                        </a:rPr>
                        <a:t>Elimina un elemento del DOM. Ejemplo: </a:t>
                      </a:r>
                      <a:r>
                        <a:rPr lang="es-AR" sz="1300" b="0" u="none" strike="noStrike" dirty="0" err="1">
                          <a:solidFill>
                            <a:srgbClr val="000000"/>
                          </a:solidFill>
                          <a:effectLst/>
                          <a:uFillTx/>
                          <a:latin typeface="Arial"/>
                        </a:rPr>
                        <a:t>document.getElementById</a:t>
                      </a:r>
                      <a:r>
                        <a:rPr lang="es-AR" sz="1300" b="0" u="none" strike="noStrike" dirty="0">
                          <a:solidFill>
                            <a:srgbClr val="000000"/>
                          </a:solidFill>
                          <a:effectLst/>
                          <a:uFillTx/>
                          <a:latin typeface="Arial"/>
                        </a:rPr>
                        <a:t>("miId7").</a:t>
                      </a:r>
                      <a:r>
                        <a:rPr lang="es-AR" sz="1300" b="0" u="none" strike="noStrike" dirty="0" err="1">
                          <a:solidFill>
                            <a:srgbClr val="000000"/>
                          </a:solidFill>
                          <a:effectLst/>
                          <a:uFillTx/>
                          <a:latin typeface="Arial"/>
                        </a:rPr>
                        <a:t>remove</a:t>
                      </a:r>
                      <a:r>
                        <a:rPr lang="es-AR" sz="1300" b="0" u="none" strike="noStrike" dirty="0">
                          <a:solidFill>
                            <a:srgbClr val="000000"/>
                          </a:solidFill>
                          <a:effectLst/>
                          <a:uFillTx/>
                          <a:latin typeface="Arial"/>
                        </a:rPr>
                        <a:t>();</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CuadroTexto 20"/>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s-ES" sz="2800" b="0" u="none" strike="noStrike">
                <a:solidFill>
                  <a:srgbClr val="0070C0"/>
                </a:solidFill>
                <a:effectLst/>
                <a:uFillTx/>
                <a:latin typeface="Titillium Web SemiBold"/>
                <a:ea typeface="DejaVu Sans"/>
              </a:rPr>
              <a:t>Eventos</a:t>
            </a:r>
            <a:endParaRPr lang="es-AR" sz="2800" b="0" u="none" strike="noStrike">
              <a:solidFill>
                <a:srgbClr val="000000"/>
              </a:solidFill>
              <a:effectLst/>
              <a:uFillTx/>
              <a:latin typeface="Arial"/>
            </a:endParaRPr>
          </a:p>
        </p:txBody>
      </p:sp>
      <p:sp>
        <p:nvSpPr>
          <p:cNvPr id="103" name="Rectángulo 102"/>
          <p:cNvSpPr/>
          <p:nvPr/>
        </p:nvSpPr>
        <p:spPr>
          <a:xfrm>
            <a:off x="286200" y="1167120"/>
            <a:ext cx="8893440" cy="88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AR" sz="1300" b="0" u="none" strike="noStrike" dirty="0">
                <a:solidFill>
                  <a:srgbClr val="000000"/>
                </a:solidFill>
                <a:effectLst/>
                <a:uFillTx/>
                <a:latin typeface="Arial"/>
              </a:rPr>
              <a:t>La escucha de eventos permite detectar acciones, cambios y ejecutar funciones en respuesta.</a:t>
            </a:r>
          </a:p>
          <a:p>
            <a:pPr>
              <a:lnSpc>
                <a:spcPct val="100000"/>
              </a:lnSpc>
            </a:pPr>
            <a:r>
              <a:rPr lang="es-AR" sz="1300" b="0" u="none" strike="noStrike" dirty="0">
                <a:solidFill>
                  <a:srgbClr val="000000"/>
                </a:solidFill>
                <a:effectLst/>
                <a:uFillTx/>
                <a:latin typeface="Arial"/>
              </a:rPr>
              <a:t>El método que se utiliza es el </a:t>
            </a:r>
            <a:r>
              <a:rPr lang="es-AR" sz="1300" b="0" u="none" strike="noStrike" dirty="0" err="1">
                <a:solidFill>
                  <a:srgbClr val="000000"/>
                </a:solidFill>
                <a:effectLst/>
                <a:uFillTx/>
                <a:latin typeface="Arial"/>
              </a:rPr>
              <a:t>elemento.addEventListener</a:t>
            </a:r>
            <a:r>
              <a:rPr lang="es-AR" sz="1300" b="0" u="none" strike="noStrike" dirty="0">
                <a:solidFill>
                  <a:srgbClr val="000000"/>
                </a:solidFill>
                <a:effectLst/>
                <a:uFillTx/>
                <a:latin typeface="Arial"/>
              </a:rPr>
              <a:t>()</a:t>
            </a:r>
          </a:p>
          <a:p>
            <a:pPr>
              <a:lnSpc>
                <a:spcPct val="100000"/>
              </a:lnSpc>
            </a:pPr>
            <a:r>
              <a:rPr lang="es-AR" sz="1300" b="0" u="none" strike="noStrike" dirty="0">
                <a:solidFill>
                  <a:srgbClr val="000000"/>
                </a:solidFill>
                <a:effectLst/>
                <a:uFillTx/>
                <a:latin typeface="Arial"/>
              </a:rPr>
              <a:t>Agrega un «escuchador» a un elemento para detectar un evento específico y ejecutar una función en respuesta. Ejemplo: </a:t>
            </a:r>
            <a:r>
              <a:rPr lang="es-AR" sz="1300" b="0" u="none" strike="noStrike" dirty="0" err="1">
                <a:solidFill>
                  <a:srgbClr val="000000"/>
                </a:solidFill>
                <a:effectLst/>
                <a:uFillTx/>
                <a:latin typeface="Arial"/>
              </a:rPr>
              <a:t>document.getElementById</a:t>
            </a:r>
            <a:r>
              <a:rPr lang="es-AR" sz="1300" b="0" u="none" strike="noStrike" dirty="0">
                <a:solidFill>
                  <a:srgbClr val="000000"/>
                </a:solidFill>
                <a:effectLst/>
                <a:uFillTx/>
                <a:latin typeface="Arial"/>
              </a:rPr>
              <a:t>('</a:t>
            </a:r>
            <a:r>
              <a:rPr lang="es-AR" sz="1300" b="0" u="none" strike="noStrike" dirty="0" err="1">
                <a:solidFill>
                  <a:srgbClr val="000000"/>
                </a:solidFill>
                <a:effectLst/>
                <a:uFillTx/>
                <a:latin typeface="Arial"/>
              </a:rPr>
              <a:t>miBoton</a:t>
            </a:r>
            <a:r>
              <a:rPr lang="es-AR" sz="1300" b="0" u="none" strike="noStrike" dirty="0">
                <a:solidFill>
                  <a:srgbClr val="000000"/>
                </a:solidFill>
                <a:effectLst/>
                <a:uFillTx/>
                <a:latin typeface="Arial"/>
              </a:rPr>
              <a:t>').</a:t>
            </a:r>
            <a:r>
              <a:rPr lang="es-AR" sz="1300" b="0" u="none" strike="noStrike" dirty="0" err="1">
                <a:solidFill>
                  <a:srgbClr val="000000"/>
                </a:solidFill>
                <a:effectLst/>
                <a:uFillTx/>
                <a:latin typeface="Arial"/>
              </a:rPr>
              <a:t>addEventListener</a:t>
            </a:r>
            <a:r>
              <a:rPr lang="es-AR" sz="1300" b="0" u="none" strike="noStrike" dirty="0">
                <a:solidFill>
                  <a:srgbClr val="000000"/>
                </a:solidFill>
                <a:effectLst/>
                <a:uFillTx/>
                <a:latin typeface="Arial"/>
              </a:rPr>
              <a:t>('</a:t>
            </a:r>
            <a:r>
              <a:rPr lang="es-AR" sz="1300" b="0" u="none" strike="noStrike" dirty="0" err="1">
                <a:solidFill>
                  <a:srgbClr val="000000"/>
                </a:solidFill>
                <a:effectLst/>
                <a:uFillTx/>
                <a:latin typeface="Arial"/>
              </a:rPr>
              <a:t>click</a:t>
            </a:r>
            <a:r>
              <a:rPr lang="es-AR" sz="1300" b="0" u="none" strike="noStrike" dirty="0">
                <a:solidFill>
                  <a:srgbClr val="000000"/>
                </a:solidFill>
                <a:effectLst/>
                <a:uFillTx/>
                <a:latin typeface="Arial"/>
              </a:rPr>
              <a:t>', </a:t>
            </a:r>
            <a:r>
              <a:rPr lang="es-AR" sz="1300" b="0" u="none" strike="noStrike" dirty="0" err="1">
                <a:solidFill>
                  <a:srgbClr val="000000"/>
                </a:solidFill>
                <a:effectLst/>
                <a:uFillTx/>
                <a:latin typeface="Arial"/>
              </a:rPr>
              <a:t>function</a:t>
            </a:r>
            <a:r>
              <a:rPr lang="es-AR" sz="1300" b="0" u="none" strike="noStrike" dirty="0">
                <a:solidFill>
                  <a:srgbClr val="000000"/>
                </a:solidFill>
                <a:effectLst/>
                <a:uFillTx/>
                <a:latin typeface="Arial"/>
              </a:rPr>
              <a:t>() {</a:t>
            </a:r>
            <a:r>
              <a:rPr lang="es-AR" sz="1300" b="0" u="none" strike="noStrike" dirty="0" err="1">
                <a:solidFill>
                  <a:srgbClr val="000000"/>
                </a:solidFill>
                <a:effectLst/>
                <a:uFillTx/>
                <a:latin typeface="Arial"/>
              </a:rPr>
              <a:t>alert</a:t>
            </a:r>
            <a:r>
              <a:rPr lang="es-AR" sz="1300" b="0" u="none" strike="noStrike" dirty="0">
                <a:solidFill>
                  <a:srgbClr val="000000"/>
                </a:solidFill>
                <a:effectLst/>
                <a:uFillTx/>
                <a:latin typeface="Arial"/>
              </a:rPr>
              <a:t>('¡Has hecho clic!'); });</a:t>
            </a:r>
          </a:p>
        </p:txBody>
      </p:sp>
      <p:graphicFrame>
        <p:nvGraphicFramePr>
          <p:cNvPr id="104" name="Tabla 103"/>
          <p:cNvGraphicFramePr/>
          <p:nvPr>
            <p:extLst>
              <p:ext uri="{D42A27DB-BD31-4B8C-83A1-F6EECF244321}">
                <p14:modId xmlns:p14="http://schemas.microsoft.com/office/powerpoint/2010/main" val="2545098408"/>
              </p:ext>
            </p:extLst>
          </p:nvPr>
        </p:nvGraphicFramePr>
        <p:xfrm>
          <a:off x="443379" y="2439706"/>
          <a:ext cx="7609680" cy="2743200"/>
        </p:xfrm>
        <a:graphic>
          <a:graphicData uri="http://schemas.openxmlformats.org/drawingml/2006/table">
            <a:tbl>
              <a:tblPr/>
              <a:tblGrid>
                <a:gridCol w="1581480">
                  <a:extLst>
                    <a:ext uri="{9D8B030D-6E8A-4147-A177-3AD203B41FA5}">
                      <a16:colId xmlns:a16="http://schemas.microsoft.com/office/drawing/2014/main" val="20000"/>
                    </a:ext>
                  </a:extLst>
                </a:gridCol>
                <a:gridCol w="6028200">
                  <a:extLst>
                    <a:ext uri="{9D8B030D-6E8A-4147-A177-3AD203B41FA5}">
                      <a16:colId xmlns:a16="http://schemas.microsoft.com/office/drawing/2014/main" val="20001"/>
                    </a:ext>
                  </a:extLst>
                </a:gridCol>
              </a:tblGrid>
              <a:tr h="306720">
                <a:tc>
                  <a:txBody>
                    <a:bodyPr/>
                    <a:lstStyle/>
                    <a:p>
                      <a:pPr algn="ctr">
                        <a:lnSpc>
                          <a:spcPct val="100000"/>
                        </a:lnSpc>
                      </a:pPr>
                      <a:r>
                        <a:rPr lang="es-AR" sz="1300" b="1" u="none" strike="noStrike">
                          <a:solidFill>
                            <a:srgbClr val="000000"/>
                          </a:solidFill>
                          <a:effectLst/>
                          <a:uFillTx/>
                          <a:latin typeface="Arial"/>
                        </a:rPr>
                        <a:t>Evento</a:t>
                      </a:r>
                      <a:endParaRPr lang="es-AR" sz="13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300" b="1" u="none" strike="noStrike">
                          <a:solidFill>
                            <a:srgbClr val="000000"/>
                          </a:solidFill>
                          <a:effectLst/>
                          <a:uFillTx/>
                          <a:latin typeface="Arial"/>
                        </a:rPr>
                        <a:t>Descripción</a:t>
                      </a:r>
                      <a:endParaRPr lang="es-AR" sz="13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0"/>
                  </a:ext>
                </a:extLst>
              </a:tr>
              <a:tr h="396360">
                <a:tc>
                  <a:txBody>
                    <a:bodyPr/>
                    <a:lstStyle/>
                    <a:p>
                      <a:pPr>
                        <a:lnSpc>
                          <a:spcPct val="100000"/>
                        </a:lnSpc>
                      </a:pPr>
                      <a:r>
                        <a:rPr lang="es-AR" sz="1300" b="0" u="none" strike="noStrike">
                          <a:solidFill>
                            <a:srgbClr val="000000"/>
                          </a:solidFill>
                          <a:effectLst/>
                          <a:uFillTx/>
                          <a:latin typeface="Arial"/>
                        </a:rPr>
                        <a:t>Click</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300" b="0" u="none" strike="noStrike" dirty="0">
                          <a:solidFill>
                            <a:srgbClr val="000000"/>
                          </a:solidFill>
                          <a:effectLst/>
                          <a:uFillTx/>
                          <a:latin typeface="Arial"/>
                        </a:rPr>
                        <a:t>Se ejecuta cuando se hace clic en un elemento.</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1"/>
                  </a:ext>
                </a:extLst>
              </a:tr>
              <a:tr h="396360">
                <a:tc>
                  <a:txBody>
                    <a:bodyPr/>
                    <a:lstStyle/>
                    <a:p>
                      <a:pPr>
                        <a:lnSpc>
                          <a:spcPct val="100000"/>
                        </a:lnSpc>
                      </a:pPr>
                      <a:r>
                        <a:rPr lang="es-AR" sz="1300" b="0" u="none" strike="noStrike">
                          <a:solidFill>
                            <a:srgbClr val="000000"/>
                          </a:solidFill>
                          <a:effectLst/>
                          <a:uFillTx/>
                          <a:latin typeface="Arial"/>
                        </a:rPr>
                        <a:t>Mouseover</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300" b="0" u="none" strike="noStrike">
                          <a:solidFill>
                            <a:srgbClr val="000000"/>
                          </a:solidFill>
                          <a:effectLst/>
                          <a:uFillTx/>
                          <a:latin typeface="Arial"/>
                        </a:rPr>
                        <a:t>Se ejecuta cuando el puntero del mouse se mueve sobre un elemento.</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2"/>
                  </a:ext>
                </a:extLst>
              </a:tr>
              <a:tr h="411480">
                <a:tc>
                  <a:txBody>
                    <a:bodyPr/>
                    <a:lstStyle/>
                    <a:p>
                      <a:pPr>
                        <a:lnSpc>
                          <a:spcPct val="100000"/>
                        </a:lnSpc>
                      </a:pPr>
                      <a:r>
                        <a:rPr lang="es-AR" sz="1300" b="0" u="none" strike="noStrike">
                          <a:solidFill>
                            <a:srgbClr val="000000"/>
                          </a:solidFill>
                          <a:effectLst/>
                          <a:uFillTx/>
                          <a:latin typeface="Arial"/>
                        </a:rPr>
                        <a:t>Mouseout</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300" b="0" u="none" strike="noStrike">
                          <a:solidFill>
                            <a:srgbClr val="000000"/>
                          </a:solidFill>
                          <a:effectLst/>
                          <a:uFillTx/>
                          <a:latin typeface="Arial"/>
                        </a:rPr>
                        <a:t>Se ejecuta cuando el puntero del mouse sale de un elemento.</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3"/>
                  </a:ext>
                </a:extLst>
              </a:tr>
              <a:tr h="350280">
                <a:tc>
                  <a:txBody>
                    <a:bodyPr/>
                    <a:lstStyle/>
                    <a:p>
                      <a:pPr>
                        <a:lnSpc>
                          <a:spcPct val="100000"/>
                        </a:lnSpc>
                      </a:pPr>
                      <a:r>
                        <a:rPr lang="es-AR" sz="1300" b="0" u="none" strike="noStrike">
                          <a:solidFill>
                            <a:srgbClr val="000000"/>
                          </a:solidFill>
                          <a:effectLst/>
                          <a:uFillTx/>
                          <a:latin typeface="Arial"/>
                        </a:rPr>
                        <a:t>Keydown</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12700" cap="flat" cmpd="sng" algn="ctr">
                      <a:solidFill>
                        <a:schemeClr val="tx1"/>
                      </a:solidFill>
                      <a:prstDash val="solid"/>
                      <a:round/>
                      <a:headEnd type="none" w="med" len="med"/>
                      <a:tailEnd type="none" w="med" len="med"/>
                    </a:lnB>
                    <a:noFill/>
                  </a:tcPr>
                </a:tc>
                <a:tc>
                  <a:txBody>
                    <a:bodyPr/>
                    <a:lstStyle/>
                    <a:p>
                      <a:pPr>
                        <a:lnSpc>
                          <a:spcPct val="100000"/>
                        </a:lnSpc>
                      </a:pPr>
                      <a:r>
                        <a:rPr lang="es-AR" sz="1300" b="0" u="none" strike="noStrike">
                          <a:solidFill>
                            <a:srgbClr val="000000"/>
                          </a:solidFill>
                          <a:effectLst/>
                          <a:uFillTx/>
                          <a:latin typeface="Arial"/>
                        </a:rPr>
                        <a:t>Se ejecuta cuando se presiona una tecla.</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4"/>
                  </a:ext>
                </a:extLst>
              </a:tr>
              <a:tr h="441000">
                <a:tc>
                  <a:txBody>
                    <a:bodyPr/>
                    <a:lstStyle/>
                    <a:p>
                      <a:pPr>
                        <a:lnSpc>
                          <a:spcPct val="100000"/>
                        </a:lnSpc>
                      </a:pPr>
                      <a:r>
                        <a:rPr lang="es-AR" sz="1300" b="0" u="none" strike="noStrike" dirty="0" err="1">
                          <a:solidFill>
                            <a:srgbClr val="000000"/>
                          </a:solidFill>
                          <a:effectLst/>
                          <a:uFillTx/>
                          <a:latin typeface="Arial"/>
                        </a:rPr>
                        <a:t>Keypress</a:t>
                      </a:r>
                      <a:endParaRPr lang="es-AR" sz="1300" b="0" u="none" strike="noStrike" dirty="0">
                        <a:solidFill>
                          <a:srgbClr val="000000"/>
                        </a:solidFill>
                        <a:effectLst/>
                        <a:uFillTx/>
                        <a:latin typeface="Arial"/>
                      </a:endParaRP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r>
                        <a:rPr lang="es-AR" sz="1300" b="0" u="none" strike="noStrike" dirty="0">
                          <a:solidFill>
                            <a:srgbClr val="000000"/>
                          </a:solidFill>
                          <a:effectLst/>
                          <a:uFillTx/>
                          <a:latin typeface="Arial"/>
                        </a:rPr>
                        <a:t>Se ejecuta cuando se mantiene presionada una tecla.</a:t>
                      </a:r>
                    </a:p>
                  </a:txBody>
                  <a:tcPr marL="36000" marR="36000" anchor="ctr">
                    <a:lnL w="12700" cap="flat" cmpd="sng" algn="ctr">
                      <a:solidFill>
                        <a:schemeClr val="tx1"/>
                      </a:solidFill>
                      <a:prstDash val="solid"/>
                      <a:round/>
                      <a:headEnd type="none" w="med" len="med"/>
                      <a:tailEnd type="none" w="med" len="me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5"/>
                  </a:ext>
                </a:extLst>
              </a:tr>
              <a:tr h="441000">
                <a:tc>
                  <a:txBody>
                    <a:bodyPr/>
                    <a:lstStyle/>
                    <a:p>
                      <a:pPr>
                        <a:lnSpc>
                          <a:spcPct val="100000"/>
                        </a:lnSpc>
                      </a:pPr>
                      <a:r>
                        <a:rPr lang="es-AR" sz="1300" b="0" u="none" strike="noStrike" dirty="0" err="1">
                          <a:solidFill>
                            <a:srgbClr val="000000"/>
                          </a:solidFill>
                          <a:effectLst/>
                          <a:uFillTx/>
                          <a:latin typeface="Arial"/>
                        </a:rPr>
                        <a:t>Keyup</a:t>
                      </a:r>
                      <a:endParaRPr lang="es-AR" sz="1300" b="0" u="none" strike="noStrike" dirty="0">
                        <a:solidFill>
                          <a:srgbClr val="000000"/>
                        </a:solidFill>
                        <a:effectLst/>
                        <a:uFillTx/>
                        <a:latin typeface="Arial"/>
                      </a:endParaRPr>
                    </a:p>
                  </a:txBody>
                  <a:tcPr marL="36000" marR="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r>
                        <a:rPr lang="es-AR" sz="1300" b="0" u="none" strike="noStrike" dirty="0">
                          <a:solidFill>
                            <a:srgbClr val="000000"/>
                          </a:solidFill>
                          <a:effectLst/>
                          <a:uFillTx/>
                          <a:latin typeface="Arial"/>
                        </a:rPr>
                        <a:t>Se ejecuta cuando se suelta una tecla.</a:t>
                      </a:r>
                    </a:p>
                  </a:txBody>
                  <a:tcPr marL="36000" marR="36000" anchor="ctr">
                    <a:lnL w="12700" cap="flat" cmpd="sng" algn="ctr">
                      <a:solidFill>
                        <a:schemeClr val="tx1"/>
                      </a:solidFill>
                      <a:prstDash val="solid"/>
                      <a:round/>
                      <a:headEnd type="none" w="med" len="med"/>
                      <a:tailEnd type="none" w="med" len="me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CuadroTexto 22"/>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s-ES" sz="2800" b="0" u="none" strike="noStrike">
                <a:solidFill>
                  <a:srgbClr val="0070C0"/>
                </a:solidFill>
                <a:effectLst/>
                <a:uFillTx/>
                <a:latin typeface="Titillium Web SemiBold"/>
                <a:ea typeface="DejaVu Sans"/>
              </a:rPr>
              <a:t>Eventos</a:t>
            </a:r>
            <a:endParaRPr lang="es-AR" sz="2800" b="0" u="none" strike="noStrike">
              <a:solidFill>
                <a:srgbClr val="000000"/>
              </a:solidFill>
              <a:effectLst/>
              <a:uFillTx/>
              <a:latin typeface="Arial"/>
            </a:endParaRPr>
          </a:p>
        </p:txBody>
      </p:sp>
      <p:graphicFrame>
        <p:nvGraphicFramePr>
          <p:cNvPr id="106" name="Tabla 105"/>
          <p:cNvGraphicFramePr/>
          <p:nvPr/>
        </p:nvGraphicFramePr>
        <p:xfrm>
          <a:off x="397080" y="1351440"/>
          <a:ext cx="7609680" cy="4015320"/>
        </p:xfrm>
        <a:graphic>
          <a:graphicData uri="http://schemas.openxmlformats.org/drawingml/2006/table">
            <a:tbl>
              <a:tblPr/>
              <a:tblGrid>
                <a:gridCol w="1581480">
                  <a:extLst>
                    <a:ext uri="{9D8B030D-6E8A-4147-A177-3AD203B41FA5}">
                      <a16:colId xmlns:a16="http://schemas.microsoft.com/office/drawing/2014/main" val="20000"/>
                    </a:ext>
                  </a:extLst>
                </a:gridCol>
                <a:gridCol w="6028200">
                  <a:extLst>
                    <a:ext uri="{9D8B030D-6E8A-4147-A177-3AD203B41FA5}">
                      <a16:colId xmlns:a16="http://schemas.microsoft.com/office/drawing/2014/main" val="20001"/>
                    </a:ext>
                  </a:extLst>
                </a:gridCol>
              </a:tblGrid>
              <a:tr h="441000">
                <a:tc>
                  <a:txBody>
                    <a:bodyPr/>
                    <a:lstStyle/>
                    <a:p>
                      <a:pPr algn="ctr">
                        <a:lnSpc>
                          <a:spcPct val="100000"/>
                        </a:lnSpc>
                      </a:pPr>
                      <a:r>
                        <a:rPr lang="es-AR" sz="1300" b="1" u="none" strike="noStrike">
                          <a:solidFill>
                            <a:srgbClr val="000000"/>
                          </a:solidFill>
                          <a:effectLst/>
                          <a:uFillTx/>
                          <a:latin typeface="Arial"/>
                        </a:rPr>
                        <a:t>Evento</a:t>
                      </a:r>
                      <a:endParaRPr lang="es-AR" sz="13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s-AR" sz="1300" b="1" u="none" strike="noStrike">
                          <a:solidFill>
                            <a:srgbClr val="000000"/>
                          </a:solidFill>
                          <a:effectLst/>
                          <a:uFillTx/>
                          <a:latin typeface="Arial"/>
                        </a:rPr>
                        <a:t>Descripción</a:t>
                      </a:r>
                      <a:endParaRPr lang="es-AR" sz="1300" b="0" u="none" strike="noStrike">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0"/>
                  </a:ext>
                </a:extLst>
              </a:tr>
              <a:tr h="441000">
                <a:tc>
                  <a:txBody>
                    <a:bodyPr/>
                    <a:lstStyle/>
                    <a:p>
                      <a:pPr>
                        <a:lnSpc>
                          <a:spcPct val="100000"/>
                        </a:lnSpc>
                      </a:pPr>
                      <a:r>
                        <a:rPr lang="es-AR" sz="1300" b="0" u="none" strike="noStrike">
                          <a:solidFill>
                            <a:srgbClr val="000000"/>
                          </a:solidFill>
                          <a:effectLst/>
                          <a:uFillTx/>
                          <a:latin typeface="Arial"/>
                        </a:rPr>
                        <a:t>Change</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300" b="0" u="none" strike="noStrike" dirty="0">
                          <a:solidFill>
                            <a:srgbClr val="000000"/>
                          </a:solidFill>
                          <a:effectLst/>
                          <a:uFillTx/>
                          <a:latin typeface="Arial"/>
                        </a:rPr>
                        <a:t>Se ejecuta cuando el valor de un elemento de entrada cambia (input, </a:t>
                      </a:r>
                      <a:r>
                        <a:rPr lang="es-AR" sz="1300" b="0" u="none" strike="noStrike" dirty="0" err="1">
                          <a:solidFill>
                            <a:srgbClr val="000000"/>
                          </a:solidFill>
                          <a:effectLst/>
                          <a:uFillTx/>
                          <a:latin typeface="Arial"/>
                        </a:rPr>
                        <a:t>select</a:t>
                      </a:r>
                      <a:r>
                        <a:rPr lang="es-AR" sz="1300" b="0" u="none" strike="noStrike" dirty="0">
                          <a:solidFill>
                            <a:srgbClr val="000000"/>
                          </a:solidFill>
                          <a:effectLst/>
                          <a:uFillTx/>
                          <a:latin typeface="Arial"/>
                        </a:rPr>
                        <a:t>).</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1"/>
                  </a:ext>
                </a:extLst>
              </a:tr>
              <a:tr h="441000">
                <a:tc>
                  <a:txBody>
                    <a:bodyPr/>
                    <a:lstStyle/>
                    <a:p>
                      <a:pPr>
                        <a:lnSpc>
                          <a:spcPct val="100000"/>
                        </a:lnSpc>
                      </a:pPr>
                      <a:r>
                        <a:rPr lang="es-AR" sz="1300" b="0" u="none" strike="noStrike" dirty="0" err="1">
                          <a:solidFill>
                            <a:srgbClr val="000000"/>
                          </a:solidFill>
                          <a:effectLst/>
                          <a:uFillTx/>
                          <a:latin typeface="Arial"/>
                        </a:rPr>
                        <a:t>Submit</a:t>
                      </a:r>
                      <a:endParaRPr lang="es-AR" sz="1300" b="0" u="none" strike="noStrike" dirty="0">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300" b="0" u="none" strike="noStrike" dirty="0">
                          <a:solidFill>
                            <a:srgbClr val="000000"/>
                          </a:solidFill>
                          <a:effectLst/>
                          <a:uFillTx/>
                          <a:latin typeface="Arial"/>
                        </a:rPr>
                        <a:t>Se ejecuta cuando se envía un formulario.</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2"/>
                  </a:ext>
                </a:extLst>
              </a:tr>
              <a:tr h="441000">
                <a:tc>
                  <a:txBody>
                    <a:bodyPr/>
                    <a:lstStyle/>
                    <a:p>
                      <a:pPr>
                        <a:lnSpc>
                          <a:spcPct val="100000"/>
                        </a:lnSpc>
                      </a:pPr>
                      <a:r>
                        <a:rPr lang="es-AR" sz="1300" b="0" u="none" strike="noStrike" dirty="0" err="1">
                          <a:solidFill>
                            <a:srgbClr val="000000"/>
                          </a:solidFill>
                          <a:effectLst/>
                          <a:uFillTx/>
                          <a:latin typeface="Arial"/>
                        </a:rPr>
                        <a:t>Focus</a:t>
                      </a:r>
                      <a:endParaRPr lang="es-AR" sz="1300" b="0" u="none" strike="noStrike" dirty="0">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300" b="0" u="none" strike="noStrike" dirty="0">
                          <a:solidFill>
                            <a:srgbClr val="000000"/>
                          </a:solidFill>
                          <a:effectLst/>
                          <a:uFillTx/>
                          <a:latin typeface="Arial"/>
                        </a:rPr>
                        <a:t>Se ejecuta cuando un elemento recibe el foco.</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3"/>
                  </a:ext>
                </a:extLst>
              </a:tr>
              <a:tr h="441000">
                <a:tc>
                  <a:txBody>
                    <a:bodyPr/>
                    <a:lstStyle/>
                    <a:p>
                      <a:pPr>
                        <a:lnSpc>
                          <a:spcPct val="100000"/>
                        </a:lnSpc>
                      </a:pPr>
                      <a:r>
                        <a:rPr lang="es-AR" sz="1300" b="0" u="none" strike="noStrike">
                          <a:solidFill>
                            <a:srgbClr val="000000"/>
                          </a:solidFill>
                          <a:effectLst/>
                          <a:uFillTx/>
                          <a:latin typeface="Arial"/>
                        </a:rPr>
                        <a:t>Blur</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300" b="0" u="none" strike="noStrike">
                          <a:solidFill>
                            <a:srgbClr val="000000"/>
                          </a:solidFill>
                          <a:effectLst/>
                          <a:uFillTx/>
                          <a:latin typeface="Arial"/>
                        </a:rPr>
                        <a:t>Se ejecuta cuando un elemento pierde el foco.</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4"/>
                  </a:ext>
                </a:extLst>
              </a:tr>
              <a:tr h="441000">
                <a:tc>
                  <a:txBody>
                    <a:bodyPr/>
                    <a:lstStyle/>
                    <a:p>
                      <a:pPr>
                        <a:lnSpc>
                          <a:spcPct val="100000"/>
                        </a:lnSpc>
                      </a:pPr>
                      <a:r>
                        <a:rPr lang="es-AR" sz="1300" b="0" u="none" strike="noStrike" dirty="0">
                          <a:solidFill>
                            <a:srgbClr val="000000"/>
                          </a:solidFill>
                          <a:effectLst/>
                          <a:uFillTx/>
                          <a:latin typeface="Arial"/>
                        </a:rPr>
                        <a:t>Load</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300" b="0" u="none" strike="noStrike" dirty="0">
                          <a:solidFill>
                            <a:srgbClr val="000000"/>
                          </a:solidFill>
                          <a:effectLst/>
                          <a:uFillTx/>
                          <a:latin typeface="Arial"/>
                        </a:rPr>
                        <a:t>Se ejecuta cuando un recurso (como una imagen) se ha cargado completamente.</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5"/>
                  </a:ext>
                </a:extLst>
              </a:tr>
              <a:tr h="441000">
                <a:tc>
                  <a:txBody>
                    <a:bodyPr/>
                    <a:lstStyle/>
                    <a:p>
                      <a:pPr>
                        <a:lnSpc>
                          <a:spcPct val="100000"/>
                        </a:lnSpc>
                      </a:pPr>
                      <a:r>
                        <a:rPr lang="es-AR" sz="1300" b="0" u="none" strike="noStrike" dirty="0" err="1">
                          <a:solidFill>
                            <a:srgbClr val="000000"/>
                          </a:solidFill>
                          <a:effectLst/>
                          <a:uFillTx/>
                          <a:latin typeface="Arial"/>
                        </a:rPr>
                        <a:t>Scroll</a:t>
                      </a:r>
                      <a:endParaRPr lang="es-AR" sz="1300" b="0" u="none" strike="noStrike" dirty="0">
                        <a:solidFill>
                          <a:srgbClr val="000000"/>
                        </a:solidFill>
                        <a:effectLst/>
                        <a:uFillTx/>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300" b="0" u="none" strike="noStrike" dirty="0">
                          <a:solidFill>
                            <a:srgbClr val="000000"/>
                          </a:solidFill>
                          <a:effectLst/>
                          <a:uFillTx/>
                          <a:latin typeface="Arial"/>
                        </a:rPr>
                        <a:t>Se ejecuta cuando se realiza desplazamiento en un elemento.</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6"/>
                  </a:ext>
                </a:extLst>
              </a:tr>
              <a:tr h="441000">
                <a:tc>
                  <a:txBody>
                    <a:bodyPr/>
                    <a:lstStyle/>
                    <a:p>
                      <a:pPr>
                        <a:lnSpc>
                          <a:spcPct val="100000"/>
                        </a:lnSpc>
                      </a:pPr>
                      <a:r>
                        <a:rPr lang="es-AR" sz="1300" b="0" u="none" strike="noStrike">
                          <a:solidFill>
                            <a:srgbClr val="000000"/>
                          </a:solidFill>
                          <a:effectLst/>
                          <a:uFillTx/>
                          <a:latin typeface="Arial"/>
                        </a:rPr>
                        <a:t>Resize</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300" b="0" u="none" strike="noStrike">
                          <a:solidFill>
                            <a:srgbClr val="000000"/>
                          </a:solidFill>
                          <a:effectLst/>
                          <a:uFillTx/>
                          <a:latin typeface="Arial"/>
                        </a:rPr>
                        <a:t>Se ejecuta cuando se cambia el tamaño de la ventana del navegador.</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7"/>
                  </a:ext>
                </a:extLst>
              </a:tr>
              <a:tr h="440640">
                <a:tc>
                  <a:txBody>
                    <a:bodyPr/>
                    <a:lstStyle/>
                    <a:p>
                      <a:pPr>
                        <a:lnSpc>
                          <a:spcPct val="100000"/>
                        </a:lnSpc>
                      </a:pPr>
                      <a:r>
                        <a:rPr lang="es-AR" sz="1300" b="0" u="none" strike="noStrike">
                          <a:solidFill>
                            <a:srgbClr val="000000"/>
                          </a:solidFill>
                          <a:effectLst/>
                          <a:uFillTx/>
                          <a:latin typeface="Arial"/>
                        </a:rPr>
                        <a:t>Contextmenu</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s-AR" sz="1300" b="0" u="none" strike="noStrike" dirty="0">
                          <a:solidFill>
                            <a:srgbClr val="000000"/>
                          </a:solidFill>
                          <a:effectLst/>
                          <a:uFillTx/>
                          <a:latin typeface="Arial"/>
                        </a:rPr>
                        <a:t>Se ejecuta cuando se hace clic con el botón derecho del mouse en un elemento.</a:t>
                      </a: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adroTexto 3"/>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s-ES" sz="2800" b="0" u="none" strike="noStrike">
                <a:solidFill>
                  <a:srgbClr val="0070C0"/>
                </a:solidFill>
                <a:effectLst/>
                <a:uFillTx/>
                <a:latin typeface="Titillium Web SemiBold"/>
                <a:ea typeface="DejaVu Sans"/>
              </a:rPr>
              <a:t>Funciones</a:t>
            </a:r>
            <a:endParaRPr lang="es-AR" sz="2800" b="0" u="none" strike="noStrike">
              <a:solidFill>
                <a:srgbClr val="000000"/>
              </a:solidFill>
              <a:effectLst/>
              <a:uFillTx/>
              <a:latin typeface="Arial"/>
            </a:endParaRPr>
          </a:p>
        </p:txBody>
      </p:sp>
      <p:sp>
        <p:nvSpPr>
          <p:cNvPr id="108" name="Rectángulo 107"/>
          <p:cNvSpPr/>
          <p:nvPr/>
        </p:nvSpPr>
        <p:spPr>
          <a:xfrm>
            <a:off x="286200" y="1275120"/>
            <a:ext cx="8893440" cy="1004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AR" sz="1500" b="0" u="none" strike="noStrike" dirty="0">
                <a:solidFill>
                  <a:srgbClr val="000000"/>
                </a:solidFill>
                <a:effectLst/>
                <a:uFillTx/>
                <a:latin typeface="Arial"/>
              </a:rPr>
              <a:t>Las funciones son bloques de código reutilizables que realizan una tarea específica. Se definen utilizando la palabra clave </a:t>
            </a:r>
            <a:r>
              <a:rPr lang="es-AR" sz="1500" b="0" u="none" strike="noStrike" dirty="0" err="1">
                <a:solidFill>
                  <a:srgbClr val="000000"/>
                </a:solidFill>
                <a:effectLst/>
                <a:uFillTx/>
                <a:latin typeface="Arial"/>
              </a:rPr>
              <a:t>function</a:t>
            </a:r>
            <a:r>
              <a:rPr lang="es-AR" sz="1500" b="0" u="none" strike="noStrike" dirty="0">
                <a:solidFill>
                  <a:srgbClr val="000000"/>
                </a:solidFill>
                <a:effectLst/>
                <a:uFillTx/>
                <a:latin typeface="Arial"/>
              </a:rPr>
              <a:t>, seguida del nombre de la función y un par de paréntesis (). Si la función toma parámetros, estos se especifican dentro de los paréntesis. </a:t>
            </a:r>
            <a:r>
              <a:rPr lang="es-AR" sz="1500" b="0" u="none" strike="noStrike" dirty="0" smtClean="0">
                <a:solidFill>
                  <a:srgbClr val="000000"/>
                </a:solidFill>
                <a:effectLst/>
                <a:uFillTx/>
                <a:latin typeface="Arial"/>
              </a:rPr>
              <a:t>Ejemplo </a:t>
            </a:r>
            <a:r>
              <a:rPr lang="es-AR" sz="1500" b="0" u="none" strike="noStrike" dirty="0">
                <a:solidFill>
                  <a:srgbClr val="000000"/>
                </a:solidFill>
                <a:effectLst/>
                <a:uFillTx/>
                <a:latin typeface="Arial"/>
              </a:rPr>
              <a:t>de cómo se </a:t>
            </a:r>
            <a:r>
              <a:rPr lang="es-AR" sz="1500" b="0" u="none" strike="noStrike" dirty="0" smtClean="0">
                <a:solidFill>
                  <a:srgbClr val="000000"/>
                </a:solidFill>
                <a:effectLst/>
                <a:uFillTx/>
                <a:latin typeface="Arial"/>
              </a:rPr>
              <a:t>declaración y llamado a una función</a:t>
            </a:r>
            <a:r>
              <a:rPr lang="es-AR" sz="1500" b="0" u="none" strike="noStrike" dirty="0">
                <a:solidFill>
                  <a:srgbClr val="000000"/>
                </a:solidFill>
                <a:effectLst/>
                <a:uFillTx/>
                <a:latin typeface="Arial"/>
              </a:rPr>
              <a:t>:</a:t>
            </a:r>
          </a:p>
        </p:txBody>
      </p:sp>
      <p:pic>
        <p:nvPicPr>
          <p:cNvPr id="109" name="Imagen 108"/>
          <p:cNvPicPr/>
          <p:nvPr/>
        </p:nvPicPr>
        <p:blipFill>
          <a:blip r:embed="rId2"/>
          <a:stretch/>
        </p:blipFill>
        <p:spPr>
          <a:xfrm>
            <a:off x="540000" y="2880000"/>
            <a:ext cx="3680280" cy="1462680"/>
          </a:xfrm>
          <a:prstGeom prst="rect">
            <a:avLst/>
          </a:prstGeom>
          <a:noFill/>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CuadroTexto 18"/>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s-ES" sz="2800" b="0" u="none" strike="noStrike">
                <a:solidFill>
                  <a:srgbClr val="0070C0"/>
                </a:solidFill>
                <a:effectLst/>
                <a:uFillTx/>
                <a:latin typeface="Titillium Web SemiBold"/>
                <a:ea typeface="DejaVu Sans"/>
              </a:rPr>
              <a:t>Funciones</a:t>
            </a:r>
            <a:endParaRPr lang="es-AR" sz="2800" b="0" u="none" strike="noStrike">
              <a:solidFill>
                <a:srgbClr val="000000"/>
              </a:solidFill>
              <a:effectLst/>
              <a:uFillTx/>
              <a:latin typeface="Arial"/>
            </a:endParaRPr>
          </a:p>
        </p:txBody>
      </p:sp>
      <p:sp>
        <p:nvSpPr>
          <p:cNvPr id="111" name="Rectángulo 110"/>
          <p:cNvSpPr/>
          <p:nvPr/>
        </p:nvSpPr>
        <p:spPr>
          <a:xfrm>
            <a:off x="360000" y="1195744"/>
            <a:ext cx="8893440" cy="4025289"/>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s-AR" sz="1400" b="0" u="none" strike="noStrike" dirty="0">
              <a:solidFill>
                <a:srgbClr val="000000"/>
              </a:solidFill>
              <a:effectLst/>
              <a:uFillTx/>
              <a:latin typeface="Arial"/>
            </a:endParaRPr>
          </a:p>
          <a:p>
            <a:pPr marL="216000" indent="-216000">
              <a:lnSpc>
                <a:spcPct val="100000"/>
              </a:lnSpc>
              <a:spcBef>
                <a:spcPts val="907"/>
              </a:spcBef>
              <a:spcAft>
                <a:spcPts val="709"/>
              </a:spcAft>
              <a:buClr>
                <a:srgbClr val="000000"/>
              </a:buClr>
              <a:buFont typeface="Symbol" charset="2"/>
              <a:buChar char=""/>
            </a:pPr>
            <a:r>
              <a:rPr lang="es-AR" sz="1500" b="0" u="none" strike="noStrike" dirty="0" smtClean="0">
                <a:solidFill>
                  <a:srgbClr val="000000"/>
                </a:solidFill>
                <a:effectLst/>
                <a:uFillTx/>
                <a:latin typeface="Arial"/>
                <a:ea typeface="Microsoft YaHei"/>
              </a:rPr>
              <a:t>Cuando </a:t>
            </a:r>
            <a:r>
              <a:rPr lang="es-AR" sz="1500" b="0" u="none" strike="noStrike" dirty="0">
                <a:solidFill>
                  <a:srgbClr val="000000"/>
                </a:solidFill>
                <a:effectLst/>
                <a:uFillTx/>
                <a:latin typeface="Arial"/>
                <a:ea typeface="Microsoft YaHei"/>
              </a:rPr>
              <a:t>una función termina su </a:t>
            </a:r>
            <a:r>
              <a:rPr lang="es-AR" sz="1500" b="0" u="none" strike="noStrike" dirty="0" smtClean="0">
                <a:solidFill>
                  <a:srgbClr val="000000"/>
                </a:solidFill>
                <a:effectLst/>
                <a:uFillTx/>
                <a:latin typeface="Arial"/>
                <a:ea typeface="Microsoft YaHei"/>
              </a:rPr>
              <a:t>ejecución devolverá </a:t>
            </a:r>
            <a:r>
              <a:rPr lang="es-AR" sz="1500" b="0" u="none" strike="noStrike" dirty="0">
                <a:solidFill>
                  <a:srgbClr val="000000"/>
                </a:solidFill>
                <a:effectLst/>
                <a:uFillTx/>
                <a:latin typeface="Arial"/>
                <a:ea typeface="Microsoft YaHei"/>
              </a:rPr>
              <a:t>un valor.</a:t>
            </a:r>
            <a:endParaRPr lang="es-AR" sz="1500" b="0" u="none" strike="noStrike" dirty="0">
              <a:solidFill>
                <a:srgbClr val="000000"/>
              </a:solidFill>
              <a:effectLst/>
              <a:uFillTx/>
              <a:latin typeface="Arial"/>
            </a:endParaRPr>
          </a:p>
          <a:p>
            <a:pPr marL="216000" indent="-216000">
              <a:lnSpc>
                <a:spcPct val="100000"/>
              </a:lnSpc>
              <a:spcBef>
                <a:spcPts val="907"/>
              </a:spcBef>
              <a:spcAft>
                <a:spcPts val="709"/>
              </a:spcAft>
              <a:buClr>
                <a:srgbClr val="000000"/>
              </a:buClr>
              <a:buFont typeface="Symbol" charset="2"/>
              <a:buChar char=""/>
            </a:pPr>
            <a:r>
              <a:rPr lang="es-AR" sz="1500" b="0" u="none" strike="noStrike" dirty="0">
                <a:solidFill>
                  <a:srgbClr val="000000"/>
                </a:solidFill>
                <a:effectLst/>
                <a:uFillTx/>
                <a:latin typeface="Arial"/>
                <a:ea typeface="Microsoft YaHei"/>
              </a:rPr>
              <a:t>Por defecto, el valor de retorno de una función es </a:t>
            </a:r>
            <a:r>
              <a:rPr lang="es-AR" sz="1500" b="0" u="none" strike="noStrike" dirty="0" err="1">
                <a:solidFill>
                  <a:srgbClr val="000000"/>
                </a:solidFill>
                <a:effectLst/>
                <a:uFillTx/>
                <a:latin typeface="Arial"/>
                <a:ea typeface="Microsoft YaHei"/>
              </a:rPr>
              <a:t>undefined</a:t>
            </a:r>
            <a:r>
              <a:rPr lang="es-AR" sz="1500" b="0" u="none" strike="noStrike" dirty="0">
                <a:solidFill>
                  <a:srgbClr val="000000"/>
                </a:solidFill>
                <a:effectLst/>
                <a:uFillTx/>
                <a:latin typeface="Arial"/>
                <a:ea typeface="Microsoft YaHei"/>
              </a:rPr>
              <a:t>.</a:t>
            </a:r>
            <a:endParaRPr lang="es-AR" sz="1500" b="0" u="none" strike="noStrike" dirty="0">
              <a:solidFill>
                <a:srgbClr val="000000"/>
              </a:solidFill>
              <a:effectLst/>
              <a:uFillTx/>
              <a:latin typeface="Arial"/>
            </a:endParaRPr>
          </a:p>
          <a:p>
            <a:pPr marL="216000" indent="-216000">
              <a:lnSpc>
                <a:spcPct val="100000"/>
              </a:lnSpc>
              <a:spcBef>
                <a:spcPts val="907"/>
              </a:spcBef>
              <a:spcAft>
                <a:spcPts val="709"/>
              </a:spcAft>
              <a:buClr>
                <a:srgbClr val="000000"/>
              </a:buClr>
              <a:buFont typeface="Symbol" charset="2"/>
              <a:buChar char=""/>
            </a:pPr>
            <a:r>
              <a:rPr lang="es-AR" sz="1500" b="0" u="none" strike="noStrike" dirty="0">
                <a:solidFill>
                  <a:srgbClr val="000000"/>
                </a:solidFill>
                <a:effectLst/>
                <a:uFillTx/>
                <a:latin typeface="Arial"/>
                <a:ea typeface="Microsoft YaHei"/>
              </a:rPr>
              <a:t>La palabra clave </a:t>
            </a:r>
            <a:r>
              <a:rPr lang="es-AR" sz="1500" b="0" u="none" strike="noStrike" dirty="0" err="1">
                <a:solidFill>
                  <a:srgbClr val="000000"/>
                </a:solidFill>
                <a:effectLst/>
                <a:uFillTx/>
                <a:latin typeface="Arial"/>
                <a:ea typeface="Microsoft YaHei"/>
              </a:rPr>
              <a:t>return</a:t>
            </a:r>
            <a:r>
              <a:rPr lang="es-AR" sz="1500" b="0" u="none" strike="noStrike" dirty="0">
                <a:solidFill>
                  <a:srgbClr val="000000"/>
                </a:solidFill>
                <a:effectLst/>
                <a:uFillTx/>
                <a:latin typeface="Arial"/>
                <a:ea typeface="Microsoft YaHei"/>
              </a:rPr>
              <a:t> se usa para especificar el valor que se devolverá de la función y finaliza la ejecución de la función.</a:t>
            </a:r>
            <a:endParaRPr lang="es-AR" sz="1500" b="0" u="none" strike="noStrike" dirty="0">
              <a:solidFill>
                <a:srgbClr val="000000"/>
              </a:solidFill>
              <a:effectLst/>
              <a:uFillTx/>
              <a:latin typeface="Arial"/>
            </a:endParaRPr>
          </a:p>
          <a:p>
            <a:pPr marL="216000" indent="-216000">
              <a:lnSpc>
                <a:spcPct val="100000"/>
              </a:lnSpc>
              <a:spcBef>
                <a:spcPts val="907"/>
              </a:spcBef>
              <a:spcAft>
                <a:spcPts val="709"/>
              </a:spcAft>
              <a:buClr>
                <a:srgbClr val="000000"/>
              </a:buClr>
              <a:buFont typeface="Symbol" charset="2"/>
              <a:buChar char=""/>
            </a:pPr>
            <a:r>
              <a:rPr lang="es-AR" sz="1500" b="0" u="none" strike="noStrike" dirty="0">
                <a:solidFill>
                  <a:srgbClr val="000000"/>
                </a:solidFill>
                <a:effectLst/>
                <a:uFillTx/>
                <a:latin typeface="Arial"/>
                <a:ea typeface="Microsoft YaHei"/>
              </a:rPr>
              <a:t>Los parámetros por defecto permiten a las funciones tener valores predefinidos que se usarán si no se proporciona un argumento cuando se llama a la función. Esto hace que las funciones sean más flexibles y previene errores en los casos donde ciertos argumentos podrían ser omitidos.</a:t>
            </a:r>
            <a:endParaRPr lang="es-AR" sz="1500" b="0" u="none" strike="noStrike" dirty="0">
              <a:solidFill>
                <a:srgbClr val="000000"/>
              </a:solidFill>
              <a:effectLst/>
              <a:uFillTx/>
              <a:latin typeface="Arial"/>
            </a:endParaRPr>
          </a:p>
          <a:p>
            <a:pPr>
              <a:lnSpc>
                <a:spcPct val="100000"/>
              </a:lnSpc>
              <a:spcBef>
                <a:spcPts val="907"/>
              </a:spcBef>
              <a:spcAft>
                <a:spcPts val="709"/>
              </a:spcAft>
            </a:pPr>
            <a:endParaRPr lang="es-AR" sz="1400" b="0" u="none" strike="noStrike" dirty="0">
              <a:solidFill>
                <a:srgbClr val="000000"/>
              </a:solidFill>
              <a:effectLst/>
              <a:uFillTx/>
              <a:latin typeface="Arial"/>
            </a:endParaRPr>
          </a:p>
          <a:p>
            <a:pPr>
              <a:lnSpc>
                <a:spcPct val="100000"/>
              </a:lnSpc>
            </a:pPr>
            <a:endParaRPr lang="es-AR" sz="1400" b="0" u="none" strike="noStrike" dirty="0">
              <a:solidFill>
                <a:srgbClr val="000000"/>
              </a:solidFill>
              <a:effectLst/>
              <a:uFillTx/>
              <a:latin typeface="Arial"/>
            </a:endParaRPr>
          </a:p>
          <a:p>
            <a:pPr>
              <a:lnSpc>
                <a:spcPct val="100000"/>
              </a:lnSpc>
            </a:pPr>
            <a:endParaRPr lang="es-AR" sz="1400" b="0" u="none" strike="noStrike" dirty="0">
              <a:solidFill>
                <a:srgbClr val="000000"/>
              </a:solidFill>
              <a:effectLst/>
              <a:uFillTx/>
              <a:latin typeface="Arial"/>
            </a:endParaRPr>
          </a:p>
          <a:p>
            <a:pPr>
              <a:lnSpc>
                <a:spcPct val="100000"/>
              </a:lnSpc>
            </a:pPr>
            <a:endParaRPr lang="es-AR" sz="1400" b="0" u="none" strike="noStrike" dirty="0">
              <a:solidFill>
                <a:srgbClr val="000000"/>
              </a:solidFill>
              <a:effectLst/>
              <a:uFillTx/>
              <a:latin typeface="Arial"/>
            </a:endParaRPr>
          </a:p>
          <a:p>
            <a:pPr>
              <a:lnSpc>
                <a:spcPct val="100000"/>
              </a:lnSpc>
            </a:pPr>
            <a:endParaRPr lang="es-AR" sz="1400" b="0" u="none" strike="noStrike" dirty="0">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CuadroTexto 25"/>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s-ES" sz="2800" b="0" u="none" strike="noStrike">
                <a:solidFill>
                  <a:srgbClr val="0070C0"/>
                </a:solidFill>
                <a:effectLst/>
                <a:uFillTx/>
                <a:latin typeface="Titillium Web SemiBold"/>
                <a:ea typeface="DejaVu Sans"/>
              </a:rPr>
              <a:t>Función anónima y función flecha</a:t>
            </a:r>
            <a:endParaRPr lang="es-AR" sz="2800" b="0" u="none" strike="noStrike">
              <a:solidFill>
                <a:srgbClr val="000000"/>
              </a:solidFill>
              <a:effectLst/>
              <a:uFillTx/>
              <a:latin typeface="Arial"/>
            </a:endParaRPr>
          </a:p>
        </p:txBody>
      </p:sp>
      <p:sp>
        <p:nvSpPr>
          <p:cNvPr id="113" name="Rectángulo 112"/>
          <p:cNvSpPr/>
          <p:nvPr/>
        </p:nvSpPr>
        <p:spPr>
          <a:xfrm>
            <a:off x="286200" y="1275120"/>
            <a:ext cx="6553800" cy="312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SzPct val="45000"/>
              <a:buFont typeface="Wingdings" charset="2"/>
              <a:buChar char=""/>
            </a:pPr>
            <a:r>
              <a:rPr lang="es-AR" sz="1300" b="0" u="none" strike="noStrike">
                <a:solidFill>
                  <a:srgbClr val="000000"/>
                </a:solidFill>
                <a:effectLst/>
                <a:uFillTx/>
                <a:latin typeface="Arial"/>
              </a:rPr>
              <a:t>Las funciones anónimas son aquellas que no tienen nombre y se pueden asignar a variables o pasar como argumentos a otras funciones.</a:t>
            </a:r>
          </a:p>
          <a:p>
            <a:pPr>
              <a:lnSpc>
                <a:spcPct val="100000"/>
              </a:lnSpc>
            </a:pPr>
            <a:endParaRPr lang="es-AR" sz="1300" b="0" u="none" strike="noStrike">
              <a:solidFill>
                <a:srgbClr val="000000"/>
              </a:solidFill>
              <a:effectLst/>
              <a:uFillTx/>
              <a:latin typeface="Arial"/>
            </a:endParaRPr>
          </a:p>
          <a:p>
            <a:pPr>
              <a:lnSpc>
                <a:spcPct val="100000"/>
              </a:lnSpc>
            </a:pPr>
            <a:endParaRPr lang="es-AR" sz="1300" b="0" u="none" strike="noStrike">
              <a:solidFill>
                <a:srgbClr val="000000"/>
              </a:solidFill>
              <a:effectLst/>
              <a:uFillTx/>
              <a:latin typeface="Arial"/>
            </a:endParaRPr>
          </a:p>
          <a:p>
            <a:pPr>
              <a:lnSpc>
                <a:spcPct val="100000"/>
              </a:lnSpc>
            </a:pPr>
            <a:endParaRPr lang="es-AR" sz="1300" b="0" u="none" strike="noStrike">
              <a:solidFill>
                <a:srgbClr val="000000"/>
              </a:solidFill>
              <a:effectLst/>
              <a:uFillTx/>
              <a:latin typeface="Arial"/>
            </a:endParaRPr>
          </a:p>
          <a:p>
            <a:pPr>
              <a:lnSpc>
                <a:spcPct val="100000"/>
              </a:lnSpc>
            </a:pPr>
            <a:endParaRPr lang="es-AR" sz="1300" b="0" u="none" strike="noStrike">
              <a:solidFill>
                <a:srgbClr val="000000"/>
              </a:solidFill>
              <a:effectLst/>
              <a:uFillTx/>
              <a:latin typeface="Arial"/>
            </a:endParaRPr>
          </a:p>
          <a:p>
            <a:pPr>
              <a:lnSpc>
                <a:spcPct val="100000"/>
              </a:lnSpc>
            </a:pPr>
            <a:endParaRPr lang="es-AR" sz="1300" b="0" u="none" strike="noStrike">
              <a:solidFill>
                <a:srgbClr val="000000"/>
              </a:solidFill>
              <a:effectLst/>
              <a:uFillTx/>
              <a:latin typeface="Arial"/>
            </a:endParaRPr>
          </a:p>
          <a:p>
            <a:pPr>
              <a:lnSpc>
                <a:spcPct val="100000"/>
              </a:lnSpc>
            </a:pPr>
            <a:endParaRPr lang="es-AR" sz="1300" b="0" u="none" strike="noStrike">
              <a:solidFill>
                <a:srgbClr val="000000"/>
              </a:solidFill>
              <a:effectLst/>
              <a:uFillTx/>
              <a:latin typeface="Arial"/>
            </a:endParaRPr>
          </a:p>
          <a:p>
            <a:pPr>
              <a:lnSpc>
                <a:spcPct val="100000"/>
              </a:lnSpc>
            </a:pPr>
            <a:endParaRPr lang="es-AR" sz="1300" b="0" u="none" strike="noStrike">
              <a:solidFill>
                <a:srgbClr val="000000"/>
              </a:solidFill>
              <a:effectLst/>
              <a:uFillTx/>
              <a:latin typeface="Arial"/>
            </a:endParaRPr>
          </a:p>
          <a:p>
            <a:pPr marL="216000" indent="-216000">
              <a:lnSpc>
                <a:spcPct val="100000"/>
              </a:lnSpc>
              <a:buClr>
                <a:srgbClr val="000000"/>
              </a:buClr>
              <a:buFont typeface="Symbol" charset="2"/>
              <a:buChar char=""/>
            </a:pPr>
            <a:r>
              <a:rPr lang="es-AR" sz="1300" b="0" u="none" strike="noStrike">
                <a:solidFill>
                  <a:srgbClr val="000000"/>
                </a:solidFill>
                <a:effectLst/>
                <a:uFillTx/>
                <a:latin typeface="Arial"/>
              </a:rPr>
              <a:t>Las funciones de flecha son una forma más concisa de escribir funciones anónimas. Omiten la palabra clave function.</a:t>
            </a:r>
          </a:p>
          <a:p>
            <a:pPr>
              <a:lnSpc>
                <a:spcPct val="100000"/>
              </a:lnSpc>
            </a:pPr>
            <a:endParaRPr lang="es-AR" sz="1400" b="0" u="none" strike="noStrike">
              <a:solidFill>
                <a:srgbClr val="000000"/>
              </a:solidFill>
              <a:effectLst/>
              <a:uFillTx/>
              <a:latin typeface="Arial"/>
            </a:endParaRPr>
          </a:p>
          <a:p>
            <a:pPr>
              <a:lnSpc>
                <a:spcPct val="100000"/>
              </a:lnSpc>
            </a:pPr>
            <a:endParaRPr lang="es-AR" sz="1400" b="0" u="none" strike="noStrike">
              <a:solidFill>
                <a:srgbClr val="000000"/>
              </a:solidFill>
              <a:effectLst/>
              <a:uFillTx/>
              <a:latin typeface="Arial"/>
            </a:endParaRPr>
          </a:p>
          <a:p>
            <a:pPr>
              <a:lnSpc>
                <a:spcPct val="100000"/>
              </a:lnSpc>
            </a:pPr>
            <a:endParaRPr lang="es-AR" sz="1400" b="0" u="none" strike="noStrike">
              <a:solidFill>
                <a:srgbClr val="000000"/>
              </a:solidFill>
              <a:effectLst/>
              <a:uFillTx/>
              <a:latin typeface="Arial"/>
            </a:endParaRPr>
          </a:p>
          <a:p>
            <a:pPr>
              <a:lnSpc>
                <a:spcPct val="100000"/>
              </a:lnSpc>
            </a:pPr>
            <a:endParaRPr lang="es-AR" sz="1400" b="0" u="none" strike="noStrike">
              <a:solidFill>
                <a:srgbClr val="000000"/>
              </a:solidFill>
              <a:effectLst/>
              <a:uFillTx/>
              <a:latin typeface="Arial"/>
            </a:endParaRPr>
          </a:p>
        </p:txBody>
      </p:sp>
      <p:pic>
        <p:nvPicPr>
          <p:cNvPr id="114" name="Imagen 113"/>
          <p:cNvPicPr/>
          <p:nvPr/>
        </p:nvPicPr>
        <p:blipFill>
          <a:blip r:embed="rId2"/>
          <a:srcRect t="51623"/>
          <a:stretch/>
        </p:blipFill>
        <p:spPr>
          <a:xfrm>
            <a:off x="891360" y="3600000"/>
            <a:ext cx="3428640" cy="1260000"/>
          </a:xfrm>
          <a:prstGeom prst="rect">
            <a:avLst/>
          </a:prstGeom>
          <a:noFill/>
          <a:ln w="0">
            <a:noFill/>
          </a:ln>
        </p:spPr>
      </p:pic>
      <p:pic>
        <p:nvPicPr>
          <p:cNvPr id="115" name="Imagen 114"/>
          <p:cNvPicPr/>
          <p:nvPr/>
        </p:nvPicPr>
        <p:blipFill>
          <a:blip r:embed="rId2"/>
          <a:srcRect b="51637"/>
          <a:stretch/>
        </p:blipFill>
        <p:spPr>
          <a:xfrm>
            <a:off x="891360" y="1800000"/>
            <a:ext cx="3428640" cy="1259640"/>
          </a:xfrm>
          <a:prstGeom prst="rect">
            <a:avLst/>
          </a:prstGeom>
          <a:noFill/>
          <a:ln w="0">
            <a:noFill/>
          </a:ln>
        </p:spPr>
      </p:pic>
      <p:sp>
        <p:nvSpPr>
          <p:cNvPr id="116" name="CuadroTexto 115"/>
          <p:cNvSpPr txBox="1"/>
          <p:nvPr/>
        </p:nvSpPr>
        <p:spPr>
          <a:xfrm>
            <a:off x="7380000" y="3210120"/>
            <a:ext cx="2340000" cy="1937538"/>
          </a:xfrm>
          <a:prstGeom prst="rect">
            <a:avLst/>
          </a:prstGeom>
          <a:noFill/>
          <a:ln w="0">
            <a:solidFill>
              <a:srgbClr val="3465A4"/>
            </a:solidFill>
          </a:ln>
        </p:spPr>
        <p:txBody>
          <a:bodyPr lIns="90000" tIns="45000" rIns="90000" bIns="45000" anchor="t">
            <a:spAutoFit/>
          </a:bodyPr>
          <a:lstStyle/>
          <a:p>
            <a:r>
              <a:rPr lang="es-AR" sz="1200" b="0" u="none" strike="noStrike" dirty="0">
                <a:solidFill>
                  <a:srgbClr val="000000"/>
                </a:solidFill>
                <a:effectLst/>
                <a:uFillTx/>
                <a:latin typeface="Arial"/>
              </a:rPr>
              <a:t>Usos</a:t>
            </a:r>
            <a:r>
              <a:rPr lang="es-AR" sz="1200" b="0" u="none" strike="noStrike" dirty="0" smtClean="0">
                <a:solidFill>
                  <a:srgbClr val="000000"/>
                </a:solidFill>
                <a:effectLst/>
                <a:uFillTx/>
                <a:latin typeface="Arial"/>
              </a:rPr>
              <a:t>:</a:t>
            </a:r>
          </a:p>
          <a:p>
            <a:endParaRPr lang="es-AR" sz="1200" b="0" u="none" strike="noStrike" dirty="0">
              <a:solidFill>
                <a:srgbClr val="000000"/>
              </a:solidFill>
              <a:effectLst/>
              <a:uFillTx/>
              <a:latin typeface="Arial"/>
            </a:endParaRPr>
          </a:p>
          <a:p>
            <a:r>
              <a:rPr lang="es-AR" sz="1200" b="0" u="none" strike="noStrike" dirty="0">
                <a:solidFill>
                  <a:srgbClr val="000000"/>
                </a:solidFill>
                <a:effectLst/>
                <a:uFillTx/>
                <a:latin typeface="Arial"/>
              </a:rPr>
              <a:t>Usa funciones tradicionales (</a:t>
            </a:r>
            <a:r>
              <a:rPr lang="es-AR" sz="1200" b="0" u="none" strike="noStrike" dirty="0" err="1">
                <a:solidFill>
                  <a:srgbClr val="000000"/>
                </a:solidFill>
                <a:effectLst/>
                <a:uFillTx/>
                <a:latin typeface="Arial"/>
              </a:rPr>
              <a:t>function</a:t>
            </a:r>
            <a:r>
              <a:rPr lang="es-AR" sz="1200" b="0" u="none" strike="noStrike" dirty="0">
                <a:solidFill>
                  <a:srgbClr val="000000"/>
                </a:solidFill>
                <a:effectLst/>
                <a:uFillTx/>
                <a:latin typeface="Arial"/>
              </a:rPr>
              <a:t>) si necesitas llamarlas en diferentes partes del código.</a:t>
            </a:r>
          </a:p>
          <a:p>
            <a:endParaRPr lang="es-AR" sz="1200" b="0" u="none" strike="noStrike" dirty="0" smtClean="0">
              <a:solidFill>
                <a:srgbClr val="000000"/>
              </a:solidFill>
              <a:effectLst/>
              <a:uFillTx/>
              <a:latin typeface="Arial"/>
            </a:endParaRPr>
          </a:p>
          <a:p>
            <a:r>
              <a:rPr lang="es-AR" sz="1200" b="0" u="none" strike="noStrike" dirty="0" smtClean="0">
                <a:solidFill>
                  <a:srgbClr val="000000"/>
                </a:solidFill>
                <a:effectLst/>
                <a:uFillTx/>
                <a:latin typeface="Arial"/>
              </a:rPr>
              <a:t>Usa </a:t>
            </a:r>
            <a:r>
              <a:rPr lang="es-AR" sz="1200" b="0" u="none" strike="noStrike" dirty="0">
                <a:solidFill>
                  <a:srgbClr val="000000"/>
                </a:solidFill>
                <a:effectLst/>
                <a:uFillTx/>
                <a:latin typeface="Arial"/>
              </a:rPr>
              <a:t>funciones anónimas o de flecha (()=&gt;{}) cuando la función solo se necesita en un contexto específico.</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CuadroTexto 26"/>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s-ES" sz="2800" b="0" u="none" strike="noStrike">
                <a:solidFill>
                  <a:srgbClr val="0070C0"/>
                </a:solidFill>
                <a:effectLst/>
                <a:uFillTx/>
                <a:latin typeface="Titillium Web SemiBold"/>
                <a:ea typeface="DejaVu Sans"/>
              </a:rPr>
              <a:t>Arrays</a:t>
            </a:r>
            <a:endParaRPr lang="es-AR" sz="2800" b="0" u="none" strike="noStrike">
              <a:solidFill>
                <a:srgbClr val="000000"/>
              </a:solidFill>
              <a:effectLst/>
              <a:uFillTx/>
              <a:latin typeface="Arial"/>
            </a:endParaRPr>
          </a:p>
        </p:txBody>
      </p:sp>
      <p:sp>
        <p:nvSpPr>
          <p:cNvPr id="118" name="Rectángulo 117"/>
          <p:cNvSpPr/>
          <p:nvPr/>
        </p:nvSpPr>
        <p:spPr>
          <a:xfrm>
            <a:off x="286200" y="1275120"/>
            <a:ext cx="9253800" cy="165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AR" sz="1600" b="0" u="none" strike="noStrike">
                <a:solidFill>
                  <a:srgbClr val="000000"/>
                </a:solidFill>
                <a:effectLst/>
                <a:uFillTx/>
                <a:latin typeface="Arial"/>
              </a:rPr>
              <a:t>Un array en JavaScript es una colección ordenada de valores, cada uno identificado por un índice numérico. Los valores en un array de JavaScript pueden ser de diferentes tipos de datos, incluidos números, cadenas, booleanos, objetos e incluso otros arrays.</a:t>
            </a:r>
          </a:p>
          <a:p>
            <a:pPr>
              <a:lnSpc>
                <a:spcPct val="100000"/>
              </a:lnSpc>
            </a:pPr>
            <a:endParaRPr lang="es-AR" sz="1300" b="0" u="none" strike="noStrike">
              <a:solidFill>
                <a:srgbClr val="000000"/>
              </a:solidFill>
              <a:effectLst/>
              <a:uFillTx/>
              <a:latin typeface="Arial"/>
            </a:endParaRPr>
          </a:p>
          <a:p>
            <a:pPr>
              <a:lnSpc>
                <a:spcPct val="100000"/>
              </a:lnSpc>
            </a:pPr>
            <a:r>
              <a:rPr lang="es-AR" sz="1600" b="0" u="none" strike="noStrike">
                <a:solidFill>
                  <a:srgbClr val="000000"/>
                </a:solidFill>
                <a:effectLst/>
                <a:uFillTx/>
                <a:latin typeface="Arial"/>
              </a:rPr>
              <a:t>Creación de arrays</a:t>
            </a:r>
          </a:p>
          <a:p>
            <a:pPr>
              <a:lnSpc>
                <a:spcPct val="100000"/>
              </a:lnSpc>
            </a:pPr>
            <a:endParaRPr lang="es-AR" sz="1300" b="0" u="none" strike="noStrike">
              <a:solidFill>
                <a:srgbClr val="000000"/>
              </a:solidFill>
              <a:effectLst/>
              <a:uFillTx/>
              <a:latin typeface="Arial"/>
            </a:endParaRPr>
          </a:p>
          <a:p>
            <a:pPr>
              <a:lnSpc>
                <a:spcPct val="100000"/>
              </a:lnSpc>
            </a:pPr>
            <a:endParaRPr lang="es-AR" sz="1300" b="0" u="none" strike="noStrike">
              <a:solidFill>
                <a:srgbClr val="000000"/>
              </a:solidFill>
              <a:effectLst/>
              <a:uFillTx/>
              <a:latin typeface="Arial"/>
            </a:endParaRPr>
          </a:p>
        </p:txBody>
      </p:sp>
      <p:pic>
        <p:nvPicPr>
          <p:cNvPr id="119" name="Imagen 118"/>
          <p:cNvPicPr/>
          <p:nvPr/>
        </p:nvPicPr>
        <p:blipFill>
          <a:blip r:embed="rId2"/>
          <a:stretch/>
        </p:blipFill>
        <p:spPr>
          <a:xfrm>
            <a:off x="540000" y="2652480"/>
            <a:ext cx="3960000" cy="2747520"/>
          </a:xfrm>
          <a:prstGeom prst="rect">
            <a:avLst/>
          </a:prstGeom>
          <a:noFill/>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CuadroTexto 28"/>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s-ES" sz="2800" b="0" u="none" strike="noStrike">
                <a:solidFill>
                  <a:srgbClr val="0070C0"/>
                </a:solidFill>
                <a:effectLst/>
                <a:uFillTx/>
                <a:latin typeface="Titillium Web SemiBold"/>
                <a:ea typeface="DejaVu Sans"/>
              </a:rPr>
              <a:t>Arrays</a:t>
            </a:r>
            <a:endParaRPr lang="es-AR" sz="2800" b="0" u="none" strike="noStrike">
              <a:solidFill>
                <a:srgbClr val="000000"/>
              </a:solidFill>
              <a:effectLst/>
              <a:uFillTx/>
              <a:latin typeface="Arial"/>
            </a:endParaRPr>
          </a:p>
        </p:txBody>
      </p:sp>
      <p:sp>
        <p:nvSpPr>
          <p:cNvPr id="121" name="Rectángulo 120"/>
          <p:cNvSpPr/>
          <p:nvPr/>
        </p:nvSpPr>
        <p:spPr>
          <a:xfrm>
            <a:off x="286200" y="1275120"/>
            <a:ext cx="9253800" cy="1019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AR" sz="1600" b="0" u="none" strike="noStrike">
                <a:solidFill>
                  <a:srgbClr val="000000"/>
                </a:solidFill>
                <a:effectLst/>
                <a:uFillTx/>
                <a:latin typeface="Arial"/>
                <a:ea typeface="Microsoft YaHei"/>
              </a:rPr>
              <a:t>Se accede a elementos individuales dentro de un array utilizando corchetes [] con el índice del elemento que deseas acceder. Los índices en JavaScript comienzan en 0. Para el caso de arrays multidimensionales es necesario especificar el indice de cada dimension.</a:t>
            </a:r>
            <a:endParaRPr lang="es-AR" sz="1600" b="0" u="none" strike="noStrike">
              <a:solidFill>
                <a:srgbClr val="000000"/>
              </a:solidFill>
              <a:effectLst/>
              <a:uFillTx/>
              <a:latin typeface="Arial"/>
            </a:endParaRPr>
          </a:p>
          <a:p>
            <a:pPr>
              <a:lnSpc>
                <a:spcPct val="100000"/>
              </a:lnSpc>
            </a:pPr>
            <a:endParaRPr lang="es-AR" sz="1300" b="0" u="none" strike="noStrike">
              <a:solidFill>
                <a:srgbClr val="000000"/>
              </a:solidFill>
              <a:effectLst/>
              <a:uFillTx/>
              <a:latin typeface="Arial"/>
            </a:endParaRPr>
          </a:p>
        </p:txBody>
      </p:sp>
      <p:pic>
        <p:nvPicPr>
          <p:cNvPr id="122" name="Imagen 121"/>
          <p:cNvPicPr/>
          <p:nvPr/>
        </p:nvPicPr>
        <p:blipFill>
          <a:blip r:embed="rId2"/>
          <a:stretch/>
        </p:blipFill>
        <p:spPr>
          <a:xfrm>
            <a:off x="488520" y="2435760"/>
            <a:ext cx="3291480" cy="624240"/>
          </a:xfrm>
          <a:prstGeom prst="rect">
            <a:avLst/>
          </a:prstGeom>
          <a:noFill/>
          <a:ln w="0">
            <a:noFill/>
          </a:ln>
        </p:spPr>
      </p:pic>
      <p:pic>
        <p:nvPicPr>
          <p:cNvPr id="123" name="Imagen 122"/>
          <p:cNvPicPr/>
          <p:nvPr/>
        </p:nvPicPr>
        <p:blipFill>
          <a:blip r:embed="rId3"/>
          <a:stretch/>
        </p:blipFill>
        <p:spPr>
          <a:xfrm>
            <a:off x="540000" y="3210120"/>
            <a:ext cx="5040000" cy="2009880"/>
          </a:xfrm>
          <a:prstGeom prst="rect">
            <a:avLst/>
          </a:prstGeom>
          <a:noFill/>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CuadroTexto 27"/>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s-ES" sz="2800" b="0" u="none" strike="noStrike">
                <a:solidFill>
                  <a:srgbClr val="0070C0"/>
                </a:solidFill>
                <a:effectLst/>
                <a:uFillTx/>
                <a:latin typeface="Titillium Web SemiBold"/>
                <a:ea typeface="DejaVu Sans"/>
              </a:rPr>
              <a:t>Métodos de arrays</a:t>
            </a:r>
            <a:endParaRPr lang="es-AR" sz="2800" b="0" u="none" strike="noStrike">
              <a:solidFill>
                <a:srgbClr val="000000"/>
              </a:solidFill>
              <a:effectLst/>
              <a:uFillTx/>
              <a:latin typeface="Arial"/>
            </a:endParaRPr>
          </a:p>
        </p:txBody>
      </p:sp>
      <p:sp>
        <p:nvSpPr>
          <p:cNvPr id="125" name="Rectángulo 124"/>
          <p:cNvSpPr/>
          <p:nvPr/>
        </p:nvSpPr>
        <p:spPr>
          <a:xfrm>
            <a:off x="286200" y="1275120"/>
            <a:ext cx="9253800" cy="3609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Bef>
                <a:spcPts val="850"/>
              </a:spcBef>
              <a:spcAft>
                <a:spcPts val="850"/>
              </a:spcAft>
            </a:pPr>
            <a:r>
              <a:rPr lang="es-AR" sz="1600" b="0" u="none" strike="noStrike">
                <a:solidFill>
                  <a:srgbClr val="000000"/>
                </a:solidFill>
                <a:effectLst/>
                <a:uFillTx/>
                <a:latin typeface="Arial"/>
                <a:ea typeface="Microsoft YaHei"/>
              </a:rPr>
              <a:t>push(): se utiliza para agregar elementos al final del arreglo y devolverá la nueva longitud.</a:t>
            </a:r>
          </a:p>
          <a:p>
            <a:pPr>
              <a:lnSpc>
                <a:spcPct val="100000"/>
              </a:lnSpc>
              <a:spcBef>
                <a:spcPts val="850"/>
              </a:spcBef>
              <a:spcAft>
                <a:spcPts val="850"/>
              </a:spcAft>
            </a:pPr>
            <a:endParaRPr lang="es-AR" sz="1600" b="0" u="none" strike="noStrike">
              <a:solidFill>
                <a:srgbClr val="000000"/>
              </a:solidFill>
              <a:effectLst/>
              <a:uFillTx/>
              <a:latin typeface="Arial"/>
              <a:ea typeface="Microsoft YaHei"/>
            </a:endParaRPr>
          </a:p>
          <a:p>
            <a:pPr>
              <a:lnSpc>
                <a:spcPct val="100000"/>
              </a:lnSpc>
              <a:spcBef>
                <a:spcPts val="850"/>
              </a:spcBef>
              <a:spcAft>
                <a:spcPts val="850"/>
              </a:spcAft>
            </a:pPr>
            <a:r>
              <a:rPr lang="es-AR" sz="1600" b="0" u="none" strike="noStrike">
                <a:solidFill>
                  <a:srgbClr val="000000"/>
                </a:solidFill>
                <a:effectLst/>
                <a:uFillTx/>
                <a:latin typeface="Arial"/>
                <a:ea typeface="Microsoft YaHei"/>
              </a:rPr>
              <a:t>pop(): Este método se utiliza para eliminar el último elemento de un arreglo y devolverá ese elemento eliminado. Si el arreglo está vacío, entonces el valor devuelto será undefined.</a:t>
            </a:r>
          </a:p>
          <a:p>
            <a:pPr>
              <a:lnSpc>
                <a:spcPct val="100000"/>
              </a:lnSpc>
              <a:spcBef>
                <a:spcPts val="850"/>
              </a:spcBef>
              <a:spcAft>
                <a:spcPts val="850"/>
              </a:spcAft>
            </a:pPr>
            <a:endParaRPr lang="es-AR" sz="1600" b="0" u="none" strike="noStrike">
              <a:solidFill>
                <a:srgbClr val="000000"/>
              </a:solidFill>
              <a:effectLst/>
              <a:uFillTx/>
              <a:latin typeface="Arial"/>
              <a:ea typeface="Microsoft YaHei"/>
            </a:endParaRPr>
          </a:p>
          <a:p>
            <a:pPr>
              <a:lnSpc>
                <a:spcPct val="100000"/>
              </a:lnSpc>
              <a:spcBef>
                <a:spcPts val="850"/>
              </a:spcBef>
              <a:spcAft>
                <a:spcPts val="850"/>
              </a:spcAft>
            </a:pPr>
            <a:r>
              <a:rPr lang="es-AR" sz="1600" b="0" u="none" strike="noStrike">
                <a:solidFill>
                  <a:srgbClr val="000000"/>
                </a:solidFill>
                <a:effectLst/>
                <a:uFillTx/>
                <a:latin typeface="Arial"/>
                <a:ea typeface="Microsoft YaHei"/>
              </a:rPr>
              <a:t>shift(): se utiliza para eliminar el primer elemento de un arreglo y devolver ese elemento eliminado. Si el arreglo está vacío, entonces el valor devuelto será undefined.</a:t>
            </a:r>
          </a:p>
          <a:p>
            <a:pPr>
              <a:lnSpc>
                <a:spcPct val="100000"/>
              </a:lnSpc>
              <a:spcBef>
                <a:spcPts val="850"/>
              </a:spcBef>
              <a:spcAft>
                <a:spcPts val="850"/>
              </a:spcAft>
            </a:pPr>
            <a:endParaRPr lang="es-AR" sz="1800" b="0" u="none" strike="noStrike">
              <a:solidFill>
                <a:srgbClr val="000000"/>
              </a:solidFill>
              <a:effectLst/>
              <a:uFillTx/>
              <a:latin typeface="Arial"/>
              <a:ea typeface="Microsoft YaHei"/>
            </a:endParaRPr>
          </a:p>
          <a:p>
            <a:pPr>
              <a:lnSpc>
                <a:spcPct val="100000"/>
              </a:lnSpc>
              <a:spcBef>
                <a:spcPts val="850"/>
              </a:spcBef>
              <a:spcAft>
                <a:spcPts val="850"/>
              </a:spcAft>
            </a:pPr>
            <a:r>
              <a:rPr lang="es-AR" sz="1600" b="0" u="none" strike="noStrike">
                <a:solidFill>
                  <a:srgbClr val="000000"/>
                </a:solidFill>
                <a:effectLst/>
                <a:uFillTx/>
                <a:latin typeface="Arial"/>
                <a:ea typeface="Microsoft YaHei"/>
              </a:rPr>
              <a:t>unshift(): se utiliza para agregar elementos al inicio del arreglo y devolverá la nueva longitud.</a:t>
            </a:r>
          </a:p>
        </p:txBody>
      </p:sp>
      <p:pic>
        <p:nvPicPr>
          <p:cNvPr id="126" name="Imagen 125"/>
          <p:cNvPicPr/>
          <p:nvPr/>
        </p:nvPicPr>
        <p:blipFill>
          <a:blip r:embed="rId2"/>
          <a:stretch/>
        </p:blipFill>
        <p:spPr>
          <a:xfrm>
            <a:off x="2571120" y="1080000"/>
            <a:ext cx="3908880" cy="212760"/>
          </a:xfrm>
          <a:prstGeom prst="rect">
            <a:avLst/>
          </a:prstGeom>
          <a:noFill/>
          <a:ln w="0">
            <a:noFill/>
          </a:ln>
        </p:spPr>
      </p:pic>
      <p:pic>
        <p:nvPicPr>
          <p:cNvPr id="127" name="Imagen 126"/>
          <p:cNvPicPr/>
          <p:nvPr/>
        </p:nvPicPr>
        <p:blipFill>
          <a:blip r:embed="rId3"/>
          <a:stretch/>
        </p:blipFill>
        <p:spPr>
          <a:xfrm>
            <a:off x="720000" y="1656360"/>
            <a:ext cx="6120000" cy="503640"/>
          </a:xfrm>
          <a:prstGeom prst="rect">
            <a:avLst/>
          </a:prstGeom>
          <a:noFill/>
          <a:ln w="0">
            <a:noFill/>
          </a:ln>
        </p:spPr>
      </p:pic>
      <p:pic>
        <p:nvPicPr>
          <p:cNvPr id="128" name="Imagen 127"/>
          <p:cNvPicPr/>
          <p:nvPr/>
        </p:nvPicPr>
        <p:blipFill>
          <a:blip r:embed="rId4"/>
          <a:stretch/>
        </p:blipFill>
        <p:spPr>
          <a:xfrm>
            <a:off x="731160" y="2836800"/>
            <a:ext cx="4308840" cy="471960"/>
          </a:xfrm>
          <a:prstGeom prst="rect">
            <a:avLst/>
          </a:prstGeom>
          <a:noFill/>
          <a:ln w="0">
            <a:noFill/>
          </a:ln>
        </p:spPr>
      </p:pic>
      <p:pic>
        <p:nvPicPr>
          <p:cNvPr id="129" name="Imagen 128"/>
          <p:cNvPicPr/>
          <p:nvPr/>
        </p:nvPicPr>
        <p:blipFill>
          <a:blip r:embed="rId5"/>
          <a:stretch/>
        </p:blipFill>
        <p:spPr>
          <a:xfrm>
            <a:off x="720000" y="4032000"/>
            <a:ext cx="4140000" cy="476280"/>
          </a:xfrm>
          <a:prstGeom prst="rect">
            <a:avLst/>
          </a:prstGeom>
          <a:noFill/>
          <a:ln w="0">
            <a:noFill/>
          </a:ln>
        </p:spPr>
      </p:pic>
      <p:pic>
        <p:nvPicPr>
          <p:cNvPr id="130" name="Imagen 129"/>
          <p:cNvPicPr/>
          <p:nvPr/>
        </p:nvPicPr>
        <p:blipFill>
          <a:blip r:embed="rId6"/>
          <a:stretch/>
        </p:blipFill>
        <p:spPr>
          <a:xfrm>
            <a:off x="637920" y="4961160"/>
            <a:ext cx="6022080" cy="491040"/>
          </a:xfrm>
          <a:prstGeom prst="rect">
            <a:avLst/>
          </a:prstGeom>
          <a:noFill/>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CuadroTexto 29"/>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s-ES" sz="2800" b="0" u="none" strike="noStrike">
                <a:solidFill>
                  <a:srgbClr val="0070C0"/>
                </a:solidFill>
                <a:effectLst/>
                <a:uFillTx/>
                <a:latin typeface="Titillium Web SemiBold"/>
                <a:ea typeface="DejaVu Sans"/>
              </a:rPr>
              <a:t>Métodos de arrays</a:t>
            </a:r>
            <a:endParaRPr lang="es-AR" sz="2800" b="0" u="none" strike="noStrike">
              <a:solidFill>
                <a:srgbClr val="000000"/>
              </a:solidFill>
              <a:effectLst/>
              <a:uFillTx/>
              <a:latin typeface="Arial"/>
            </a:endParaRPr>
          </a:p>
        </p:txBody>
      </p:sp>
      <p:sp>
        <p:nvSpPr>
          <p:cNvPr id="132" name="Rectángulo 131"/>
          <p:cNvSpPr/>
          <p:nvPr/>
        </p:nvSpPr>
        <p:spPr>
          <a:xfrm>
            <a:off x="286200" y="1059120"/>
            <a:ext cx="9253800" cy="3594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es-AR" sz="1500" b="0" u="none" strike="noStrike">
                <a:solidFill>
                  <a:srgbClr val="000000"/>
                </a:solidFill>
                <a:effectLst/>
                <a:uFillTx/>
                <a:latin typeface="Arial"/>
                <a:ea typeface="Microsoft YaHei"/>
              </a:rPr>
              <a:t>Método indexOf(): Este método es útil para encontrar el primer índice de un elemento específico dentro de un arreglo. Si no se puede encontrar el elemento, entonces devolverá -1.</a:t>
            </a:r>
            <a:endParaRPr lang="es-AR" sz="1500" b="0" u="none" strike="noStrike">
              <a:solidFill>
                <a:srgbClr val="000000"/>
              </a:solidFill>
              <a:effectLst/>
              <a:uFillTx/>
              <a:latin typeface="Arial"/>
            </a:endParaRPr>
          </a:p>
          <a:p>
            <a:pPr algn="just">
              <a:lnSpc>
                <a:spcPct val="100000"/>
              </a:lnSpc>
            </a:pPr>
            <a:endParaRPr lang="es-AR" sz="1600" b="0" u="none" strike="noStrike">
              <a:solidFill>
                <a:srgbClr val="000000"/>
              </a:solidFill>
              <a:effectLst/>
              <a:uFillTx/>
              <a:latin typeface="Arial"/>
            </a:endParaRPr>
          </a:p>
          <a:p>
            <a:pPr algn="just">
              <a:lnSpc>
                <a:spcPct val="100000"/>
              </a:lnSpc>
            </a:pPr>
            <a:endParaRPr lang="es-AR" sz="1600" b="0" u="none" strike="noStrike">
              <a:solidFill>
                <a:srgbClr val="000000"/>
              </a:solidFill>
              <a:effectLst/>
              <a:uFillTx/>
              <a:latin typeface="Arial"/>
            </a:endParaRPr>
          </a:p>
          <a:p>
            <a:pPr algn="just">
              <a:lnSpc>
                <a:spcPct val="100000"/>
              </a:lnSpc>
            </a:pPr>
            <a:endParaRPr lang="es-AR" sz="1600" b="0" u="none" strike="noStrike">
              <a:solidFill>
                <a:srgbClr val="000000"/>
              </a:solidFill>
              <a:effectLst/>
              <a:uFillTx/>
              <a:latin typeface="Arial"/>
            </a:endParaRPr>
          </a:p>
          <a:p>
            <a:pPr algn="just">
              <a:lnSpc>
                <a:spcPct val="100000"/>
              </a:lnSpc>
            </a:pPr>
            <a:r>
              <a:rPr lang="es-AR" sz="1500" b="0" u="none" strike="noStrike">
                <a:solidFill>
                  <a:srgbClr val="000000"/>
                </a:solidFill>
                <a:effectLst/>
                <a:uFillTx/>
                <a:latin typeface="Arial"/>
                <a:ea typeface="Microsoft YaHei"/>
              </a:rPr>
              <a:t>Método splice(): Este método se utiliza para agregar o eliminar elementos desde cualquier posición en un arreglo. El valor de retorno para el método splice() será un arreglo de los elementos eliminados del arreglo. El primer argumento especifica el índice en el que se comenzará a modificar el arreglo. El segundo argumento es el número de elementos que deseas eliminar. Los siguientes argumentos son los elementos que deseas agregar.</a:t>
            </a:r>
            <a:endParaRPr lang="es-AR" sz="1500" b="0" u="none" strike="noStrike">
              <a:solidFill>
                <a:srgbClr val="000000"/>
              </a:solidFill>
              <a:effectLst/>
              <a:uFillTx/>
              <a:latin typeface="Arial"/>
            </a:endParaRPr>
          </a:p>
          <a:p>
            <a:pPr algn="just">
              <a:lnSpc>
                <a:spcPct val="100000"/>
              </a:lnSpc>
            </a:pPr>
            <a:endParaRPr lang="es-AR" sz="1500" b="0" u="none" strike="noStrike">
              <a:solidFill>
                <a:srgbClr val="000000"/>
              </a:solidFill>
              <a:effectLst/>
              <a:uFillTx/>
              <a:latin typeface="Arial"/>
            </a:endParaRPr>
          </a:p>
          <a:p>
            <a:pPr algn="just">
              <a:lnSpc>
                <a:spcPct val="100000"/>
              </a:lnSpc>
            </a:pPr>
            <a:endParaRPr lang="es-AR" sz="1600" b="0" u="none" strike="noStrike">
              <a:solidFill>
                <a:srgbClr val="000000"/>
              </a:solidFill>
              <a:effectLst/>
              <a:uFillTx/>
              <a:latin typeface="Arial"/>
            </a:endParaRPr>
          </a:p>
          <a:p>
            <a:pPr algn="just">
              <a:lnSpc>
                <a:spcPct val="100000"/>
              </a:lnSpc>
            </a:pPr>
            <a:endParaRPr lang="es-AR" sz="1600" b="0" u="none" strike="noStrike">
              <a:solidFill>
                <a:srgbClr val="000000"/>
              </a:solidFill>
              <a:effectLst/>
              <a:uFillTx/>
              <a:latin typeface="Arial"/>
            </a:endParaRPr>
          </a:p>
          <a:p>
            <a:pPr algn="just">
              <a:lnSpc>
                <a:spcPct val="100000"/>
              </a:lnSpc>
            </a:pPr>
            <a:r>
              <a:rPr lang="es-AR" sz="1500" b="0" u="none" strike="noStrike">
                <a:solidFill>
                  <a:srgbClr val="000000"/>
                </a:solidFill>
                <a:effectLst/>
                <a:uFillTx/>
                <a:latin typeface="Arial"/>
                <a:ea typeface="Microsoft YaHei"/>
              </a:rPr>
              <a:t>Método includes(): Este método se utiliza para verificar si un arreglo contiene un valor específico. Este método devuelve true si el arreglo contiene el elemento especificado, y false de lo contrario.</a:t>
            </a:r>
            <a:endParaRPr lang="es-AR" sz="1500" b="0" u="none" strike="noStrike">
              <a:solidFill>
                <a:srgbClr val="000000"/>
              </a:solidFill>
              <a:effectLst/>
              <a:uFillTx/>
              <a:latin typeface="Arial"/>
            </a:endParaRPr>
          </a:p>
        </p:txBody>
      </p:sp>
      <p:pic>
        <p:nvPicPr>
          <p:cNvPr id="133" name="Imagen 132"/>
          <p:cNvPicPr/>
          <p:nvPr/>
        </p:nvPicPr>
        <p:blipFill>
          <a:blip r:embed="rId2"/>
          <a:stretch/>
        </p:blipFill>
        <p:spPr>
          <a:xfrm>
            <a:off x="540000" y="3480120"/>
            <a:ext cx="5315400" cy="623880"/>
          </a:xfrm>
          <a:prstGeom prst="rect">
            <a:avLst/>
          </a:prstGeom>
          <a:noFill/>
          <a:ln w="0">
            <a:noFill/>
          </a:ln>
        </p:spPr>
      </p:pic>
      <p:pic>
        <p:nvPicPr>
          <p:cNvPr id="134" name="Imagen 133"/>
          <p:cNvPicPr/>
          <p:nvPr/>
        </p:nvPicPr>
        <p:blipFill>
          <a:blip r:embed="rId3"/>
          <a:stretch/>
        </p:blipFill>
        <p:spPr>
          <a:xfrm>
            <a:off x="491400" y="4653360"/>
            <a:ext cx="5268600" cy="624600"/>
          </a:xfrm>
          <a:prstGeom prst="rect">
            <a:avLst/>
          </a:prstGeom>
          <a:noFill/>
          <a:ln w="0">
            <a:noFill/>
          </a:ln>
        </p:spPr>
      </p:pic>
      <p:pic>
        <p:nvPicPr>
          <p:cNvPr id="135" name="Imagen 134"/>
          <p:cNvPicPr/>
          <p:nvPr/>
        </p:nvPicPr>
        <p:blipFill>
          <a:blip r:embed="rId4"/>
          <a:stretch/>
        </p:blipFill>
        <p:spPr>
          <a:xfrm>
            <a:off x="540000" y="1620000"/>
            <a:ext cx="4913280" cy="628920"/>
          </a:xfrm>
          <a:prstGeom prst="rect">
            <a:avLst/>
          </a:prstGeom>
          <a:noFill/>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CuadroTexto 19"/>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s-ES" sz="2800" b="0" u="none" strike="noStrike">
                <a:solidFill>
                  <a:srgbClr val="0070C0"/>
                </a:solidFill>
                <a:effectLst/>
                <a:uFillTx/>
                <a:latin typeface="Titillium Web SemiBold"/>
                <a:ea typeface="DejaVu Sans"/>
              </a:rPr>
              <a:t>Diálogos con JavaScript</a:t>
            </a:r>
            <a:endParaRPr lang="es-AR" sz="2800" b="0" u="none" strike="noStrike">
              <a:solidFill>
                <a:srgbClr val="000000"/>
              </a:solidFill>
              <a:effectLst/>
              <a:uFillTx/>
              <a:latin typeface="Arial"/>
            </a:endParaRPr>
          </a:p>
        </p:txBody>
      </p:sp>
      <p:sp>
        <p:nvSpPr>
          <p:cNvPr id="137" name="Rectángulo 136"/>
          <p:cNvSpPr/>
          <p:nvPr/>
        </p:nvSpPr>
        <p:spPr>
          <a:xfrm>
            <a:off x="286200" y="1275120"/>
            <a:ext cx="8533800" cy="348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SzPct val="45000"/>
              <a:buFont typeface="Wingdings" charset="2"/>
              <a:buChar char=""/>
            </a:pPr>
            <a:r>
              <a:rPr lang="es-AR" sz="1500" b="0" u="none" strike="noStrike">
                <a:solidFill>
                  <a:srgbClr val="000000"/>
                </a:solidFill>
                <a:effectLst/>
                <a:uFillTx/>
                <a:latin typeface="Arial"/>
                <a:ea typeface="Microsoft YaHei"/>
              </a:rPr>
              <a:t>Los diálogos te permiten mostrar información importante o acciones a los usuarios.</a:t>
            </a:r>
            <a:endParaRPr lang="es-AR" sz="15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endParaRPr lang="es-AR" sz="15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s-AR" sz="1500" b="0" u="none" strike="noStrike">
                <a:solidFill>
                  <a:srgbClr val="000000"/>
                </a:solidFill>
                <a:effectLst/>
                <a:uFillTx/>
                <a:latin typeface="Arial"/>
                <a:ea typeface="Microsoft YaHei"/>
              </a:rPr>
              <a:t>El elemento diálogo, incorporado en HTML, permite crear fácilmente diálogos en tus aplicaciones web.</a:t>
            </a:r>
            <a:endParaRPr lang="es-AR" sz="15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endParaRPr lang="es-AR" sz="15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s-AR" sz="1500" b="0" u="none" strike="noStrike">
                <a:solidFill>
                  <a:srgbClr val="000000"/>
                </a:solidFill>
                <a:effectLst/>
                <a:uFillTx/>
                <a:latin typeface="Arial"/>
                <a:ea typeface="Microsoft YaHei"/>
              </a:rPr>
              <a:t>Un diálogo modal es un tipo de diálogo que obliga al usuario a interactuar con él antes de poder acceder al resto de la aplicación o página web. En contraste, un diálogo no modal permite al usuario seguir interactuando con otras partes de la página o aplicación incluso cuando el diálogo está abierto.</a:t>
            </a:r>
            <a:endParaRPr lang="es-AR" sz="15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endParaRPr lang="es-AR" sz="15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s-AR" sz="1500" b="0" u="none" strike="noStrike">
                <a:solidFill>
                  <a:srgbClr val="000000"/>
                </a:solidFill>
                <a:effectLst/>
                <a:uFillTx/>
                <a:latin typeface="Arial"/>
                <a:ea typeface="Microsoft YaHei"/>
              </a:rPr>
              <a:t>Hay distintas formas de armar un dialogo. Los métodos en javascript para interactuar con ellos son: </a:t>
            </a:r>
            <a:endParaRPr lang="es-AR" sz="15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endParaRPr lang="es-AR" sz="13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s-AR" sz="1500" b="0" u="none" strike="noStrike">
                <a:solidFill>
                  <a:srgbClr val="000000"/>
                </a:solidFill>
                <a:effectLst/>
                <a:uFillTx/>
                <a:latin typeface="Arial"/>
                <a:ea typeface="Microsoft YaHei"/>
              </a:rPr>
              <a:t>show()/ShowModal(): para abrir un dialogo.</a:t>
            </a:r>
            <a:endParaRPr lang="es-AR" sz="15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s-AR" sz="1500" b="0" u="none" strike="noStrike">
                <a:solidFill>
                  <a:srgbClr val="000000"/>
                </a:solidFill>
                <a:effectLst/>
                <a:uFillTx/>
                <a:latin typeface="Arial"/>
                <a:ea typeface="Microsoft YaHei"/>
              </a:rPr>
              <a:t>close(): para cerrar el dialogo.</a:t>
            </a:r>
            <a:endParaRPr lang="es-AR" sz="15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CuadroTexto 24"/>
          <p:cNvSpPr/>
          <p:nvPr/>
        </p:nvSpPr>
        <p:spPr>
          <a:xfrm>
            <a:off x="310320" y="501840"/>
            <a:ext cx="10137600" cy="51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spcBef>
                <a:spcPts val="1191"/>
              </a:spcBef>
              <a:spcAft>
                <a:spcPts val="992"/>
              </a:spcAft>
            </a:pPr>
            <a:r>
              <a:rPr lang="es-ES" sz="2800" b="0" u="none" strike="noStrike">
                <a:solidFill>
                  <a:srgbClr val="0070C0"/>
                </a:solidFill>
                <a:effectLst/>
                <a:uFillTx/>
                <a:latin typeface="Titillium Web SemiBold"/>
                <a:ea typeface="DejaVu Sans"/>
              </a:rPr>
              <a:t>setTimeout() y setInterval()</a:t>
            </a:r>
            <a:endParaRPr lang="es-AR" sz="2800" b="0" u="none" strike="noStrike">
              <a:solidFill>
                <a:srgbClr val="000000"/>
              </a:solidFill>
              <a:effectLst/>
              <a:uFillTx/>
              <a:latin typeface="Arial"/>
            </a:endParaRPr>
          </a:p>
        </p:txBody>
      </p:sp>
      <p:sp>
        <p:nvSpPr>
          <p:cNvPr id="139" name="Rectángulo 138"/>
          <p:cNvSpPr/>
          <p:nvPr/>
        </p:nvSpPr>
        <p:spPr>
          <a:xfrm>
            <a:off x="286200" y="1275120"/>
            <a:ext cx="7993800" cy="2316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SzPct val="45000"/>
              <a:buFont typeface="Wingdings" charset="2"/>
              <a:buChar char=""/>
            </a:pPr>
            <a:r>
              <a:rPr lang="es-AR" sz="1300" b="0" u="none" strike="noStrike" dirty="0" err="1">
                <a:solidFill>
                  <a:srgbClr val="000000"/>
                </a:solidFill>
                <a:effectLst/>
                <a:uFillTx/>
                <a:latin typeface="Arial"/>
              </a:rPr>
              <a:t>setTimeout</a:t>
            </a:r>
            <a:r>
              <a:rPr lang="es-AR" sz="1300" b="0" u="none" strike="noStrike" dirty="0">
                <a:solidFill>
                  <a:srgbClr val="000000"/>
                </a:solidFill>
                <a:effectLst/>
                <a:uFillTx/>
                <a:latin typeface="Arial"/>
              </a:rPr>
              <a:t>(): Este método te permite retrasar una acción por un tiempo especificado.</a:t>
            </a:r>
          </a:p>
          <a:p>
            <a:pPr>
              <a:lnSpc>
                <a:spcPct val="100000"/>
              </a:lnSpc>
            </a:pPr>
            <a:endParaRPr lang="es-AR" sz="1300" b="0" u="none" strike="noStrike" dirty="0">
              <a:solidFill>
                <a:srgbClr val="000000"/>
              </a:solidFill>
              <a:effectLst/>
              <a:uFillTx/>
              <a:latin typeface="Arial"/>
            </a:endParaRPr>
          </a:p>
          <a:p>
            <a:pPr>
              <a:lnSpc>
                <a:spcPct val="100000"/>
              </a:lnSpc>
            </a:pPr>
            <a:endParaRPr lang="es-AR" sz="1300" b="0" u="none" strike="noStrike" dirty="0">
              <a:solidFill>
                <a:srgbClr val="000000"/>
              </a:solidFill>
              <a:effectLst/>
              <a:uFillTx/>
              <a:latin typeface="Arial"/>
            </a:endParaRPr>
          </a:p>
          <a:p>
            <a:pPr>
              <a:lnSpc>
                <a:spcPct val="100000"/>
              </a:lnSpc>
            </a:pPr>
            <a:endParaRPr lang="es-AR" sz="1300" b="0" u="none" strike="noStrike" dirty="0">
              <a:solidFill>
                <a:srgbClr val="000000"/>
              </a:solidFill>
              <a:effectLst/>
              <a:uFillTx/>
              <a:latin typeface="Arial"/>
            </a:endParaRPr>
          </a:p>
          <a:p>
            <a:pPr>
              <a:lnSpc>
                <a:spcPct val="100000"/>
              </a:lnSpc>
            </a:pPr>
            <a:endParaRPr lang="es-AR" sz="1300" b="0" u="none" strike="noStrike" dirty="0">
              <a:solidFill>
                <a:srgbClr val="000000"/>
              </a:solidFill>
              <a:effectLst/>
              <a:uFillTx/>
              <a:latin typeface="Arial"/>
            </a:endParaRPr>
          </a:p>
          <a:p>
            <a:pPr>
              <a:lnSpc>
                <a:spcPct val="100000"/>
              </a:lnSpc>
            </a:pPr>
            <a:endParaRPr lang="es-AR" sz="1300" b="0" u="none" strike="noStrike" dirty="0">
              <a:solidFill>
                <a:srgbClr val="000000"/>
              </a:solidFill>
              <a:effectLst/>
              <a:uFillTx/>
              <a:latin typeface="Arial"/>
            </a:endParaRPr>
          </a:p>
          <a:p>
            <a:pPr marL="285750" indent="-285750">
              <a:lnSpc>
                <a:spcPct val="100000"/>
              </a:lnSpc>
              <a:buClr>
                <a:srgbClr val="000000"/>
              </a:buClr>
              <a:buFont typeface="Arial" panose="020B0604020202020204" pitchFamily="34" charset="0"/>
              <a:buChar char="•"/>
            </a:pPr>
            <a:r>
              <a:rPr lang="es-AR" sz="1300" b="0" u="none" strike="noStrike" dirty="0" err="1">
                <a:solidFill>
                  <a:srgbClr val="000000"/>
                </a:solidFill>
                <a:effectLst/>
                <a:uFillTx/>
                <a:latin typeface="Arial"/>
                <a:ea typeface="Microsoft YaHei"/>
              </a:rPr>
              <a:t>setInterval</a:t>
            </a:r>
            <a:r>
              <a:rPr lang="es-AR" sz="1300" b="0" u="none" strike="noStrike" dirty="0">
                <a:solidFill>
                  <a:srgbClr val="000000"/>
                </a:solidFill>
                <a:effectLst/>
                <a:uFillTx/>
                <a:latin typeface="Arial"/>
                <a:ea typeface="Microsoft YaHei"/>
              </a:rPr>
              <a:t>(): Este método ejecuta un fragmento de código repetidamente en un intervalo establecido. Para detenerlo se usa el método </a:t>
            </a:r>
            <a:r>
              <a:rPr lang="es-AR" sz="1300" b="0" u="none" strike="noStrike" dirty="0" err="1">
                <a:solidFill>
                  <a:srgbClr val="000000"/>
                </a:solidFill>
                <a:effectLst/>
                <a:uFillTx/>
                <a:latin typeface="Arial"/>
                <a:ea typeface="Microsoft YaHei"/>
              </a:rPr>
              <a:t>clearInterval</a:t>
            </a:r>
            <a:r>
              <a:rPr lang="es-AR" sz="1300" b="0" u="none" strike="noStrike" dirty="0">
                <a:solidFill>
                  <a:srgbClr val="000000"/>
                </a:solidFill>
                <a:effectLst/>
                <a:uFillTx/>
                <a:latin typeface="Arial"/>
                <a:ea typeface="Microsoft YaHei"/>
              </a:rPr>
              <a:t>().</a:t>
            </a:r>
            <a:endParaRPr lang="es-AR" sz="1300" b="0" u="none" strike="noStrike" dirty="0">
              <a:solidFill>
                <a:srgbClr val="000000"/>
              </a:solidFill>
              <a:effectLst/>
              <a:uFillTx/>
              <a:latin typeface="Arial"/>
            </a:endParaRPr>
          </a:p>
          <a:p>
            <a:pPr>
              <a:lnSpc>
                <a:spcPct val="100000"/>
              </a:lnSpc>
            </a:pPr>
            <a:endParaRPr lang="es-AR" sz="1400" b="0" u="none" strike="noStrike" dirty="0">
              <a:solidFill>
                <a:srgbClr val="000000"/>
              </a:solidFill>
              <a:effectLst/>
              <a:uFillTx/>
              <a:latin typeface="Arial"/>
            </a:endParaRPr>
          </a:p>
          <a:p>
            <a:pPr>
              <a:lnSpc>
                <a:spcPct val="100000"/>
              </a:lnSpc>
            </a:pPr>
            <a:endParaRPr lang="es-AR" sz="1400" b="0" u="none" strike="noStrike" dirty="0">
              <a:solidFill>
                <a:srgbClr val="000000"/>
              </a:solidFill>
              <a:effectLst/>
              <a:uFillTx/>
              <a:latin typeface="Arial"/>
            </a:endParaRPr>
          </a:p>
          <a:p>
            <a:pPr>
              <a:lnSpc>
                <a:spcPct val="100000"/>
              </a:lnSpc>
            </a:pPr>
            <a:endParaRPr lang="es-AR" sz="1400" b="0" u="none" strike="noStrike" dirty="0">
              <a:solidFill>
                <a:srgbClr val="000000"/>
              </a:solidFill>
              <a:effectLst/>
              <a:uFillTx/>
              <a:latin typeface="Arial"/>
            </a:endParaRPr>
          </a:p>
        </p:txBody>
      </p:sp>
      <p:pic>
        <p:nvPicPr>
          <p:cNvPr id="140" name="Imagen 139"/>
          <p:cNvPicPr/>
          <p:nvPr/>
        </p:nvPicPr>
        <p:blipFill>
          <a:blip r:embed="rId2"/>
          <a:stretch/>
        </p:blipFill>
        <p:spPr>
          <a:xfrm>
            <a:off x="644172" y="1723587"/>
            <a:ext cx="3420000" cy="648360"/>
          </a:xfrm>
          <a:prstGeom prst="rect">
            <a:avLst/>
          </a:prstGeom>
          <a:noFill/>
          <a:ln w="0">
            <a:noFill/>
          </a:ln>
        </p:spPr>
      </p:pic>
      <p:pic>
        <p:nvPicPr>
          <p:cNvPr id="141" name="Imagen 140"/>
          <p:cNvPicPr/>
          <p:nvPr/>
        </p:nvPicPr>
        <p:blipFill>
          <a:blip r:embed="rId3"/>
          <a:stretch/>
        </p:blipFill>
        <p:spPr>
          <a:xfrm>
            <a:off x="644172" y="3023280"/>
            <a:ext cx="3488400" cy="2389680"/>
          </a:xfrm>
          <a:prstGeom prst="rect">
            <a:avLst/>
          </a:prstGeom>
          <a:noFill/>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7660</TotalTime>
  <Words>4172</Words>
  <Application>Microsoft Office PowerPoint</Application>
  <PresentationFormat>Personalizado</PresentationFormat>
  <Paragraphs>429</Paragraphs>
  <Slides>41</Slides>
  <Notes>0</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41</vt:i4>
      </vt:variant>
    </vt:vector>
  </HeadingPairs>
  <TitlesOfParts>
    <vt:vector size="50" baseType="lpstr">
      <vt:lpstr>Microsoft YaHei</vt:lpstr>
      <vt:lpstr>Arial</vt:lpstr>
      <vt:lpstr>DejaVu Sans</vt:lpstr>
      <vt:lpstr>Liberation Mono;Courier New;DejaVu Sans Mono</vt:lpstr>
      <vt:lpstr>Symbol</vt:lpstr>
      <vt:lpstr>Times New Roman</vt:lpstr>
      <vt:lpstr>Titillium Web SemiBold</vt:lpstr>
      <vt:lpstr>Wingdings</vt:lpstr>
      <vt:lpstr>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
  <dc:description/>
  <cp:lastModifiedBy>Maximiliano Medina</cp:lastModifiedBy>
  <cp:revision>30</cp:revision>
  <dcterms:created xsi:type="dcterms:W3CDTF">2026-03-31T17:19:23Z</dcterms:created>
  <dcterms:modified xsi:type="dcterms:W3CDTF">2026-05-14T00:38:59Z</dcterms:modified>
  <dc:language>es-AR</dc:language>
</cp:coreProperties>
</file>