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notesSlides/notesSlide9.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4.xml.rels" ContentType="application/vnd.openxmlformats-package.relationships+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s-AR" sz="4400" strike="noStrike" u="none">
                <a:solidFill>
                  <a:srgbClr val="000000"/>
                </a:solidFill>
                <a:effectLst/>
                <a:uFillTx/>
                <a:latin typeface="Arial"/>
              </a:rPr>
              <a:t>Pulse para desplazar la diapositiva</a:t>
            </a:r>
            <a:endParaRPr b="0" lang="es-AR" sz="4400" strike="noStrike" u="none">
              <a:solidFill>
                <a:srgbClr val="000000"/>
              </a:solidFill>
              <a:effectLst/>
              <a:uFillTx/>
              <a:latin typeface="Arial"/>
            </a:endParaRPr>
          </a:p>
        </p:txBody>
      </p:sp>
      <p:sp>
        <p:nvSpPr>
          <p:cNvPr id="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s-AR" sz="2000" strike="noStrike" u="none">
                <a:solidFill>
                  <a:srgbClr val="000000"/>
                </a:solidFill>
                <a:effectLst/>
                <a:uFillTx/>
                <a:latin typeface="Arial"/>
              </a:rPr>
              <a:t>Pulse para editar el formato de las notas</a:t>
            </a:r>
            <a:endParaRPr b="0" lang="es-AR" sz="2000" strike="noStrike" u="none">
              <a:solidFill>
                <a:srgbClr val="000000"/>
              </a:solidFill>
              <a:effectLst/>
              <a:uFillTx/>
              <a:latin typeface="Arial"/>
            </a:endParaRPr>
          </a:p>
        </p:txBody>
      </p:sp>
      <p:sp>
        <p:nvSpPr>
          <p:cNvPr id="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s-AR" sz="1400" strike="noStrike" u="none">
                <a:solidFill>
                  <a:srgbClr val="000000"/>
                </a:solidFill>
                <a:effectLst/>
                <a:uFillTx/>
                <a:latin typeface="Times New Roman"/>
              </a:rPr>
              <a:t> </a:t>
            </a:r>
            <a:endParaRPr b="0" lang="es-AR" sz="1400" strike="noStrike" u="none">
              <a:solidFill>
                <a:srgbClr val="000000"/>
              </a:solidFill>
              <a:effectLst/>
              <a:uFillTx/>
              <a:latin typeface="Times New Roman"/>
            </a:endParaRPr>
          </a:p>
        </p:txBody>
      </p:sp>
      <p:sp>
        <p:nvSpPr>
          <p:cNvPr id="10"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s-AR" sz="1400" strike="noStrike" u="none">
                <a:solidFill>
                  <a:srgbClr val="000000"/>
                </a:solidFill>
                <a:effectLst/>
                <a:uFillTx/>
                <a:latin typeface="Times New Roman"/>
              </a:defRPr>
            </a:lvl1pPr>
          </a:lstStyle>
          <a:p>
            <a:pPr indent="0" algn="r">
              <a:buNone/>
            </a:pPr>
            <a:r>
              <a:rPr b="0" lang="es-AR" sz="1400" strike="noStrike" u="none">
                <a:solidFill>
                  <a:srgbClr val="000000"/>
                </a:solidFill>
                <a:effectLst/>
                <a:uFillTx/>
                <a:latin typeface="Times New Roman"/>
              </a:rPr>
              <a:t> </a:t>
            </a:r>
            <a:endParaRPr b="0" lang="es-AR" sz="1400" strike="noStrike" u="none">
              <a:solidFill>
                <a:srgbClr val="000000"/>
              </a:solidFill>
              <a:effectLst/>
              <a:uFillTx/>
              <a:latin typeface="Times New Roman"/>
            </a:endParaRPr>
          </a:p>
        </p:txBody>
      </p:sp>
      <p:sp>
        <p:nvSpPr>
          <p:cNvPr id="11"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s-AR" sz="1400" strike="noStrike" u="none">
                <a:solidFill>
                  <a:srgbClr val="000000"/>
                </a:solidFill>
                <a:effectLst/>
                <a:uFillTx/>
                <a:latin typeface="Times New Roman"/>
              </a:defRPr>
            </a:lvl1pPr>
          </a:lstStyle>
          <a:p>
            <a:pPr indent="0">
              <a:buNone/>
            </a:pPr>
            <a:r>
              <a:rPr b="0" lang="es-AR" sz="1400" strike="noStrike" u="none">
                <a:solidFill>
                  <a:srgbClr val="000000"/>
                </a:solidFill>
                <a:effectLst/>
                <a:uFillTx/>
                <a:latin typeface="Times New Roman"/>
              </a:rPr>
              <a:t> </a:t>
            </a:r>
            <a:endParaRPr b="0" lang="es-AR" sz="1400" strike="noStrike" u="none">
              <a:solidFill>
                <a:srgbClr val="000000"/>
              </a:solidFill>
              <a:effectLst/>
              <a:uFillTx/>
              <a:latin typeface="Times New Roman"/>
            </a:endParaRPr>
          </a:p>
        </p:txBody>
      </p:sp>
      <p:sp>
        <p:nvSpPr>
          <p:cNvPr id="12"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s-AR" sz="1400" strike="noStrike" u="none">
                <a:solidFill>
                  <a:srgbClr val="000000"/>
                </a:solidFill>
                <a:effectLst/>
                <a:uFillTx/>
                <a:latin typeface="Times New Roman"/>
              </a:defRPr>
            </a:lvl1pPr>
          </a:lstStyle>
          <a:p>
            <a:pPr indent="0" algn="r">
              <a:buNone/>
            </a:pPr>
            <a:fld id="{607332BD-B221-49E8-930A-DF477A612EA0}" type="slidenum">
              <a:rPr b="0" lang="es-AR" sz="1400" strike="noStrike" u="none">
                <a:solidFill>
                  <a:srgbClr val="000000"/>
                </a:solidFill>
                <a:effectLst/>
                <a:uFillTx/>
                <a:latin typeface="Times New Roman"/>
              </a:rPr>
              <a:t>1</a:t>
            </a:fld>
            <a:endParaRPr b="0" lang="es-AR"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sldImg"/>
          </p:nvPr>
        </p:nvSpPr>
        <p:spPr>
          <a:xfrm>
            <a:off x="216000" y="812520"/>
            <a:ext cx="7126920" cy="4008600"/>
          </a:xfrm>
          <a:prstGeom prst="rect">
            <a:avLst/>
          </a:prstGeom>
          <a:ln w="0">
            <a:noFill/>
          </a:ln>
        </p:spPr>
      </p:sp>
      <p:sp>
        <p:nvSpPr>
          <p:cNvPr id="58"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 Relative: Las propiedades top y bottom especifican el desplazamiento vertical desde su posición original; las propiedades left y right especifican su desplazamiento horizontal.</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Absolute: Las propiedades top, right, bottom, y left especifican el desplazamiento desde los bordes del bloque contenedor del elemento. (El bloque contenedor es el ancestro relativo al cual el elemento está posicionado). Si el elemento tiene márgenes, se agregarán al desplazamiento. el elemento establece un nuevo contexto de formato de bloque para su contenido</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Sticky: Es tratado como un elemento posicionado relativamente hasta que su bloque contenedor cruza un límite establecido (como por ejemplo dando a top cualquier valor distinto de auto), dentro de su flujo principal (o el contenedor dentro del cual se mueve), desde el cual es tratado como "fijo" hasta que alcance el borde opuesto de su bloque contenedor</a:t>
            </a:r>
            <a:endParaRPr b="0" lang="es-AR" sz="1600" strike="noStrike" u="none">
              <a:solidFill>
                <a:srgbClr val="000000"/>
              </a:solidFill>
              <a:effectLst/>
              <a:uFillTx/>
              <a:latin typeface="Arial"/>
            </a:endParaRPr>
          </a:p>
          <a:p>
            <a:pPr indent="0" defTabSz="914400">
              <a:lnSpc>
                <a:spcPct val="100000"/>
              </a:lnSpc>
              <a:spcBef>
                <a:spcPts val="1191"/>
              </a:spcBef>
              <a:spcAft>
                <a:spcPts val="992"/>
              </a:spcAft>
              <a:buNone/>
              <a:tabLst>
                <a:tab algn="l" pos="0"/>
              </a:tabLst>
            </a:pPr>
            <a:endParaRPr b="0" lang="es-AR" sz="16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sldImg"/>
          </p:nvPr>
        </p:nvSpPr>
        <p:spPr>
          <a:xfrm>
            <a:off x="216000" y="812520"/>
            <a:ext cx="7126920" cy="4008600"/>
          </a:xfrm>
          <a:prstGeom prst="rect">
            <a:avLst/>
          </a:prstGeom>
          <a:ln w="0">
            <a:noFill/>
          </a:ln>
        </p:spPr>
      </p:sp>
      <p:sp>
        <p:nvSpPr>
          <p:cNvPr id="60"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 Relative: Las propiedades top y bottom especifican el desplazamiento vertical desde su posición original; las propiedades left y right especifican su desplazamiento horizontal.</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Absolute: Las propiedades top, right, bottom, y left especifican el desplazamiento desde los bordes del bloque contenedor del elemento. (El bloque contenedor es el ancestro relativo al cual el elemento está posicionado). Si el elemento tiene márgenes, se agregarán al desplazamiento. el elemento establece un nuevo contexto de formato de bloque para su contenido</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Sticky: Es tratado como un elemento posicionado relativamente hasta que su bloque contenedor cruza un límite establecido (como por ejemplo dando a top cualquier valor distinto de auto), dentro de su flujo principal (o el contenedor dentro del cual se mueve), desde el cual es tratado como "fijo" hasta que alcance el borde opuesto de su bloque contenedor</a:t>
            </a:r>
            <a:endParaRPr b="0" lang="es-AR" sz="1600" strike="noStrike" u="none">
              <a:solidFill>
                <a:srgbClr val="000000"/>
              </a:solidFill>
              <a:effectLst/>
              <a:uFillTx/>
              <a:latin typeface="Arial"/>
            </a:endParaRPr>
          </a:p>
          <a:p>
            <a:pPr indent="0" defTabSz="914400">
              <a:lnSpc>
                <a:spcPct val="100000"/>
              </a:lnSpc>
              <a:spcBef>
                <a:spcPts val="1191"/>
              </a:spcBef>
              <a:spcAft>
                <a:spcPts val="992"/>
              </a:spcAft>
              <a:buNone/>
              <a:tabLst>
                <a:tab algn="l" pos="0"/>
              </a:tabLst>
            </a:pPr>
            <a:endParaRPr b="0" lang="es-AR" sz="16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ldImg"/>
          </p:nvPr>
        </p:nvSpPr>
        <p:spPr>
          <a:xfrm>
            <a:off x="216000" y="812520"/>
            <a:ext cx="7126920" cy="4008600"/>
          </a:xfrm>
          <a:prstGeom prst="rect">
            <a:avLst/>
          </a:prstGeom>
          <a:ln w="0">
            <a:noFill/>
          </a:ln>
        </p:spPr>
      </p:sp>
      <p:sp>
        <p:nvSpPr>
          <p:cNvPr id="6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 Relative: Las propiedades top y bottom especifican el desplazamiento vertical desde su posición original; las propiedades left y right especifican su desplazamiento horizontal.</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Absolute: Las propiedades top, right, bottom, y left especifican el desplazamiento desde los bordes del bloque contenedor del elemento. (El bloque contenedor es el ancestro relativo al cual el elemento está posicionado). Si el elemento tiene márgenes, se agregarán al desplazamiento. el elemento establece un nuevo contexto de formato de bloque para su contenido</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Sticky: Es tratado como un elemento posicionado relativamente hasta que su bloque contenedor cruza un límite establecido (como por ejemplo dando a top cualquier valor distinto de auto), dentro de su flujo principal (o el contenedor dentro del cual se mueve), desde el cual es tratado como "fijo" hasta que alcance el borde opuesto de su bloque contenedor</a:t>
            </a:r>
            <a:endParaRPr b="0" lang="es-AR" sz="1600" strike="noStrike" u="none">
              <a:solidFill>
                <a:srgbClr val="000000"/>
              </a:solidFill>
              <a:effectLst/>
              <a:uFillTx/>
              <a:latin typeface="Arial"/>
            </a:endParaRPr>
          </a:p>
          <a:p>
            <a:pPr indent="0" defTabSz="914400">
              <a:lnSpc>
                <a:spcPct val="100000"/>
              </a:lnSpc>
              <a:spcBef>
                <a:spcPts val="1191"/>
              </a:spcBef>
              <a:spcAft>
                <a:spcPts val="992"/>
              </a:spcAft>
              <a:buNone/>
              <a:tabLst>
                <a:tab algn="l" pos="0"/>
              </a:tabLst>
            </a:pPr>
            <a:endParaRPr b="0" lang="es-AR" sz="16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385560"/>
            <a:ext cx="9070560" cy="625320"/>
          </a:xfrm>
          <a:prstGeom prst="rect">
            <a:avLst/>
          </a:prstGeom>
          <a:noFill/>
          <a:ln w="0">
            <a:noFill/>
          </a:ln>
        </p:spPr>
        <p:txBody>
          <a:bodyPr lIns="0" rIns="0" tIns="0" bIns="0" anchor="ctr">
            <a:spAutoFit/>
          </a:bodyPr>
          <a:p>
            <a:pPr indent="0" algn="ctr">
              <a:buNone/>
            </a:pPr>
            <a:endParaRPr b="0" lang="es-AR" sz="4400" strike="noStrike" u="none">
              <a:solidFill>
                <a:srgbClr val="000000"/>
              </a:solidFill>
              <a:effectLst/>
              <a:uFillTx/>
              <a:latin typeface="Arial"/>
            </a:endParaRPr>
          </a:p>
        </p:txBody>
      </p:sp>
      <p:sp>
        <p:nvSpPr>
          <p:cNvPr id="6" name="PlaceHolder 2"/>
          <p:cNvSpPr>
            <a:spLocks noGrp="1"/>
          </p:cNvSpPr>
          <p:nvPr>
            <p:ph type="subTitle"/>
          </p:nvPr>
        </p:nvSpPr>
        <p:spPr>
          <a:xfrm>
            <a:off x="504000" y="1326600"/>
            <a:ext cx="9072000" cy="3288600"/>
          </a:xfrm>
          <a:prstGeom prst="rect">
            <a:avLst/>
          </a:prstGeom>
          <a:noFill/>
          <a:ln w="0">
            <a:noFill/>
          </a:ln>
        </p:spPr>
        <p:txBody>
          <a:bodyPr lIns="0" rIns="0" tIns="0" bIns="0" anchor="ctr">
            <a:spAutoFit/>
          </a:bodyPr>
          <a:p>
            <a:pPr indent="0" algn="ctr">
              <a:buNone/>
            </a:pPr>
            <a:endParaRPr b="0" lang="es-AR" sz="3200" strike="noStrike" u="non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8703701-BFD2-4E3C-9C53-819C70DED93A}" type="slidenum">
              <a:t>&lt;#&gt;</a:t>
            </a:fld>
          </a:p>
        </p:txBody>
      </p:sp>
      <p:sp>
        <p:nvSpPr>
          <p:cNvPr id="6" name="PlaceHolder 5"/>
          <p:cNvSpPr>
            <a:spLocks noGrp="1"/>
          </p:cNvSpPr>
          <p:nvPr>
            <p:ph type="dt" idx="3"/>
          </p:nvPr>
        </p:nvSpPr>
        <p:spPr/>
        <p:txBody>
          <a:bodyPr/>
          <a:p>
            <a:r>
              <a:rPr lang="es-A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560880"/>
            <a:ext cx="9070560" cy="274680"/>
          </a:xfrm>
          <a:prstGeom prst="rect">
            <a:avLst/>
          </a:prstGeom>
          <a:noFill/>
          <a:ln w="0">
            <a:noFill/>
          </a:ln>
        </p:spPr>
        <p:txBody>
          <a:bodyPr lIns="0" rIns="0" tIns="0" bIns="0" anchor="ctr">
            <a:spAutoFit/>
          </a:bodyPr>
          <a:p>
            <a:pPr indent="0">
              <a:buNone/>
            </a:pPr>
            <a:r>
              <a:rPr b="0" lang="es-AR" sz="1800" strike="noStrike" u="none">
                <a:solidFill>
                  <a:srgbClr val="000000"/>
                </a:solidFill>
                <a:effectLst/>
                <a:uFillTx/>
                <a:latin typeface="Arial"/>
              </a:rPr>
              <a:t>Pulse para editar el formato del texto de título</a:t>
            </a:r>
            <a:endParaRPr b="0" lang="es-AR" sz="1800" strike="noStrike" u="none">
              <a:solidFill>
                <a:srgbClr val="000000"/>
              </a:solidFill>
              <a:effectLst/>
              <a:uFillTx/>
              <a:latin typeface="Arial"/>
            </a:endParaRPr>
          </a:p>
        </p:txBody>
      </p:sp>
      <p:sp>
        <p:nvSpPr>
          <p:cNvPr id="1" name="PlaceHolder 2"/>
          <p:cNvSpPr>
            <a:spLocks noGrp="1"/>
          </p:cNvSpPr>
          <p:nvPr>
            <p:ph type="ftr" idx="1"/>
          </p:nvPr>
        </p:nvSpPr>
        <p:spPr>
          <a:xfrm>
            <a:off x="3447360" y="5164920"/>
            <a:ext cx="3193920" cy="389520"/>
          </a:xfrm>
          <a:prstGeom prst="rect">
            <a:avLst/>
          </a:prstGeom>
          <a:noFill/>
          <a:ln w="0">
            <a:noFill/>
          </a:ln>
        </p:spPr>
        <p:txBody>
          <a:bodyPr lIns="0" rIns="0" tIns="0" bIns="0" anchor="t">
            <a:noAutofit/>
          </a:bodyPr>
          <a:lstStyle>
            <a:lvl1pPr indent="0" algn="ctr">
              <a:lnSpc>
                <a:spcPct val="100000"/>
              </a:lnSpc>
              <a:buNone/>
              <a:tabLst>
                <a:tab algn="l" pos="0"/>
              </a:tabLst>
              <a:defRPr b="0" lang="es-AR" sz="1400" strike="noStrike" u="none">
                <a:solidFill>
                  <a:srgbClr val="000000"/>
                </a:solidFill>
                <a:effectLst/>
                <a:uFillTx/>
                <a:latin typeface="Times New Roman"/>
              </a:defRPr>
            </a:lvl1pPr>
          </a:lstStyle>
          <a:p>
            <a:pPr indent="0" algn="ctr">
              <a:lnSpc>
                <a:spcPct val="100000"/>
              </a:lnSpc>
              <a:buNone/>
              <a:tabLst>
                <a:tab algn="l" pos="0"/>
              </a:tabLst>
            </a:pPr>
            <a:r>
              <a:rPr b="0" lang="es-AR" sz="1400" strike="noStrike" u="none">
                <a:solidFill>
                  <a:srgbClr val="000000"/>
                </a:solidFill>
                <a:effectLst/>
                <a:uFillTx/>
                <a:latin typeface="Times New Roman"/>
              </a:rPr>
              <a:t>&lt;pie de página&gt;</a:t>
            </a:r>
            <a:endParaRPr b="0" lang="es-AR" sz="1400" strike="noStrike" u="none">
              <a:solidFill>
                <a:srgbClr val="000000"/>
              </a:solidFill>
              <a:effectLst/>
              <a:uFillTx/>
              <a:latin typeface="Times New Roman"/>
            </a:endParaRPr>
          </a:p>
        </p:txBody>
      </p:sp>
      <p:sp>
        <p:nvSpPr>
          <p:cNvPr id="2" name="PlaceHolder 3"/>
          <p:cNvSpPr>
            <a:spLocks noGrp="1"/>
          </p:cNvSpPr>
          <p:nvPr>
            <p:ph type="sldNum" idx="2"/>
          </p:nvPr>
        </p:nvSpPr>
        <p:spPr>
          <a:xfrm>
            <a:off x="7227360" y="5164920"/>
            <a:ext cx="2347200" cy="389520"/>
          </a:xfrm>
          <a:prstGeom prst="rect">
            <a:avLst/>
          </a:prstGeom>
          <a:noFill/>
          <a:ln w="0">
            <a:noFill/>
          </a:ln>
        </p:spPr>
        <p:txBody>
          <a:bodyPr lIns="0" rIns="0" tIns="0" bIns="0" anchor="t">
            <a:noAutofit/>
          </a:bodyPr>
          <a:lstStyle>
            <a:lvl1pPr indent="0" algn="r">
              <a:lnSpc>
                <a:spcPct val="100000"/>
              </a:lnSpc>
              <a:buNone/>
              <a:tabLst>
                <a:tab algn="l" pos="0"/>
              </a:tabLst>
              <a:defRPr b="0" lang="es-AR" sz="1400" strike="noStrike" u="none">
                <a:solidFill>
                  <a:srgbClr val="000000"/>
                </a:solidFill>
                <a:effectLst/>
                <a:uFillTx/>
                <a:latin typeface="Times New Roman"/>
              </a:defRPr>
            </a:lvl1pPr>
          </a:lstStyle>
          <a:p>
            <a:pPr indent="0" algn="r">
              <a:lnSpc>
                <a:spcPct val="100000"/>
              </a:lnSpc>
              <a:buNone/>
              <a:tabLst>
                <a:tab algn="l" pos="0"/>
              </a:tabLst>
            </a:pPr>
            <a:fld id="{731E0786-E52B-49AD-9E0C-CCAC664E5363}" type="slidenum">
              <a:rPr b="0" lang="es-AR" sz="1400" strike="noStrike" u="none">
                <a:solidFill>
                  <a:srgbClr val="000000"/>
                </a:solidFill>
                <a:effectLst/>
                <a:uFillTx/>
                <a:latin typeface="Times New Roman"/>
              </a:rPr>
              <a:t>&lt;número&gt;</a:t>
            </a:fld>
            <a:endParaRPr b="0" lang="es-AR" sz="1400" strike="noStrike" u="none">
              <a:solidFill>
                <a:srgbClr val="000000"/>
              </a:solidFill>
              <a:effectLst/>
              <a:uFillTx/>
              <a:latin typeface="Times New Roman"/>
            </a:endParaRPr>
          </a:p>
        </p:txBody>
      </p:sp>
      <p:sp>
        <p:nvSpPr>
          <p:cNvPr id="3" name="PlaceHolder 4"/>
          <p:cNvSpPr>
            <a:spLocks noGrp="1"/>
          </p:cNvSpPr>
          <p:nvPr>
            <p:ph type="dt" idx="3"/>
          </p:nvPr>
        </p:nvSpPr>
        <p:spPr>
          <a:xfrm>
            <a:off x="504000" y="5164920"/>
            <a:ext cx="2347200" cy="389520"/>
          </a:xfrm>
          <a:prstGeom prst="rect">
            <a:avLst/>
          </a:prstGeom>
          <a:noFill/>
          <a:ln w="0">
            <a:noFill/>
          </a:ln>
        </p:spPr>
        <p:txBody>
          <a:bodyPr lIns="0" rIns="0" tIns="0" bIns="0" anchor="t">
            <a:noAutofit/>
          </a:bodyPr>
          <a:lstStyle>
            <a:lvl1pPr indent="0">
              <a:buNone/>
              <a:defRPr b="0" lang="es-AR" sz="1400" strike="noStrike" u="none">
                <a:solidFill>
                  <a:srgbClr val="000000"/>
                </a:solidFill>
                <a:effectLst/>
                <a:uFillTx/>
                <a:latin typeface="Times New Roman"/>
              </a:defRPr>
            </a:lvl1pPr>
          </a:lstStyle>
          <a:p>
            <a:pPr indent="0">
              <a:buNone/>
            </a:pPr>
            <a:r>
              <a:rPr b="0" lang="es-AR" sz="1400" strike="noStrike" u="none">
                <a:solidFill>
                  <a:srgbClr val="000000"/>
                </a:solidFill>
                <a:effectLst/>
                <a:uFillTx/>
                <a:latin typeface="Times New Roman"/>
              </a:rPr>
              <a:t>&lt;fecha/hora&gt;</a:t>
            </a:r>
            <a:endParaRPr b="0" lang="es-AR" sz="1400" strike="noStrike" u="none">
              <a:solidFill>
                <a:srgbClr val="000000"/>
              </a:solidFill>
              <a:effectLst/>
              <a:uFillTx/>
              <a:latin typeface="Times New Roman"/>
            </a:endParaRPr>
          </a:p>
        </p:txBody>
      </p:sp>
      <p:sp>
        <p:nvSpPr>
          <p:cNvPr id="4"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s-AR" sz="3200" strike="noStrike" u="none">
                <a:solidFill>
                  <a:srgbClr val="000000"/>
                </a:solidFill>
                <a:effectLst/>
                <a:uFillTx/>
                <a:latin typeface="Arial"/>
              </a:rPr>
              <a:t>Pulse para editar el formato de texto del esquema</a:t>
            </a:r>
            <a:endParaRPr b="0" lang="es-AR"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s-AR" sz="2800" strike="noStrike" u="none">
                <a:solidFill>
                  <a:srgbClr val="000000"/>
                </a:solidFill>
                <a:effectLst/>
                <a:uFillTx/>
                <a:latin typeface="Arial"/>
              </a:rPr>
              <a:t>Segundo nivel del esquema</a:t>
            </a:r>
            <a:endParaRPr b="0" lang="es-AR"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s-AR" sz="2400" strike="noStrike" u="none">
                <a:solidFill>
                  <a:srgbClr val="000000"/>
                </a:solidFill>
                <a:effectLst/>
                <a:uFillTx/>
                <a:latin typeface="Arial"/>
              </a:rPr>
              <a:t>Tercer nivel del esquema</a:t>
            </a:r>
            <a:endParaRPr b="0" lang="es-AR"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s-AR" sz="2000" strike="noStrike" u="none">
                <a:solidFill>
                  <a:srgbClr val="000000"/>
                </a:solidFill>
                <a:effectLst/>
                <a:uFillTx/>
                <a:latin typeface="Arial"/>
              </a:rPr>
              <a:t>Cuarto nivel del esquema</a:t>
            </a:r>
            <a:endParaRPr b="0" lang="es-AR"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s-AR" sz="2000" strike="noStrike" u="none">
                <a:solidFill>
                  <a:srgbClr val="000000"/>
                </a:solidFill>
                <a:effectLst/>
                <a:uFillTx/>
                <a:latin typeface="Arial"/>
              </a:rPr>
              <a:t>Quinto nivel del esquema</a:t>
            </a:r>
            <a:endParaRPr b="0" lang="es-A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s-AR" sz="2000" strike="noStrike" u="none">
                <a:solidFill>
                  <a:srgbClr val="000000"/>
                </a:solidFill>
                <a:effectLst/>
                <a:uFillTx/>
                <a:latin typeface="Arial"/>
              </a:rPr>
              <a:t>Sexto nivel del esquema</a:t>
            </a:r>
            <a:endParaRPr b="0" lang="es-A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s-AR" sz="2000" strike="noStrike" u="none">
                <a:solidFill>
                  <a:srgbClr val="000000"/>
                </a:solidFill>
                <a:effectLst/>
                <a:uFillTx/>
                <a:latin typeface="Arial"/>
              </a:rPr>
              <a:t>Séptimo nivel del esquema</a:t>
            </a:r>
            <a:endParaRPr b="0" lang="es-AR"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hyperlink" Target="https://developer.mozilla.org/es/docs/Web/CSS/Reference/Properties/position" TargetMode="External"/><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CuadroTexto 2"/>
          <p:cNvSpPr/>
          <p:nvPr/>
        </p:nvSpPr>
        <p:spPr>
          <a:xfrm>
            <a:off x="310320" y="50184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¿Qué es CSS y para qué sirve?</a:t>
            </a:r>
            <a:endParaRPr b="0" lang="es-AR" sz="2800" strike="noStrike" u="none">
              <a:solidFill>
                <a:srgbClr val="000000"/>
              </a:solidFill>
              <a:effectLst/>
              <a:uFillTx/>
              <a:latin typeface="Arial"/>
            </a:endParaRPr>
          </a:p>
        </p:txBody>
      </p:sp>
      <p:sp>
        <p:nvSpPr>
          <p:cNvPr id="14" name="CuadroTexto 10"/>
          <p:cNvSpPr/>
          <p:nvPr/>
        </p:nvSpPr>
        <p:spPr>
          <a:xfrm>
            <a:off x="282960" y="1383120"/>
            <a:ext cx="9379800" cy="350172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s-ES" sz="1600" strike="noStrike" u="none">
                <a:solidFill>
                  <a:srgbClr val="000000"/>
                </a:solidFill>
                <a:effectLst/>
                <a:uFillTx/>
                <a:latin typeface="Titillium Web"/>
                <a:ea typeface="DejaVu Sans"/>
              </a:rPr>
              <a:t>CSS es la abreviatura de Cascading Style Sheets (Hojas de Estilo en Cascada). Es un lenguaje de estilo utilizado para definir el aspecto y la presentación de un documento HTML..</a:t>
            </a:r>
            <a:endParaRPr b="0" lang="es-AR" sz="1600" strike="noStrike" u="none">
              <a:solidFill>
                <a:srgbClr val="000000"/>
              </a:solidFill>
              <a:effectLst/>
              <a:uFillTx/>
              <a:latin typeface="Arial"/>
            </a:endParaRPr>
          </a:p>
          <a:p>
            <a:pPr algn="just" defTabSz="914400">
              <a:lnSpc>
                <a:spcPct val="100000"/>
              </a:lnSpc>
            </a:pPr>
            <a:endParaRPr b="0" lang="es-AR" sz="1600" strike="noStrike" u="none">
              <a:solidFill>
                <a:srgbClr val="000000"/>
              </a:solidFill>
              <a:effectLst/>
              <a:uFillTx/>
              <a:latin typeface="Arial"/>
            </a:endParaRPr>
          </a:p>
          <a:p>
            <a:pPr algn="just" defTabSz="914400">
              <a:lnSpc>
                <a:spcPct val="100000"/>
              </a:lnSpc>
            </a:pPr>
            <a:r>
              <a:rPr b="0" lang="es-ES" sz="1600" strike="noStrike" u="none">
                <a:solidFill>
                  <a:srgbClr val="000000"/>
                </a:solidFill>
                <a:effectLst/>
                <a:uFillTx/>
                <a:latin typeface="Titillium Web"/>
                <a:ea typeface="DejaVu Sans"/>
              </a:rPr>
              <a:t>Se le denomina estilos en cascada porque se lee, procesa y aplica el código desde arriba hacia abajo (siguiendo patrones como herencia o cascada que trataremos más adelante) y en el caso de existir ambigüedad, se siguen una serie de normas para resolver dicha ambigüedad.</a:t>
            </a:r>
            <a:endParaRPr b="0" lang="es-AR" sz="1600" strike="noStrike" u="none">
              <a:solidFill>
                <a:srgbClr val="000000"/>
              </a:solidFill>
              <a:effectLst/>
              <a:uFillTx/>
              <a:latin typeface="Arial"/>
            </a:endParaRPr>
          </a:p>
          <a:p>
            <a:pPr algn="just" defTabSz="914400">
              <a:lnSpc>
                <a:spcPct val="100000"/>
              </a:lnSpc>
            </a:pPr>
            <a:endParaRPr b="0" lang="es-AR" sz="1600" strike="noStrike" u="none">
              <a:solidFill>
                <a:srgbClr val="000000"/>
              </a:solidFill>
              <a:effectLst/>
              <a:uFillTx/>
              <a:latin typeface="Arial"/>
            </a:endParaRPr>
          </a:p>
          <a:p>
            <a:pPr algn="just" defTabSz="914400">
              <a:lnSpc>
                <a:spcPct val="100000"/>
              </a:lnSpc>
            </a:pPr>
            <a:r>
              <a:rPr b="0" lang="es-AR" sz="1600" strike="noStrike" u="none">
                <a:solidFill>
                  <a:srgbClr val="000000"/>
                </a:solidFill>
                <a:effectLst/>
                <a:uFillTx/>
                <a:latin typeface="Titillium Web"/>
                <a:ea typeface="DejaVu Sans"/>
              </a:rPr>
              <a:t>La idea detrás de CSS es separar el contenido de una página web de su presentación visual. En lugar de tener estilos defi nidos en línea o directamente en el HTML, los estilos se definen en una hoja de estilo CSS separada.</a:t>
            </a:r>
            <a:endParaRPr b="0" lang="es-AR" sz="1600" strike="noStrike" u="none">
              <a:solidFill>
                <a:srgbClr val="000000"/>
              </a:solidFill>
              <a:effectLst/>
              <a:uFillTx/>
              <a:latin typeface="Arial"/>
            </a:endParaRPr>
          </a:p>
          <a:p>
            <a:pPr algn="just" defTabSz="914400">
              <a:lnSpc>
                <a:spcPct val="100000"/>
              </a:lnSpc>
            </a:pPr>
            <a:endParaRPr b="0" lang="es-AR" sz="1600" strike="noStrike" u="none">
              <a:solidFill>
                <a:srgbClr val="000000"/>
              </a:solidFill>
              <a:effectLst/>
              <a:uFillTx/>
              <a:latin typeface="Arial"/>
            </a:endParaRPr>
          </a:p>
          <a:p>
            <a:pPr algn="just" defTabSz="914400">
              <a:lnSpc>
                <a:spcPct val="100000"/>
              </a:lnSpc>
            </a:pPr>
            <a:r>
              <a:rPr b="0" lang="es-ES" sz="1600" strike="noStrike" u="none">
                <a:solidFill>
                  <a:schemeClr val="dk1"/>
                </a:solidFill>
                <a:effectLst/>
                <a:uFillTx/>
                <a:latin typeface="Titillium Web"/>
                <a:ea typeface="DejaVu Sans"/>
              </a:rPr>
              <a:t>Material de consulta:</a:t>
            </a:r>
            <a:endParaRPr b="0" lang="es-AR" sz="1600" strike="noStrike" u="none">
              <a:solidFill>
                <a:srgbClr val="000000"/>
              </a:solidFill>
              <a:effectLst/>
              <a:uFillTx/>
              <a:latin typeface="Arial"/>
            </a:endParaRPr>
          </a:p>
        </p:txBody>
      </p:sp>
      <p:sp>
        <p:nvSpPr>
          <p:cNvPr id="15" name=""/>
          <p:cNvSpPr/>
          <p:nvPr/>
        </p:nvSpPr>
        <p:spPr>
          <a:xfrm>
            <a:off x="325440" y="4881960"/>
            <a:ext cx="3038040" cy="345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AR" sz="1800" strike="noStrike" u="none">
                <a:solidFill>
                  <a:srgbClr val="000000"/>
                </a:solidFill>
                <a:effectLst/>
                <a:uFillTx/>
                <a:latin typeface="Arial"/>
                <a:ea typeface="DejaVu Sans"/>
              </a:rPr>
              <a:t>https://www.w3schools.com/</a:t>
            </a:r>
            <a:endParaRPr b="0" lang="es-AR" sz="1800" strike="noStrike" u="none">
              <a:solidFill>
                <a:srgbClr val="000000"/>
              </a:solidFill>
              <a:effectLst/>
              <a:uFillTx/>
              <a:latin typeface="Arial"/>
            </a:endParaRPr>
          </a:p>
        </p:txBody>
      </p:sp>
      <p:sp>
        <p:nvSpPr>
          <p:cNvPr id="16" name=""/>
          <p:cNvSpPr/>
          <p:nvPr/>
        </p:nvSpPr>
        <p:spPr>
          <a:xfrm>
            <a:off x="4303080" y="4873680"/>
            <a:ext cx="5092560" cy="3456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s-AR" sz="1800" strike="noStrike" u="none">
                <a:solidFill>
                  <a:srgbClr val="000000"/>
                </a:solidFill>
                <a:effectLst/>
                <a:uFillTx/>
                <a:latin typeface="Arial"/>
                <a:ea typeface="DejaVu Sans"/>
              </a:rPr>
              <a:t>https://developer.mozilla.org/es/docs/Web/HTML</a:t>
            </a:r>
            <a:endParaRPr b="0" lang="es-A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CuadroTexto 21"/>
          <p:cNvSpPr/>
          <p:nvPr/>
        </p:nvSpPr>
        <p:spPr>
          <a:xfrm>
            <a:off x="378720" y="36144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Cómo se define un estilo en css</a:t>
            </a:r>
            <a:endParaRPr b="0" lang="es-AR" sz="2800" strike="noStrike" u="none">
              <a:solidFill>
                <a:srgbClr val="000000"/>
              </a:solidFill>
              <a:effectLst/>
              <a:uFillTx/>
              <a:latin typeface="Arial"/>
            </a:endParaRPr>
          </a:p>
        </p:txBody>
      </p:sp>
      <p:sp>
        <p:nvSpPr>
          <p:cNvPr id="18" name="Text Box 2"/>
          <p:cNvSpPr/>
          <p:nvPr/>
        </p:nvSpPr>
        <p:spPr>
          <a:xfrm>
            <a:off x="190800" y="345960"/>
            <a:ext cx="9731160" cy="5349240"/>
          </a:xfrm>
          <a:prstGeom prst="rect">
            <a:avLst/>
          </a:prstGeom>
          <a:noFill/>
          <a:ln w="0">
            <a:noFill/>
          </a:ln>
        </p:spPr>
        <p:style>
          <a:lnRef idx="0"/>
          <a:fillRef idx="0"/>
          <a:effectRef idx="0"/>
          <a:fontRef idx="minor"/>
        </p:style>
        <p:txBody>
          <a:bodyPr lIns="0" rIns="0" tIns="7200" bIns="0" anchor="t">
            <a:noAutofit/>
          </a:bodyPr>
          <a:p>
            <a:pPr>
              <a:lnSpc>
                <a:spcPct val="98000"/>
              </a:lnSpc>
              <a:spcAft>
                <a:spcPts val="1412"/>
              </a:spcAft>
              <a:tabLst>
                <a:tab algn="l" pos="561960"/>
                <a:tab algn="l" pos="1011240"/>
                <a:tab algn="l" pos="1460520"/>
                <a:tab algn="l" pos="1909800"/>
                <a:tab algn="l" pos="2359080"/>
                <a:tab algn="l" pos="2808360"/>
                <a:tab algn="l" pos="3257640"/>
                <a:tab algn="l" pos="3706920"/>
                <a:tab algn="l" pos="4156200"/>
                <a:tab algn="l" pos="4605480"/>
                <a:tab algn="l" pos="5054760"/>
                <a:tab algn="l" pos="5504040"/>
                <a:tab algn="l" pos="5952960"/>
                <a:tab algn="l" pos="6402240"/>
                <a:tab algn="l" pos="6851520"/>
                <a:tab algn="l" pos="7300800"/>
                <a:tab algn="l" pos="7750080"/>
                <a:tab algn="l" pos="8199360"/>
                <a:tab algn="l" pos="8648640"/>
                <a:tab algn="l" pos="9097920"/>
                <a:tab algn="l" pos="9434520"/>
                <a:tab algn="l" pos="9883800"/>
                <a:tab algn="l" pos="10333080"/>
                <a:tab algn="l" pos="10782360"/>
              </a:tabLst>
            </a:pPr>
            <a:endParaRPr b="0" lang="es-AR" sz="1800" strike="noStrike" u="none">
              <a:solidFill>
                <a:srgbClr val="000000"/>
              </a:solidFill>
              <a:effectLst/>
              <a:uFillTx/>
              <a:latin typeface="Arial"/>
              <a:ea typeface="DejaVu Sans"/>
            </a:endParaRPr>
          </a:p>
        </p:txBody>
      </p:sp>
      <p:sp>
        <p:nvSpPr>
          <p:cNvPr id="19" name="Text Box 5"/>
          <p:cNvSpPr/>
          <p:nvPr/>
        </p:nvSpPr>
        <p:spPr>
          <a:xfrm>
            <a:off x="1754640" y="2022120"/>
            <a:ext cx="6705000" cy="571320"/>
          </a:xfrm>
          <a:prstGeom prst="rect">
            <a:avLst/>
          </a:prstGeom>
          <a:noFill/>
          <a:ln w="0">
            <a:noFill/>
          </a:ln>
        </p:spPr>
        <p:style>
          <a:lnRef idx="0"/>
          <a:fillRef idx="0"/>
          <a:effectRef idx="0"/>
          <a:fontRef idx="minor"/>
        </p:style>
        <p:txBody>
          <a:bodyPr lIns="90000" rIns="90000" tIns="46800" bIns="46800" anchor="t">
            <a:spAutoFit/>
          </a:bodyPr>
          <a:p>
            <a:pPr marL="216000" indent="-216000">
              <a:lnSpc>
                <a:spcPct val="98000"/>
              </a:lnSpc>
              <a:buClr>
                <a:srgbClr val="000000"/>
              </a:buClr>
              <a:buSzPct val="45000"/>
              <a:buFont typeface="Wingdings" charset="2"/>
              <a:buChar char=""/>
              <a:tabLst>
                <a:tab algn="l" pos="0"/>
                <a:tab algn="l" pos="449280"/>
                <a:tab algn="l" pos="898560"/>
                <a:tab algn="l" pos="1347840"/>
                <a:tab algn="l" pos="1797120"/>
                <a:tab algn="l" pos="2246400"/>
                <a:tab algn="l" pos="2695680"/>
                <a:tab algn="l" pos="3144960"/>
                <a:tab algn="l" pos="3594240"/>
                <a:tab algn="l" pos="4043520"/>
                <a:tab algn="l" pos="4492800"/>
                <a:tab algn="l" pos="4941720"/>
                <a:tab algn="l" pos="5391000"/>
                <a:tab algn="l" pos="5840280"/>
                <a:tab algn="l" pos="6289560"/>
                <a:tab algn="l" pos="6738840"/>
                <a:tab algn="l" pos="7188120"/>
                <a:tab algn="l" pos="7637400"/>
                <a:tab algn="l" pos="8086680"/>
                <a:tab algn="l" pos="8535960"/>
                <a:tab algn="l" pos="8985240"/>
              </a:tabLst>
            </a:pPr>
            <a:r>
              <a:rPr b="0" lang="es-ES" sz="3200" strike="noStrike" u="none">
                <a:solidFill>
                  <a:srgbClr val="3333cc"/>
                </a:solidFill>
                <a:effectLst/>
                <a:uFillTx/>
                <a:latin typeface="Arial"/>
                <a:ea typeface="DejaVu Sans"/>
              </a:rPr>
              <a:t>Selector</a:t>
            </a:r>
            <a:r>
              <a:rPr b="0" lang="es-ES" sz="3200" strike="noStrike" u="none">
                <a:solidFill>
                  <a:srgbClr val="000000"/>
                </a:solidFill>
                <a:effectLst/>
                <a:uFillTx/>
                <a:latin typeface="Arial"/>
                <a:ea typeface="DejaVu Sans"/>
              </a:rPr>
              <a:t> { </a:t>
            </a:r>
            <a:r>
              <a:rPr b="0" lang="es-ES" sz="3200" strike="noStrike" u="none">
                <a:solidFill>
                  <a:srgbClr val="3333cc"/>
                </a:solidFill>
                <a:effectLst/>
                <a:uFillTx/>
                <a:latin typeface="Arial"/>
                <a:ea typeface="DejaVu Sans"/>
              </a:rPr>
              <a:t>propiedad</a:t>
            </a:r>
            <a:r>
              <a:rPr b="0" lang="es-ES" sz="3200" strike="noStrike" u="none">
                <a:solidFill>
                  <a:srgbClr val="000000"/>
                </a:solidFill>
                <a:effectLst/>
                <a:uFillTx/>
                <a:latin typeface="Arial"/>
                <a:ea typeface="DejaVu Sans"/>
              </a:rPr>
              <a:t>: </a:t>
            </a:r>
            <a:r>
              <a:rPr b="0" lang="es-ES" sz="3200" strike="noStrike" u="none">
                <a:solidFill>
                  <a:srgbClr val="3333cc"/>
                </a:solidFill>
                <a:effectLst/>
                <a:uFillTx/>
                <a:latin typeface="Arial"/>
                <a:ea typeface="DejaVu Sans"/>
              </a:rPr>
              <a:t>valor</a:t>
            </a:r>
            <a:r>
              <a:rPr b="0" lang="es-ES" sz="3200" strike="noStrike" u="none">
                <a:solidFill>
                  <a:srgbClr val="000000"/>
                </a:solidFill>
                <a:effectLst/>
                <a:uFillTx/>
                <a:latin typeface="Arial"/>
                <a:ea typeface="DejaVu Sans"/>
              </a:rPr>
              <a:t>; ...}</a:t>
            </a:r>
            <a:endParaRPr b="0" lang="es-AR" sz="3200" strike="noStrike" u="none">
              <a:solidFill>
                <a:srgbClr val="000000"/>
              </a:solidFill>
              <a:effectLst/>
              <a:uFillTx/>
              <a:latin typeface="Arial"/>
            </a:endParaRPr>
          </a:p>
        </p:txBody>
      </p:sp>
      <p:sp>
        <p:nvSpPr>
          <p:cNvPr id="20" name="Text Box 6"/>
          <p:cNvSpPr/>
          <p:nvPr/>
        </p:nvSpPr>
        <p:spPr>
          <a:xfrm>
            <a:off x="4341600" y="1260360"/>
            <a:ext cx="2271240" cy="511560"/>
          </a:xfrm>
          <a:prstGeom prst="rect">
            <a:avLst/>
          </a:prstGeom>
          <a:noFill/>
          <a:ln w="0">
            <a:noFill/>
          </a:ln>
        </p:spPr>
        <p:style>
          <a:lnRef idx="0"/>
          <a:fillRef idx="0"/>
          <a:effectRef idx="0"/>
          <a:fontRef idx="minor"/>
        </p:style>
        <p:txBody>
          <a:bodyPr wrap="none" lIns="90000" rIns="90000" tIns="46800" bIns="46800" anchor="t">
            <a:spAutoFit/>
          </a:bodyPr>
          <a:p>
            <a:pPr marL="216000" indent="-216000">
              <a:lnSpc>
                <a:spcPct val="98000"/>
              </a:lnSpc>
              <a:buClr>
                <a:srgbClr val="000000"/>
              </a:buClr>
              <a:buSzPct val="45000"/>
              <a:buFont typeface="Wingdings" charset="2"/>
              <a:buChar char=""/>
              <a:tabLst>
                <a:tab algn="l" pos="0"/>
                <a:tab algn="l" pos="449280"/>
                <a:tab algn="l" pos="898560"/>
                <a:tab algn="l" pos="1347840"/>
                <a:tab algn="l" pos="1797120"/>
                <a:tab algn="l" pos="2246400"/>
                <a:tab algn="l" pos="2695680"/>
                <a:tab algn="l" pos="3144960"/>
                <a:tab algn="l" pos="3594240"/>
                <a:tab algn="l" pos="4043520"/>
                <a:tab algn="l" pos="4492800"/>
                <a:tab algn="l" pos="4941720"/>
                <a:tab algn="l" pos="5391000"/>
                <a:tab algn="l" pos="5840280"/>
                <a:tab algn="l" pos="6289560"/>
                <a:tab algn="l" pos="6738840"/>
                <a:tab algn="l" pos="7188120"/>
                <a:tab algn="l" pos="7637400"/>
                <a:tab algn="l" pos="8086680"/>
                <a:tab algn="l" pos="8535960"/>
                <a:tab algn="l" pos="8985240"/>
              </a:tabLst>
            </a:pPr>
            <a:r>
              <a:rPr b="0" lang="es-ES" sz="2800" strike="noStrike" u="none">
                <a:solidFill>
                  <a:srgbClr val="808080"/>
                </a:solidFill>
                <a:effectLst/>
                <a:uFillTx/>
                <a:latin typeface="Arial"/>
                <a:ea typeface="DejaVu Sans"/>
              </a:rPr>
              <a:t>Declaración</a:t>
            </a:r>
            <a:endParaRPr b="0" lang="es-AR" sz="2800" strike="noStrike" u="none">
              <a:solidFill>
                <a:srgbClr val="000000"/>
              </a:solidFill>
              <a:effectLst/>
              <a:uFillTx/>
              <a:latin typeface="Arial"/>
            </a:endParaRPr>
          </a:p>
        </p:txBody>
      </p:sp>
      <p:sp>
        <p:nvSpPr>
          <p:cNvPr id="21" name="Line 8"/>
          <p:cNvSpPr/>
          <p:nvPr/>
        </p:nvSpPr>
        <p:spPr>
          <a:xfrm>
            <a:off x="3475440" y="1869840"/>
            <a:ext cx="4114800" cy="36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s-AR" sz="1800" strike="noStrike" u="none">
              <a:solidFill>
                <a:srgbClr val="000000"/>
              </a:solidFill>
              <a:effectLst/>
              <a:uFillTx/>
              <a:latin typeface="Arial"/>
              <a:ea typeface="DejaVu Sans"/>
            </a:endParaRPr>
          </a:p>
        </p:txBody>
      </p:sp>
      <p:sp>
        <p:nvSpPr>
          <p:cNvPr id="22" name="Text Box 13"/>
          <p:cNvSpPr/>
          <p:nvPr/>
        </p:nvSpPr>
        <p:spPr>
          <a:xfrm>
            <a:off x="1722960" y="3362040"/>
            <a:ext cx="4723920" cy="511560"/>
          </a:xfrm>
          <a:prstGeom prst="rect">
            <a:avLst/>
          </a:prstGeom>
          <a:noFill/>
          <a:ln w="0">
            <a:noFill/>
          </a:ln>
        </p:spPr>
        <p:style>
          <a:lnRef idx="0"/>
          <a:fillRef idx="0"/>
          <a:effectRef idx="0"/>
          <a:fontRef idx="minor"/>
        </p:style>
        <p:txBody>
          <a:bodyPr lIns="90000" rIns="90000" tIns="46800" bIns="46800" anchor="t">
            <a:spAutoFit/>
          </a:bodyPr>
          <a:p>
            <a:pPr marL="216000" indent="-216000">
              <a:lnSpc>
                <a:spcPct val="98000"/>
              </a:lnSpc>
              <a:spcBef>
                <a:spcPts val="1749"/>
              </a:spcBef>
              <a:buClr>
                <a:srgbClr val="000000"/>
              </a:buClr>
              <a:buSzPct val="45000"/>
              <a:buFont typeface="Wingdings" charset="2"/>
              <a:buChar char=""/>
              <a:tabLst>
                <a:tab algn="l" pos="0"/>
                <a:tab algn="l" pos="449280"/>
                <a:tab algn="l" pos="898560"/>
                <a:tab algn="l" pos="1347840"/>
                <a:tab algn="l" pos="1797120"/>
                <a:tab algn="l" pos="2246400"/>
                <a:tab algn="l" pos="2695680"/>
                <a:tab algn="l" pos="3144960"/>
                <a:tab algn="l" pos="3594240"/>
                <a:tab algn="l" pos="4043520"/>
                <a:tab algn="l" pos="4492800"/>
                <a:tab algn="l" pos="4941720"/>
                <a:tab algn="l" pos="5391000"/>
                <a:tab algn="l" pos="5840280"/>
                <a:tab algn="l" pos="6289560"/>
                <a:tab algn="l" pos="6738840"/>
                <a:tab algn="l" pos="7188120"/>
                <a:tab algn="l" pos="7637400"/>
                <a:tab algn="l" pos="8086680"/>
                <a:tab algn="l" pos="8535960"/>
                <a:tab algn="l" pos="8985240"/>
              </a:tabLst>
            </a:pPr>
            <a:r>
              <a:rPr b="1" lang="es-ES" sz="2800" strike="noStrike" u="none">
                <a:solidFill>
                  <a:srgbClr val="00cc99"/>
                </a:solidFill>
                <a:effectLst/>
                <a:uFillTx/>
                <a:latin typeface="Arial"/>
                <a:ea typeface="DejaVu Sans"/>
              </a:rPr>
              <a:t>Ejemplo:</a:t>
            </a:r>
            <a:endParaRPr b="0" lang="es-AR" sz="2800" strike="noStrike" u="none">
              <a:solidFill>
                <a:srgbClr val="000000"/>
              </a:solidFill>
              <a:effectLst/>
              <a:uFillTx/>
              <a:latin typeface="Arial"/>
            </a:endParaRPr>
          </a:p>
        </p:txBody>
      </p:sp>
      <p:pic>
        <p:nvPicPr>
          <p:cNvPr id="23" name="Picture 4" descr=""/>
          <p:cNvPicPr/>
          <p:nvPr/>
        </p:nvPicPr>
        <p:blipFill>
          <a:blip r:embed="rId1"/>
          <a:stretch/>
        </p:blipFill>
        <p:spPr>
          <a:xfrm>
            <a:off x="2520000" y="3818880"/>
            <a:ext cx="5039640" cy="128376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CuadroTexto 26"/>
          <p:cNvSpPr/>
          <p:nvPr/>
        </p:nvSpPr>
        <p:spPr>
          <a:xfrm>
            <a:off x="493200" y="43524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Estilos</a:t>
            </a:r>
            <a:endParaRPr b="0" lang="es-AR" sz="2800" strike="noStrike" u="none">
              <a:solidFill>
                <a:srgbClr val="000000"/>
              </a:solidFill>
              <a:effectLst/>
              <a:uFillTx/>
              <a:latin typeface="Arial"/>
            </a:endParaRPr>
          </a:p>
        </p:txBody>
      </p:sp>
      <p:sp>
        <p:nvSpPr>
          <p:cNvPr id="25" name="CuadroTexto 27"/>
          <p:cNvSpPr/>
          <p:nvPr/>
        </p:nvSpPr>
        <p:spPr>
          <a:xfrm>
            <a:off x="699480" y="1092960"/>
            <a:ext cx="9200160" cy="25880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s-ES" sz="1600" strike="noStrike" u="none">
                <a:solidFill>
                  <a:schemeClr val="dk1"/>
                </a:solidFill>
                <a:effectLst/>
                <a:uFillTx/>
                <a:latin typeface="Titillium Web"/>
                <a:ea typeface="DejaVu Sans"/>
              </a:rPr>
              <a:t>Los estilos en línea (inline styles) son una forma de aplicar estilos CSS directamente a un elemento HTML específico utilizando el atributo Style</a:t>
            </a:r>
            <a:endParaRPr b="0" lang="es-AR" sz="1600" strike="noStrike" u="none">
              <a:solidFill>
                <a:srgbClr val="000000"/>
              </a:solidFill>
              <a:effectLst/>
              <a:uFillTx/>
              <a:latin typeface="Arial"/>
            </a:endParaRPr>
          </a:p>
          <a:p>
            <a:pPr algn="just" defTabSz="914400">
              <a:lnSpc>
                <a:spcPct val="100000"/>
              </a:lnSpc>
            </a:pPr>
            <a:endParaRPr b="0" lang="es-AR" sz="1600" strike="noStrike" u="none">
              <a:solidFill>
                <a:srgbClr val="000000"/>
              </a:solidFill>
              <a:effectLst/>
              <a:uFillTx/>
              <a:latin typeface="Arial"/>
            </a:endParaRPr>
          </a:p>
          <a:p>
            <a:pPr algn="just" defTabSz="914400">
              <a:lnSpc>
                <a:spcPct val="100000"/>
              </a:lnSpc>
            </a:pPr>
            <a:endParaRPr b="0" lang="es-AR" sz="1600" strike="noStrike" u="none">
              <a:solidFill>
                <a:srgbClr val="000000"/>
              </a:solidFill>
              <a:effectLst/>
              <a:uFillTx/>
              <a:latin typeface="Arial"/>
            </a:endParaRPr>
          </a:p>
          <a:p>
            <a:pPr algn="just" defTabSz="914400">
              <a:lnSpc>
                <a:spcPct val="100000"/>
              </a:lnSpc>
            </a:pPr>
            <a:endParaRPr b="0" lang="es-AR" sz="1600" strike="noStrike" u="none">
              <a:solidFill>
                <a:srgbClr val="000000"/>
              </a:solidFill>
              <a:effectLst/>
              <a:uFillTx/>
              <a:latin typeface="Arial"/>
            </a:endParaRPr>
          </a:p>
          <a:p>
            <a:pPr algn="just" defTabSz="914400">
              <a:lnSpc>
                <a:spcPct val="100000"/>
              </a:lnSpc>
            </a:pPr>
            <a:r>
              <a:rPr b="0" lang="es-ES" sz="1600" strike="noStrike" u="none">
                <a:solidFill>
                  <a:schemeClr val="dk1"/>
                </a:solidFill>
                <a:effectLst/>
                <a:uFillTx/>
                <a:latin typeface="Titillium Web"/>
                <a:ea typeface="DejaVu Sans"/>
              </a:rPr>
              <a:t>Los estilos en el documento HTML (también conocidos como estilos embebidos o embedded styles) son una forma de definir estilos CSS dentro de la sección &lt;head&gt; de un documento HTML utilizando el elemento &lt;style&gt;.</a:t>
            </a:r>
            <a:endParaRPr b="0" lang="es-AR" sz="1600" strike="noStrike" u="none">
              <a:solidFill>
                <a:srgbClr val="000000"/>
              </a:solidFill>
              <a:effectLst/>
              <a:uFillTx/>
              <a:latin typeface="Arial"/>
            </a:endParaRPr>
          </a:p>
          <a:p>
            <a:pPr algn="just" defTabSz="914400">
              <a:lnSpc>
                <a:spcPct val="100000"/>
              </a:lnSpc>
            </a:pPr>
            <a:endParaRPr b="0" lang="es-AR" sz="1800" strike="noStrike" u="none">
              <a:solidFill>
                <a:srgbClr val="000000"/>
              </a:solidFill>
              <a:effectLst/>
              <a:uFillTx/>
              <a:latin typeface="Arial"/>
            </a:endParaRPr>
          </a:p>
          <a:p>
            <a:pPr algn="just" defTabSz="914400">
              <a:lnSpc>
                <a:spcPct val="100000"/>
              </a:lnSpc>
            </a:pPr>
            <a:endParaRPr b="0" lang="es-AR" sz="1800" strike="noStrike" u="none">
              <a:solidFill>
                <a:srgbClr val="000000"/>
              </a:solidFill>
              <a:effectLst/>
              <a:uFillTx/>
              <a:latin typeface="Arial"/>
            </a:endParaRPr>
          </a:p>
        </p:txBody>
      </p:sp>
      <p:pic>
        <p:nvPicPr>
          <p:cNvPr id="26" name="" descr=""/>
          <p:cNvPicPr/>
          <p:nvPr/>
        </p:nvPicPr>
        <p:blipFill>
          <a:blip r:embed="rId1"/>
          <a:stretch/>
        </p:blipFill>
        <p:spPr>
          <a:xfrm>
            <a:off x="780480" y="1724400"/>
            <a:ext cx="8639640" cy="615240"/>
          </a:xfrm>
          <a:prstGeom prst="rect">
            <a:avLst/>
          </a:prstGeom>
          <a:noFill/>
          <a:ln w="0">
            <a:noFill/>
          </a:ln>
        </p:spPr>
      </p:pic>
      <p:pic>
        <p:nvPicPr>
          <p:cNvPr id="27" name="" descr=""/>
          <p:cNvPicPr/>
          <p:nvPr/>
        </p:nvPicPr>
        <p:blipFill>
          <a:blip r:embed="rId2"/>
          <a:stretch/>
        </p:blipFill>
        <p:spPr>
          <a:xfrm>
            <a:off x="780480" y="3190680"/>
            <a:ext cx="4708440" cy="22089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CuadroTexto 28"/>
          <p:cNvSpPr/>
          <p:nvPr/>
        </p:nvSpPr>
        <p:spPr>
          <a:xfrm>
            <a:off x="360360" y="1207800"/>
            <a:ext cx="9240840" cy="2634840"/>
          </a:xfrm>
          <a:prstGeom prst="rect">
            <a:avLst/>
          </a:prstGeom>
          <a:noFill/>
          <a:ln w="0">
            <a:noFill/>
          </a:ln>
        </p:spPr>
        <p:style>
          <a:lnRef idx="0"/>
          <a:fillRef idx="0"/>
          <a:effectRef idx="0"/>
          <a:fontRef idx="minor"/>
        </p:style>
        <p:txBody>
          <a:bodyPr lIns="90000" rIns="90000" tIns="45000" bIns="45000" anchor="t">
            <a:spAutoFit/>
          </a:bodyPr>
          <a:p>
            <a:pPr marL="285840" indent="-285840" algn="just" defTabSz="914400">
              <a:lnSpc>
                <a:spcPct val="100000"/>
              </a:lnSpc>
              <a:spcBef>
                <a:spcPts val="300"/>
              </a:spcBef>
              <a:spcAft>
                <a:spcPts val="300"/>
              </a:spcAft>
              <a:buClr>
                <a:srgbClr val="000000"/>
              </a:buClr>
              <a:buFont typeface="Arial"/>
              <a:buChar char="•"/>
            </a:pPr>
            <a:r>
              <a:rPr b="0" lang="es-ES" sz="1600" strike="noStrike" u="none">
                <a:solidFill>
                  <a:schemeClr val="dk1"/>
                </a:solidFill>
                <a:effectLst/>
                <a:uFillTx/>
                <a:latin typeface="Titillium Web"/>
                <a:ea typeface="DejaVu Sans"/>
              </a:rPr>
              <a:t>Los estilos en un archivo separado (también conocidos como estilos externos o external styles) son una forma de definir estilos CSS en un archivo separado de la página HTML. Los estilos externos se enlazan a la página HTML utilizando la etiqueta &lt;link&gt; dentro de la sección  &lt;head&gt;.</a:t>
            </a:r>
            <a:endParaRPr b="0" lang="es-AR" sz="1600" strike="noStrike" u="none">
              <a:solidFill>
                <a:srgbClr val="000000"/>
              </a:solidFill>
              <a:effectLst/>
              <a:uFillTx/>
              <a:latin typeface="Arial"/>
            </a:endParaRPr>
          </a:p>
          <a:p>
            <a:pPr algn="just" defTabSz="914400">
              <a:lnSpc>
                <a:spcPct val="100000"/>
              </a:lnSpc>
              <a:spcBef>
                <a:spcPts val="300"/>
              </a:spcBef>
              <a:spcAft>
                <a:spcPts val="300"/>
              </a:spcAft>
            </a:pPr>
            <a:endParaRPr b="0" lang="es-AR" sz="1600" strike="noStrike" u="none">
              <a:solidFill>
                <a:srgbClr val="000000"/>
              </a:solidFill>
              <a:effectLst/>
              <a:uFillTx/>
              <a:latin typeface="Arial"/>
            </a:endParaRPr>
          </a:p>
          <a:p>
            <a:pPr algn="just" defTabSz="914400">
              <a:lnSpc>
                <a:spcPct val="100000"/>
              </a:lnSpc>
              <a:spcBef>
                <a:spcPts val="300"/>
              </a:spcBef>
              <a:spcAft>
                <a:spcPts val="300"/>
              </a:spcAft>
            </a:pPr>
            <a:endParaRPr b="0" lang="es-AR" sz="1800" strike="noStrike" u="none">
              <a:solidFill>
                <a:srgbClr val="000000"/>
              </a:solidFill>
              <a:effectLst/>
              <a:uFillTx/>
              <a:latin typeface="Arial"/>
            </a:endParaRPr>
          </a:p>
          <a:p>
            <a:pPr algn="just" defTabSz="914400">
              <a:lnSpc>
                <a:spcPct val="100000"/>
              </a:lnSpc>
              <a:spcBef>
                <a:spcPts val="300"/>
              </a:spcBef>
              <a:spcAft>
                <a:spcPts val="300"/>
              </a:spcAft>
            </a:pPr>
            <a:endParaRPr b="0" lang="es-AR" sz="1800" strike="noStrike" u="none">
              <a:solidFill>
                <a:srgbClr val="000000"/>
              </a:solidFill>
              <a:effectLst/>
              <a:uFillTx/>
              <a:latin typeface="Arial"/>
            </a:endParaRPr>
          </a:p>
          <a:p>
            <a:pPr algn="just" defTabSz="914400">
              <a:lnSpc>
                <a:spcPct val="100000"/>
              </a:lnSpc>
              <a:spcBef>
                <a:spcPts val="300"/>
              </a:spcBef>
              <a:spcAft>
                <a:spcPts val="300"/>
              </a:spcAft>
            </a:pPr>
            <a:endParaRPr b="0" lang="es-AR" sz="1800" strike="noStrike" u="none">
              <a:solidFill>
                <a:srgbClr val="000000"/>
              </a:solidFill>
              <a:effectLst/>
              <a:uFillTx/>
              <a:latin typeface="Arial"/>
            </a:endParaRPr>
          </a:p>
          <a:p>
            <a:pPr algn="just" defTabSz="914400">
              <a:lnSpc>
                <a:spcPct val="100000"/>
              </a:lnSpc>
            </a:pPr>
            <a:endParaRPr b="0" lang="es-AR" sz="1800" strike="noStrike" u="none">
              <a:solidFill>
                <a:srgbClr val="000000"/>
              </a:solidFill>
              <a:effectLst/>
              <a:uFillTx/>
              <a:latin typeface="Arial"/>
            </a:endParaRPr>
          </a:p>
        </p:txBody>
      </p:sp>
      <p:sp>
        <p:nvSpPr>
          <p:cNvPr id="29" name="CuadroTexto 29"/>
          <p:cNvSpPr/>
          <p:nvPr/>
        </p:nvSpPr>
        <p:spPr>
          <a:xfrm>
            <a:off x="493200" y="43524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Estilos</a:t>
            </a:r>
            <a:endParaRPr b="0" lang="es-AR" sz="2800" strike="noStrike" u="none">
              <a:solidFill>
                <a:srgbClr val="000000"/>
              </a:solidFill>
              <a:effectLst/>
              <a:uFillTx/>
              <a:latin typeface="Arial"/>
            </a:endParaRPr>
          </a:p>
        </p:txBody>
      </p:sp>
      <p:pic>
        <p:nvPicPr>
          <p:cNvPr id="30" name="" descr=""/>
          <p:cNvPicPr/>
          <p:nvPr/>
        </p:nvPicPr>
        <p:blipFill>
          <a:blip r:embed="rId1"/>
          <a:stretch/>
        </p:blipFill>
        <p:spPr>
          <a:xfrm>
            <a:off x="720000" y="2856600"/>
            <a:ext cx="5942160" cy="182304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CuadroTexto 3"/>
          <p:cNvSpPr/>
          <p:nvPr/>
        </p:nvSpPr>
        <p:spPr>
          <a:xfrm>
            <a:off x="450360" y="1199880"/>
            <a:ext cx="9184320" cy="405828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spcBef>
                <a:spcPts val="1191"/>
              </a:spcBef>
              <a:spcAft>
                <a:spcPts val="992"/>
              </a:spcAft>
              <a:buClr>
                <a:srgbClr val="000000"/>
              </a:buClr>
              <a:buFont typeface="Arial"/>
              <a:buChar char="•"/>
            </a:pPr>
            <a:r>
              <a:rPr b="1" lang="es-ES" sz="1600" strike="noStrike" u="none">
                <a:solidFill>
                  <a:schemeClr val="dk1"/>
                </a:solidFill>
                <a:effectLst/>
                <a:uFillTx/>
                <a:latin typeface="Titillium Web"/>
                <a:ea typeface="DejaVu Sans"/>
              </a:rPr>
              <a:t>Selector de tipo: </a:t>
            </a:r>
            <a:r>
              <a:rPr b="0" lang="es-AR" sz="1000" strike="noStrike" u="none">
                <a:solidFill>
                  <a:srgbClr val="000000"/>
                </a:solidFill>
                <a:effectLst/>
                <a:uFillTx/>
                <a:latin typeface="Arial"/>
                <a:ea typeface="Microsoft YaHei"/>
              </a:rPr>
              <a:t> </a:t>
            </a:r>
            <a:r>
              <a:rPr b="0" lang="es-AR" sz="1800" strike="noStrike" u="none">
                <a:solidFill>
                  <a:srgbClr val="000000"/>
                </a:solidFill>
                <a:effectLst/>
                <a:uFillTx/>
                <a:latin typeface="Arial"/>
                <a:ea typeface="DejaVu Sans"/>
              </a:rPr>
              <a:t>Selecciona todos los elementos HTML del mismo tipo, como div, p, h1, etc.</a:t>
            </a:r>
            <a:endParaRPr b="0" lang="es-AR"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s-AR" sz="1800" strike="noStrike" u="none">
                <a:solidFill>
                  <a:srgbClr val="000000"/>
                </a:solidFill>
                <a:effectLst/>
                <a:uFillTx/>
                <a:latin typeface="Arial"/>
                <a:ea typeface="DejaVu Sans"/>
              </a:rPr>
              <a:t>p { color: blue; }</a:t>
            </a:r>
            <a:endParaRPr b="0" lang="es-AR" sz="1800" strike="noStrike" u="none">
              <a:solidFill>
                <a:srgbClr val="000000"/>
              </a:solidFill>
              <a:effectLst/>
              <a:uFillTx/>
              <a:latin typeface="Arial"/>
            </a:endParaRPr>
          </a:p>
          <a:p>
            <a:pPr defTabSz="914400">
              <a:lnSpc>
                <a:spcPct val="100000"/>
              </a:lnSpc>
            </a:pPr>
            <a:endParaRPr b="0" lang="es-AR" sz="1600" strike="noStrike" u="none">
              <a:solidFill>
                <a:srgbClr val="000000"/>
              </a:solidFill>
              <a:effectLst/>
              <a:uFillTx/>
              <a:latin typeface="Arial"/>
            </a:endParaRPr>
          </a:p>
          <a:p>
            <a:pPr marL="285840" indent="-285840" algn="just" defTabSz="914400">
              <a:lnSpc>
                <a:spcPct val="100000"/>
              </a:lnSpc>
              <a:spcBef>
                <a:spcPts val="249"/>
              </a:spcBef>
              <a:spcAft>
                <a:spcPts val="249"/>
              </a:spcAft>
              <a:buClr>
                <a:srgbClr val="000000"/>
              </a:buClr>
              <a:buFont typeface="Arial"/>
              <a:buChar char="•"/>
            </a:pPr>
            <a:r>
              <a:rPr b="1" lang="es-ES" sz="1600" strike="noStrike" u="none">
                <a:solidFill>
                  <a:schemeClr val="dk1"/>
                </a:solidFill>
                <a:effectLst/>
                <a:uFillTx/>
                <a:latin typeface="Titillium Web"/>
                <a:ea typeface="DejaVu Sans"/>
              </a:rPr>
              <a:t>Selector de clase: </a:t>
            </a:r>
            <a:r>
              <a:rPr b="0" lang="es-ES" sz="1600" strike="noStrike" u="none">
                <a:solidFill>
                  <a:schemeClr val="dk1"/>
                </a:solidFill>
                <a:effectLst/>
                <a:uFillTx/>
                <a:latin typeface="Titillium Web"/>
                <a:ea typeface="DejaVu Sans"/>
              </a:rPr>
              <a:t>Selecciona todos los elementos que tienen una clase específica.</a:t>
            </a:r>
            <a:endParaRPr b="0" lang="es-AR" sz="1600" strike="noStrike" u="none">
              <a:solidFill>
                <a:srgbClr val="000000"/>
              </a:solidFill>
              <a:effectLst/>
              <a:uFillTx/>
              <a:latin typeface="Arial"/>
            </a:endParaRPr>
          </a:p>
          <a:p>
            <a:pPr algn="just" defTabSz="914400">
              <a:lnSpc>
                <a:spcPct val="100000"/>
              </a:lnSpc>
              <a:spcBef>
                <a:spcPts val="249"/>
              </a:spcBef>
              <a:spcAft>
                <a:spcPts val="249"/>
              </a:spcAft>
            </a:pPr>
            <a:endParaRPr b="0" lang="es-AR" sz="1600" strike="noStrike" u="none">
              <a:solidFill>
                <a:srgbClr val="000000"/>
              </a:solidFill>
              <a:effectLst/>
              <a:uFillTx/>
              <a:latin typeface="Arial"/>
            </a:endParaRPr>
          </a:p>
          <a:p>
            <a:pPr marL="285840" indent="-285840" algn="just" defTabSz="914400">
              <a:lnSpc>
                <a:spcPct val="100000"/>
              </a:lnSpc>
              <a:spcBef>
                <a:spcPts val="249"/>
              </a:spcBef>
              <a:spcAft>
                <a:spcPts val="249"/>
              </a:spcAft>
              <a:buClr>
                <a:srgbClr val="000000"/>
              </a:buClr>
              <a:buFont typeface="Arial"/>
              <a:buChar char="•"/>
            </a:pPr>
            <a:r>
              <a:rPr b="1" lang="es-AR" sz="1800" strike="noStrike" u="none">
                <a:solidFill>
                  <a:srgbClr val="000000"/>
                </a:solidFill>
                <a:effectLst/>
                <a:uFillTx/>
                <a:latin typeface="Arial"/>
                <a:ea typeface="DejaVu Sans"/>
              </a:rPr>
              <a:t>.clase { color: red; }</a:t>
            </a:r>
            <a:endParaRPr b="0" lang="es-AR" sz="1800" strike="noStrike" u="none">
              <a:solidFill>
                <a:srgbClr val="000000"/>
              </a:solidFill>
              <a:effectLst/>
              <a:uFillTx/>
              <a:latin typeface="Arial"/>
            </a:endParaRPr>
          </a:p>
          <a:p>
            <a:pPr algn="just" defTabSz="914400">
              <a:lnSpc>
                <a:spcPct val="100000"/>
              </a:lnSpc>
              <a:spcBef>
                <a:spcPts val="249"/>
              </a:spcBef>
              <a:spcAft>
                <a:spcPts val="249"/>
              </a:spcAft>
            </a:pPr>
            <a:endParaRPr b="0" lang="es-AR" sz="1600" strike="noStrike" u="none">
              <a:solidFill>
                <a:srgbClr val="000000"/>
              </a:solidFill>
              <a:effectLst/>
              <a:uFillTx/>
              <a:latin typeface="Arial"/>
            </a:endParaRPr>
          </a:p>
          <a:p>
            <a:pPr marL="285840" indent="-285840" algn="just" defTabSz="914400">
              <a:lnSpc>
                <a:spcPct val="100000"/>
              </a:lnSpc>
              <a:spcBef>
                <a:spcPts val="249"/>
              </a:spcBef>
              <a:spcAft>
                <a:spcPts val="249"/>
              </a:spcAft>
              <a:buClr>
                <a:srgbClr val="000000"/>
              </a:buClr>
              <a:buFont typeface="Arial"/>
              <a:buChar char="•"/>
            </a:pPr>
            <a:r>
              <a:rPr b="1" lang="es-ES" sz="1600" strike="noStrike" u="none">
                <a:solidFill>
                  <a:schemeClr val="dk1"/>
                </a:solidFill>
                <a:effectLst/>
                <a:uFillTx/>
                <a:latin typeface="Titillium Web"/>
                <a:ea typeface="DejaVu Sans"/>
              </a:rPr>
              <a:t>Selector de ID: </a:t>
            </a:r>
            <a:r>
              <a:rPr b="0" lang="es-ES" sz="1600" strike="noStrike" u="none">
                <a:solidFill>
                  <a:schemeClr val="dk1"/>
                </a:solidFill>
                <a:effectLst/>
                <a:uFillTx/>
                <a:latin typeface="Titillium Web"/>
                <a:ea typeface="DejaVu Sans"/>
              </a:rPr>
              <a:t>Selecciona un elemento HTML que tiene un atributo id específico.</a:t>
            </a:r>
            <a:endParaRPr b="0" lang="es-AR" sz="1600" strike="noStrike" u="none">
              <a:solidFill>
                <a:srgbClr val="000000"/>
              </a:solidFill>
              <a:effectLst/>
              <a:uFillTx/>
              <a:latin typeface="Arial"/>
            </a:endParaRPr>
          </a:p>
          <a:p>
            <a:pPr algn="just" defTabSz="914400">
              <a:lnSpc>
                <a:spcPct val="100000"/>
              </a:lnSpc>
              <a:spcBef>
                <a:spcPts val="249"/>
              </a:spcBef>
              <a:spcAft>
                <a:spcPts val="249"/>
              </a:spcAft>
            </a:pPr>
            <a:endParaRPr b="0" lang="es-AR" sz="1600" strike="noStrike" u="none">
              <a:solidFill>
                <a:srgbClr val="000000"/>
              </a:solidFill>
              <a:effectLst/>
              <a:uFillTx/>
              <a:latin typeface="Arial"/>
            </a:endParaRPr>
          </a:p>
          <a:p>
            <a:pPr marL="285840" indent="-285840" algn="just" defTabSz="914400">
              <a:lnSpc>
                <a:spcPct val="100000"/>
              </a:lnSpc>
              <a:spcBef>
                <a:spcPts val="249"/>
              </a:spcBef>
              <a:spcAft>
                <a:spcPts val="249"/>
              </a:spcAft>
              <a:buClr>
                <a:srgbClr val="000000"/>
              </a:buClr>
              <a:buFont typeface="Arial"/>
              <a:buChar char="•"/>
            </a:pPr>
            <a:r>
              <a:rPr b="1" lang="es-AR" sz="1800" strike="noStrike" u="none">
                <a:solidFill>
                  <a:srgbClr val="000000"/>
                </a:solidFill>
                <a:effectLst/>
                <a:uFillTx/>
                <a:latin typeface="Arial"/>
                <a:ea typeface="DejaVu Sans"/>
              </a:rPr>
              <a:t>#id { color: green; }</a:t>
            </a:r>
            <a:endParaRPr b="0" lang="es-AR" sz="1800" strike="noStrike" u="none">
              <a:solidFill>
                <a:srgbClr val="000000"/>
              </a:solidFill>
              <a:effectLst/>
              <a:uFillTx/>
              <a:latin typeface="Arial"/>
            </a:endParaRPr>
          </a:p>
          <a:p>
            <a:pPr algn="just" defTabSz="914400">
              <a:lnSpc>
                <a:spcPct val="100000"/>
              </a:lnSpc>
              <a:spcBef>
                <a:spcPts val="249"/>
              </a:spcBef>
              <a:spcAft>
                <a:spcPts val="249"/>
              </a:spcAft>
            </a:pPr>
            <a:endParaRPr b="0" lang="es-AR" sz="1600" strike="noStrike" u="none">
              <a:solidFill>
                <a:srgbClr val="000000"/>
              </a:solidFill>
              <a:effectLst/>
              <a:uFillTx/>
              <a:latin typeface="Arial"/>
            </a:endParaRPr>
          </a:p>
        </p:txBody>
      </p:sp>
      <p:sp>
        <p:nvSpPr>
          <p:cNvPr id="32" name="CuadroTexto 5"/>
          <p:cNvSpPr/>
          <p:nvPr/>
        </p:nvSpPr>
        <p:spPr>
          <a:xfrm>
            <a:off x="278640" y="43380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Selectores</a:t>
            </a:r>
            <a:endParaRPr b="0" lang="es-AR"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CuadroTexto 22"/>
          <p:cNvSpPr/>
          <p:nvPr/>
        </p:nvSpPr>
        <p:spPr>
          <a:xfrm>
            <a:off x="450360" y="1199880"/>
            <a:ext cx="9184320" cy="441036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spcBef>
                <a:spcPts val="1191"/>
              </a:spcBef>
              <a:spcAft>
                <a:spcPts val="992"/>
              </a:spcAft>
              <a:buClr>
                <a:srgbClr val="000000"/>
              </a:buClr>
              <a:buFont typeface="Arial"/>
              <a:buChar char="•"/>
            </a:pPr>
            <a:r>
              <a:rPr b="1" lang="es-ES" sz="1600" strike="noStrike" u="none">
                <a:solidFill>
                  <a:schemeClr val="dk1"/>
                </a:solidFill>
                <a:effectLst/>
                <a:uFillTx/>
                <a:latin typeface="Titillium Web"/>
                <a:ea typeface="DejaVu Sans"/>
              </a:rPr>
              <a:t>Selector de atributo: </a:t>
            </a:r>
            <a:r>
              <a:rPr b="0" lang="es-ES" sz="1600" strike="noStrike" u="none">
                <a:solidFill>
                  <a:schemeClr val="dk1"/>
                </a:solidFill>
                <a:effectLst/>
                <a:uFillTx/>
                <a:latin typeface="Titillium Web"/>
                <a:ea typeface="DejaVu Sans"/>
              </a:rPr>
              <a:t>Selecciona elementos HTML que tienen un atributo específi co, como href, src, title, etc.</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s-AR" sz="1800" strike="noStrike" u="none">
                <a:solidFill>
                  <a:srgbClr val="000000"/>
                </a:solidFill>
                <a:effectLst/>
                <a:uFillTx/>
                <a:latin typeface="Arial"/>
                <a:ea typeface="DejaVu Sans"/>
              </a:rPr>
              <a:t>[href] { color: purple; }</a:t>
            </a:r>
            <a:endParaRPr b="0" lang="es-AR" sz="1800" strike="noStrike" u="none">
              <a:solidFill>
                <a:srgbClr val="000000"/>
              </a:solidFill>
              <a:effectLst/>
              <a:uFillTx/>
              <a:latin typeface="Arial"/>
            </a:endParaRPr>
          </a:p>
          <a:p>
            <a:pPr algn="just" defTabSz="914400">
              <a:lnSpc>
                <a:spcPct val="100000"/>
              </a:lnSpc>
              <a:spcBef>
                <a:spcPts val="249"/>
              </a:spcBef>
              <a:spcAft>
                <a:spcPts val="249"/>
              </a:spcAft>
            </a:pPr>
            <a:endParaRPr b="0" lang="es-AR" sz="1600" strike="noStrike" u="none">
              <a:solidFill>
                <a:srgbClr val="000000"/>
              </a:solidFill>
              <a:effectLst/>
              <a:uFillTx/>
              <a:latin typeface="Arial"/>
            </a:endParaRPr>
          </a:p>
          <a:p>
            <a:pPr marL="285840" indent="-285840" algn="just" defTabSz="914400">
              <a:lnSpc>
                <a:spcPct val="100000"/>
              </a:lnSpc>
              <a:spcBef>
                <a:spcPts val="249"/>
              </a:spcBef>
              <a:spcAft>
                <a:spcPts val="249"/>
              </a:spcAft>
              <a:buClr>
                <a:srgbClr val="000000"/>
              </a:buClr>
              <a:buFont typeface="Arial"/>
              <a:buChar char="•"/>
            </a:pPr>
            <a:r>
              <a:rPr b="1" lang="es-ES" sz="1600" strike="noStrike" u="none">
                <a:solidFill>
                  <a:schemeClr val="dk1"/>
                </a:solidFill>
                <a:effectLst/>
                <a:uFillTx/>
                <a:latin typeface="Titillium Web"/>
                <a:ea typeface="DejaVu Sans"/>
              </a:rPr>
              <a:t>Selector de descendencia: </a:t>
            </a:r>
            <a:r>
              <a:rPr b="0" lang="es-ES" sz="1600" strike="noStrike" u="none">
                <a:solidFill>
                  <a:schemeClr val="dk1"/>
                </a:solidFill>
                <a:effectLst/>
                <a:uFillTx/>
                <a:latin typeface="Titillium Web"/>
                <a:ea typeface="DejaVu Sans"/>
              </a:rPr>
              <a:t>Selecciona elementos que son descendientes de otros elementos, es decir, que están dentro de otros elementos HTML.</a:t>
            </a:r>
            <a:endParaRPr b="0" lang="es-AR" sz="1600" strike="noStrike" u="none">
              <a:solidFill>
                <a:srgbClr val="000000"/>
              </a:solidFill>
              <a:effectLst/>
              <a:uFillTx/>
              <a:latin typeface="Arial"/>
            </a:endParaRPr>
          </a:p>
          <a:p>
            <a:pPr algn="just" defTabSz="914400">
              <a:lnSpc>
                <a:spcPct val="100000"/>
              </a:lnSpc>
              <a:spcBef>
                <a:spcPts val="249"/>
              </a:spcBef>
              <a:spcAft>
                <a:spcPts val="249"/>
              </a:spcAft>
            </a:pPr>
            <a:endParaRPr b="0" lang="es-AR" sz="1600" strike="noStrike" u="none">
              <a:solidFill>
                <a:srgbClr val="000000"/>
              </a:solidFill>
              <a:effectLst/>
              <a:uFillTx/>
              <a:latin typeface="Arial"/>
            </a:endParaRPr>
          </a:p>
          <a:p>
            <a:pPr marL="285840" indent="-285840" algn="just" defTabSz="914400">
              <a:lnSpc>
                <a:spcPct val="100000"/>
              </a:lnSpc>
              <a:spcBef>
                <a:spcPts val="249"/>
              </a:spcBef>
              <a:spcAft>
                <a:spcPts val="249"/>
              </a:spcAft>
              <a:buClr>
                <a:srgbClr val="000000"/>
              </a:buClr>
              <a:buFont typeface="Arial"/>
              <a:buChar char="•"/>
            </a:pPr>
            <a:r>
              <a:rPr b="1" lang="es-AR" sz="1800" strike="noStrike" u="none">
                <a:solidFill>
                  <a:srgbClr val="000000"/>
                </a:solidFill>
                <a:effectLst/>
                <a:uFillTx/>
                <a:latin typeface="Arial"/>
                <a:ea typeface="DejaVu Sans"/>
              </a:rPr>
              <a:t>div p { color: gray; }</a:t>
            </a:r>
            <a:endParaRPr b="0" lang="es-AR" sz="1800" strike="noStrike" u="none">
              <a:solidFill>
                <a:srgbClr val="000000"/>
              </a:solidFill>
              <a:effectLst/>
              <a:uFillTx/>
              <a:latin typeface="Arial"/>
            </a:endParaRPr>
          </a:p>
          <a:p>
            <a:pPr algn="just" defTabSz="914400">
              <a:lnSpc>
                <a:spcPct val="100000"/>
              </a:lnSpc>
              <a:spcBef>
                <a:spcPts val="249"/>
              </a:spcBef>
              <a:spcAft>
                <a:spcPts val="249"/>
              </a:spcAft>
            </a:pPr>
            <a:endParaRPr b="0" lang="es-AR" sz="1600" strike="noStrike" u="none">
              <a:solidFill>
                <a:srgbClr val="000000"/>
              </a:solidFill>
              <a:effectLst/>
              <a:uFillTx/>
              <a:latin typeface="Arial"/>
            </a:endParaRPr>
          </a:p>
          <a:p>
            <a:pPr marL="285840" indent="-285840" algn="just" defTabSz="914400">
              <a:lnSpc>
                <a:spcPct val="100000"/>
              </a:lnSpc>
              <a:spcBef>
                <a:spcPts val="249"/>
              </a:spcBef>
              <a:spcAft>
                <a:spcPts val="249"/>
              </a:spcAft>
              <a:buClr>
                <a:srgbClr val="000000"/>
              </a:buClr>
              <a:buFont typeface="Arial"/>
              <a:buChar char="•"/>
            </a:pPr>
            <a:r>
              <a:rPr b="1" lang="es-ES" sz="1600" strike="noStrike" u="none">
                <a:solidFill>
                  <a:schemeClr val="dk1"/>
                </a:solidFill>
                <a:effectLst/>
                <a:uFillTx/>
                <a:latin typeface="Titillium Web"/>
                <a:ea typeface="DejaVu Sans"/>
              </a:rPr>
              <a:t>Selector de hijo directo: </a:t>
            </a:r>
            <a:r>
              <a:rPr b="0" lang="es-ES" sz="1600" strike="noStrike" u="none">
                <a:solidFill>
                  <a:schemeClr val="dk1"/>
                </a:solidFill>
                <a:effectLst/>
                <a:uFillTx/>
                <a:latin typeface="Titillium Web"/>
                <a:ea typeface="DejaVu Sans"/>
              </a:rPr>
              <a:t>Selecciona elementos que son hijos directos de otros elementos HTML.</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s-AR" sz="1800" strike="noStrike" u="none">
                <a:solidFill>
                  <a:srgbClr val="000000"/>
                </a:solidFill>
                <a:effectLst/>
                <a:uFillTx/>
                <a:latin typeface="Arial"/>
                <a:ea typeface="DejaVu Sans"/>
              </a:rPr>
              <a:t>div &gt; p { color: orange; }</a:t>
            </a:r>
            <a:endParaRPr b="0" lang="es-AR" sz="1800" strike="noStrike" u="none">
              <a:solidFill>
                <a:srgbClr val="000000"/>
              </a:solidFill>
              <a:effectLst/>
              <a:uFillTx/>
              <a:latin typeface="Arial"/>
            </a:endParaRPr>
          </a:p>
          <a:p>
            <a:pPr defTabSz="914400">
              <a:lnSpc>
                <a:spcPct val="100000"/>
              </a:lnSpc>
            </a:pPr>
            <a:endParaRPr b="0" lang="es-AR" sz="1600" strike="noStrike" u="none">
              <a:solidFill>
                <a:srgbClr val="000000"/>
              </a:solidFill>
              <a:effectLst/>
              <a:uFillTx/>
              <a:latin typeface="Arial"/>
            </a:endParaRPr>
          </a:p>
        </p:txBody>
      </p:sp>
      <p:sp>
        <p:nvSpPr>
          <p:cNvPr id="34" name="CuadroTexto 30"/>
          <p:cNvSpPr/>
          <p:nvPr/>
        </p:nvSpPr>
        <p:spPr>
          <a:xfrm>
            <a:off x="278640" y="43380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Selectores</a:t>
            </a:r>
            <a:endParaRPr b="0" lang="es-AR"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CuadroTexto 31"/>
          <p:cNvSpPr/>
          <p:nvPr/>
        </p:nvSpPr>
        <p:spPr>
          <a:xfrm>
            <a:off x="450360" y="1199880"/>
            <a:ext cx="9184320" cy="289728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buClr>
                <a:srgbClr val="000000"/>
              </a:buClr>
              <a:buFont typeface="Arial"/>
              <a:buChar char="•"/>
            </a:pPr>
            <a:r>
              <a:rPr b="1" lang="es-ES" sz="1600" strike="noStrike" u="none">
                <a:solidFill>
                  <a:schemeClr val="dk1"/>
                </a:solidFill>
                <a:effectLst/>
                <a:uFillTx/>
                <a:latin typeface="Titillium Web"/>
                <a:ea typeface="DejaVu Sans"/>
              </a:rPr>
              <a:t>Selector de hermano adyacente:</a:t>
            </a:r>
            <a:r>
              <a:rPr b="0" lang="es-ES" sz="1250" strike="noStrike" u="none">
                <a:solidFill>
                  <a:schemeClr val="dk1"/>
                </a:solidFill>
                <a:effectLst/>
                <a:uFillTx/>
                <a:latin typeface="Titillium Web"/>
                <a:ea typeface="DejaVu Sans"/>
              </a:rPr>
              <a:t> </a:t>
            </a:r>
            <a:r>
              <a:rPr b="0" lang="es-ES" sz="1600" strike="noStrike" u="none">
                <a:solidFill>
                  <a:schemeClr val="dk1"/>
                </a:solidFill>
                <a:effectLst/>
                <a:uFillTx/>
                <a:latin typeface="Titillium Web"/>
                <a:ea typeface="DejaVu Sans"/>
              </a:rPr>
              <a:t>Selecciona el primer elemento hermano que sigue inmediatamente después del elemento seleccionado.</a:t>
            </a:r>
            <a:endParaRPr b="0" lang="es-AR" sz="1600" strike="noStrike" u="none">
              <a:solidFill>
                <a:srgbClr val="000000"/>
              </a:solidFill>
              <a:effectLst/>
              <a:uFillTx/>
              <a:latin typeface="Arial"/>
            </a:endParaRPr>
          </a:p>
          <a:p>
            <a:pPr defTabSz="914400">
              <a:lnSpc>
                <a:spcPct val="100000"/>
              </a:lnSpc>
            </a:pPr>
            <a:endParaRPr b="0" lang="es-AR" sz="1800" strike="noStrike" u="none">
              <a:solidFill>
                <a:srgbClr val="000000"/>
              </a:solidFill>
              <a:effectLst/>
              <a:uFillTx/>
              <a:latin typeface="Arial"/>
            </a:endParaRPr>
          </a:p>
          <a:p>
            <a:pPr marL="285840" indent="-285840" defTabSz="914400">
              <a:lnSpc>
                <a:spcPct val="100000"/>
              </a:lnSpc>
              <a:buClr>
                <a:srgbClr val="000000"/>
              </a:buClr>
              <a:buFont typeface="Arial"/>
              <a:buChar char="•"/>
            </a:pPr>
            <a:r>
              <a:rPr b="1" lang="es-AR" sz="1800" strike="noStrike" u="none">
                <a:solidFill>
                  <a:srgbClr val="000000"/>
                </a:solidFill>
                <a:effectLst/>
                <a:uFillTx/>
                <a:latin typeface="Arial"/>
                <a:ea typeface="DejaVu Sans"/>
              </a:rPr>
              <a:t>h1 + p { color: pink; }</a:t>
            </a:r>
            <a:endParaRPr b="0" lang="es-AR" sz="1800" strike="noStrike" u="none">
              <a:solidFill>
                <a:srgbClr val="000000"/>
              </a:solidFill>
              <a:effectLst/>
              <a:uFillTx/>
              <a:latin typeface="Arial"/>
            </a:endParaRPr>
          </a:p>
          <a:p>
            <a:pPr defTabSz="914400">
              <a:lnSpc>
                <a:spcPct val="100000"/>
              </a:lnSpc>
              <a:spcBef>
                <a:spcPts val="1191"/>
              </a:spcBef>
              <a:spcAft>
                <a:spcPts val="992"/>
              </a:spcAft>
            </a:pPr>
            <a:endParaRPr b="0" lang="es-AR" sz="1800" strike="noStrike" u="none">
              <a:solidFill>
                <a:srgbClr val="000000"/>
              </a:solidFill>
              <a:effectLst/>
              <a:uFillTx/>
              <a:latin typeface="Arial"/>
            </a:endParaRPr>
          </a:p>
          <a:p>
            <a:pPr marL="216000" indent="-216000" algn="just" defTabSz="914400">
              <a:lnSpc>
                <a:spcPct val="100000"/>
              </a:lnSpc>
              <a:buClr>
                <a:srgbClr val="000000"/>
              </a:buClr>
              <a:buSzPct val="45000"/>
              <a:buFont typeface="Wingdings" charset="2"/>
              <a:buChar char=""/>
            </a:pPr>
            <a:r>
              <a:rPr b="1" lang="es-ES" sz="1600" strike="noStrike" u="none">
                <a:solidFill>
                  <a:schemeClr val="dk1"/>
                </a:solidFill>
                <a:effectLst/>
                <a:uFillTx/>
                <a:latin typeface="Titillium Web"/>
                <a:ea typeface="DejaVu Sans"/>
              </a:rPr>
              <a:t>Selector de hermano general:</a:t>
            </a:r>
            <a:r>
              <a:rPr b="0" lang="es-ES" sz="1250" strike="noStrike" u="none">
                <a:solidFill>
                  <a:schemeClr val="dk1"/>
                </a:solidFill>
                <a:effectLst/>
                <a:uFillTx/>
                <a:latin typeface="Titillium Web"/>
                <a:ea typeface="DejaVu Sans"/>
              </a:rPr>
              <a:t> </a:t>
            </a:r>
            <a:r>
              <a:rPr b="0" lang="es-ES" sz="1600" strike="noStrike" u="none">
                <a:solidFill>
                  <a:schemeClr val="dk1"/>
                </a:solidFill>
                <a:effectLst/>
                <a:uFillTx/>
                <a:latin typeface="Titillium Web"/>
                <a:ea typeface="DejaVu Sans"/>
              </a:rPr>
              <a:t>Selecciona todos los elementos hermanos que siguen después del elemento seleccionado.</a:t>
            </a:r>
            <a:endParaRPr b="0" lang="es-AR" sz="1600" strike="noStrike" u="none">
              <a:solidFill>
                <a:srgbClr val="000000"/>
              </a:solidFill>
              <a:effectLst/>
              <a:uFillTx/>
              <a:latin typeface="Arial"/>
            </a:endParaRPr>
          </a:p>
          <a:p>
            <a:pPr algn="just" defTabSz="914400">
              <a:lnSpc>
                <a:spcPct val="100000"/>
              </a:lnSpc>
              <a:spcBef>
                <a:spcPts val="249"/>
              </a:spcBef>
              <a:spcAft>
                <a:spcPts val="249"/>
              </a:spcAft>
            </a:pP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1" lang="es-AR" sz="1800" strike="noStrike" u="none">
                <a:solidFill>
                  <a:srgbClr val="000000"/>
                </a:solidFill>
                <a:effectLst/>
                <a:uFillTx/>
                <a:latin typeface="Arial"/>
                <a:ea typeface="DejaVu Sans"/>
              </a:rPr>
              <a:t>h1 ~ p { color: brown; }</a:t>
            </a:r>
            <a:endParaRPr b="0" lang="es-AR" sz="1800" strike="noStrike" u="none">
              <a:solidFill>
                <a:srgbClr val="000000"/>
              </a:solidFill>
              <a:effectLst/>
              <a:uFillTx/>
              <a:latin typeface="Arial"/>
            </a:endParaRPr>
          </a:p>
        </p:txBody>
      </p:sp>
      <p:sp>
        <p:nvSpPr>
          <p:cNvPr id="36" name="CuadroTexto 32"/>
          <p:cNvSpPr/>
          <p:nvPr/>
        </p:nvSpPr>
        <p:spPr>
          <a:xfrm>
            <a:off x="278640" y="43380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Selectores</a:t>
            </a:r>
            <a:endParaRPr b="0" lang="es-AR"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CuadroTexto 37"/>
          <p:cNvSpPr/>
          <p:nvPr/>
        </p:nvSpPr>
        <p:spPr>
          <a:xfrm>
            <a:off x="278640" y="950400"/>
            <a:ext cx="9545040" cy="462816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spcBef>
                <a:spcPts val="1191"/>
              </a:spcBef>
              <a:spcAft>
                <a:spcPts val="992"/>
              </a:spcAft>
            </a:pPr>
            <a:r>
              <a:rPr b="0" lang="es-ES" sz="1500" strike="noStrike" u="none">
                <a:solidFill>
                  <a:schemeClr val="dk1"/>
                </a:solidFill>
                <a:effectLst/>
                <a:uFillTx/>
                <a:latin typeface="Titillium Web"/>
                <a:ea typeface="DejaVu Sans"/>
              </a:rPr>
              <a:t>En CSS, se pueden definir los colores utilizando varias técnicas, como nombres de color predefinidos, valores RGB, valores hexadecimales, valores HSL, entre otros.</a:t>
            </a:r>
            <a:endParaRPr b="0" lang="es-AR" sz="1500" strike="noStrike" u="non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b="1" lang="es-ES" sz="1500" strike="noStrike" u="none">
                <a:solidFill>
                  <a:schemeClr val="dk1"/>
                </a:solidFill>
                <a:effectLst/>
                <a:uFillTx/>
                <a:latin typeface="Titillium Web"/>
                <a:ea typeface="DejaVu Sans"/>
              </a:rPr>
              <a:t>Colores predefinidos:</a:t>
            </a:r>
            <a:r>
              <a:rPr b="0" lang="es-ES" sz="1500" strike="noStrike" u="none">
                <a:solidFill>
                  <a:schemeClr val="dk1"/>
                </a:solidFill>
                <a:effectLst/>
                <a:uFillTx/>
                <a:latin typeface="Titillium Web"/>
                <a:ea typeface="DejaVu Sans"/>
              </a:rPr>
              <a:t> CSS proporciona una lista de nombres de color predefinidos, como "red", "green", "blue", "yellow", "purple", etc.</a:t>
            </a:r>
            <a:endParaRPr b="0" lang="es-AR" sz="1500" strike="noStrike" u="non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b="1" lang="es-ES" sz="1500" strike="noStrike" u="none">
                <a:solidFill>
                  <a:schemeClr val="dk1"/>
                </a:solidFill>
                <a:effectLst/>
                <a:uFillTx/>
                <a:latin typeface="Titillium Web"/>
                <a:ea typeface="DejaVu Sans"/>
              </a:rPr>
              <a:t>Valores RGB:</a:t>
            </a:r>
            <a:r>
              <a:rPr b="0" lang="es-ES" sz="1500" strike="noStrike" u="none">
                <a:solidFill>
                  <a:schemeClr val="dk1"/>
                </a:solidFill>
                <a:effectLst/>
                <a:uFillTx/>
                <a:latin typeface="Titillium Web"/>
                <a:ea typeface="DejaVu Sans"/>
              </a:rPr>
              <a:t> Los valores RGB representan los componentes rojo, verde y azul de un color. Se pueden definir utilizando la sintaxis rgb(red, green, blue) donde cada valor está en el rango de 0 a 255. </a:t>
            </a:r>
            <a:endParaRPr b="0" lang="es-AR" sz="1500" strike="noStrike" u="non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b="1" lang="es-ES" sz="1500" strike="noStrike" u="none">
                <a:solidFill>
                  <a:schemeClr val="dk1"/>
                </a:solidFill>
                <a:effectLst/>
                <a:uFillTx/>
                <a:latin typeface="Titillium Web"/>
                <a:ea typeface="DejaVu Sans"/>
              </a:rPr>
              <a:t>Valores hexadecimales:</a:t>
            </a:r>
            <a:r>
              <a:rPr b="0" lang="es-ES" sz="1500" strike="noStrike" u="none">
                <a:solidFill>
                  <a:schemeClr val="dk1"/>
                </a:solidFill>
                <a:effectLst/>
                <a:uFillTx/>
                <a:latin typeface="Titillium Web"/>
                <a:ea typeface="DejaVu Sans"/>
              </a:rPr>
              <a:t> Los valores hexadecimales representan los mismos componentes de color que los valores RGB, pero se expresan en una notación hexadecimal. Se pueden definir utilizando la sintaxis #rrggbb donde rr, gg y bb son valores hexadecimales para los componentes rojo, verde y azul respectivamente.</a:t>
            </a:r>
            <a:endParaRPr b="0" lang="es-AR" sz="1500" strike="noStrike" u="none">
              <a:solidFill>
                <a:srgbClr val="000000"/>
              </a:solidFill>
              <a:effectLst/>
              <a:uFillTx/>
              <a:latin typeface="Arial"/>
            </a:endParaRPr>
          </a:p>
          <a:p>
            <a:pPr marL="285840" indent="-285840" algn="just" defTabSz="914400">
              <a:lnSpc>
                <a:spcPct val="100000"/>
              </a:lnSpc>
              <a:spcBef>
                <a:spcPts val="1191"/>
              </a:spcBef>
              <a:spcAft>
                <a:spcPts val="992"/>
              </a:spcAft>
              <a:buClr>
                <a:srgbClr val="000000"/>
              </a:buClr>
              <a:buFont typeface="Arial"/>
              <a:buChar char="•"/>
            </a:pPr>
            <a:r>
              <a:rPr b="1" lang="es-ES" sz="1500" strike="noStrike" u="none">
                <a:solidFill>
                  <a:schemeClr val="dk1"/>
                </a:solidFill>
                <a:effectLst/>
                <a:uFillTx/>
                <a:latin typeface="Titillium Web"/>
                <a:ea typeface="DejaVu Sans"/>
              </a:rPr>
              <a:t>Valores HSL: </a:t>
            </a:r>
            <a:r>
              <a:rPr b="0" lang="es-ES" sz="1500" strike="noStrike" u="none">
                <a:solidFill>
                  <a:schemeClr val="dk1"/>
                </a:solidFill>
                <a:effectLst/>
                <a:uFillTx/>
                <a:latin typeface="Titillium Web"/>
                <a:ea typeface="DejaVu Sans"/>
              </a:rPr>
              <a:t>Los valores HSL representan un color en términos de su tono, saturación y luminosidad. Se pueden defi nir utilizando la sintaxis hsl(hue, saturation, lightness) donde hue es un valor en grados, saturation es un valor en porcentaje y lightness es un valor en porcentaje. Por ejemplo, hsl(0, 100%, 50%) representa el color rojo puro.</a:t>
            </a:r>
            <a:endParaRPr b="0" lang="es-AR" sz="1500" strike="noStrike" u="none">
              <a:solidFill>
                <a:srgbClr val="000000"/>
              </a:solidFill>
              <a:effectLst/>
              <a:uFillTx/>
              <a:latin typeface="Arial"/>
            </a:endParaRPr>
          </a:p>
        </p:txBody>
      </p:sp>
      <p:sp>
        <p:nvSpPr>
          <p:cNvPr id="38" name="CuadroTexto 38"/>
          <p:cNvSpPr/>
          <p:nvPr/>
        </p:nvSpPr>
        <p:spPr>
          <a:xfrm>
            <a:off x="278640" y="43380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Colores</a:t>
            </a:r>
            <a:endParaRPr b="0" lang="es-AR"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CuadroTexto 39"/>
          <p:cNvSpPr/>
          <p:nvPr/>
        </p:nvSpPr>
        <p:spPr>
          <a:xfrm>
            <a:off x="450360" y="1127880"/>
            <a:ext cx="9184320" cy="39387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spcBef>
                <a:spcPts val="1191"/>
              </a:spcBef>
              <a:spcAft>
                <a:spcPts val="992"/>
              </a:spcAft>
            </a:pPr>
            <a:r>
              <a:rPr b="0" lang="es-ES" sz="1800" strike="noStrike" u="none">
                <a:solidFill>
                  <a:schemeClr val="dk1"/>
                </a:solidFill>
                <a:effectLst/>
                <a:uFillTx/>
                <a:latin typeface="Titillium Web"/>
                <a:ea typeface="DejaVu Sans"/>
              </a:rPr>
              <a:t>Existen diferentes tipos de medidas que se pueden utilizar para defi nir tamaños y distancias en los elementos HTML. Algunas de las medidas más comunes son:</a:t>
            </a:r>
            <a:endParaRPr b="0" lang="es-AR"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800" strike="noStrike" u="none">
                <a:solidFill>
                  <a:schemeClr val="dk1"/>
                </a:solidFill>
                <a:effectLst/>
                <a:uFillTx/>
                <a:latin typeface="Titillium Web"/>
                <a:ea typeface="DejaVu Sans"/>
              </a:rPr>
              <a:t>Píxeles (px): Es una medida absoluta y fi ja. Un píxel representa un punto en la pantalla y su tamaño no varía.</a:t>
            </a:r>
            <a:endParaRPr b="0" lang="es-AR"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800" strike="noStrike" u="none">
                <a:solidFill>
                  <a:schemeClr val="dk1"/>
                </a:solidFill>
                <a:effectLst/>
                <a:uFillTx/>
                <a:latin typeface="Titillium Web"/>
                <a:ea typeface="DejaVu Sans"/>
              </a:rPr>
              <a:t>Porcentaje (%): Es una medida relativa que se basa en el tamaño del elemento padre. Si el elemento padre cambia de tamaño, el elemento con esta medida también cambiará en consecuencia.</a:t>
            </a:r>
            <a:endParaRPr b="0" lang="es-AR"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800" strike="noStrike" u="none">
                <a:solidFill>
                  <a:schemeClr val="dk1"/>
                </a:solidFill>
                <a:effectLst/>
                <a:uFillTx/>
                <a:latin typeface="Titillium Web"/>
                <a:ea typeface="DejaVu Sans"/>
              </a:rPr>
              <a:t>Em (em): Es una medida relativa que se basa en el tamaño de la fuente del elemento padre. Si el tamaño de la fuente del elemento padre cambia, el tamaño del elemento con esta medida también cambiará en consecuencia.</a:t>
            </a:r>
            <a:endParaRPr b="0" lang="es-AR" sz="1800" strike="noStrike" u="none">
              <a:solidFill>
                <a:srgbClr val="000000"/>
              </a:solidFill>
              <a:effectLst/>
              <a:uFillTx/>
              <a:latin typeface="Arial"/>
            </a:endParaRPr>
          </a:p>
        </p:txBody>
      </p:sp>
      <p:sp>
        <p:nvSpPr>
          <p:cNvPr id="40" name="CuadroTexto 40"/>
          <p:cNvSpPr/>
          <p:nvPr/>
        </p:nvSpPr>
        <p:spPr>
          <a:xfrm>
            <a:off x="278640" y="43380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Medidas</a:t>
            </a:r>
            <a:endParaRPr b="0" lang="es-AR"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CuadroTexto 41"/>
          <p:cNvSpPr/>
          <p:nvPr/>
        </p:nvSpPr>
        <p:spPr>
          <a:xfrm>
            <a:off x="450360" y="1199880"/>
            <a:ext cx="9184320" cy="338724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spcBef>
                <a:spcPts val="1191"/>
              </a:spcBef>
              <a:spcAft>
                <a:spcPts val="992"/>
              </a:spcAft>
              <a:buClr>
                <a:srgbClr val="000000"/>
              </a:buClr>
              <a:buFont typeface="Arial"/>
              <a:buChar char="•"/>
            </a:pPr>
            <a:r>
              <a:rPr b="0" lang="es-ES" sz="1800" strike="noStrike" u="none">
                <a:solidFill>
                  <a:schemeClr val="dk1"/>
                </a:solidFill>
                <a:effectLst/>
                <a:uFillTx/>
                <a:latin typeface="Titillium Web"/>
                <a:ea typeface="DejaVu Sans"/>
              </a:rPr>
              <a:t>Rem (rem): Es una medida relativa que se basa en el tamaño de la fuente de la raíz del documento HTML. El tamaño de la fuente de la raíz no cambia, por lo que los elementos con esta medida mantienen su tamaño constante.</a:t>
            </a:r>
            <a:endParaRPr b="0" lang="es-AR"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800" strike="noStrike" u="none">
                <a:solidFill>
                  <a:schemeClr val="dk1"/>
                </a:solidFill>
                <a:effectLst/>
                <a:uFillTx/>
                <a:latin typeface="Titillium Web"/>
                <a:ea typeface="DejaVu Sans"/>
              </a:rPr>
              <a:t>Viewport units (vw, vh, vmin, vmax): Son medidas relativas que se basan en el tamaño de la ventana del navegador. El tamaño de la unidad viewport (ventana gráfi ca) cambia según el tamaño de la ventana del navegador.</a:t>
            </a:r>
            <a:endParaRPr b="0" lang="es-AR" sz="18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800" strike="noStrike" u="none">
                <a:solidFill>
                  <a:schemeClr val="dk1"/>
                </a:solidFill>
                <a:effectLst/>
                <a:uFillTx/>
                <a:latin typeface="Titillium Web"/>
                <a:ea typeface="DejaVu Sans"/>
              </a:rPr>
              <a:t>Centímetros (cm), pulgadas (in), milímetros (mm): Son medidas absolutas que se basan en unidades físicas. El tamaño en centímetros o pulgadas puede variar según la resolución del dispositivo de salida.</a:t>
            </a:r>
            <a:endParaRPr b="0" lang="es-AR" sz="1800" strike="noStrike" u="none">
              <a:solidFill>
                <a:srgbClr val="000000"/>
              </a:solidFill>
              <a:effectLst/>
              <a:uFillTx/>
              <a:latin typeface="Arial"/>
            </a:endParaRPr>
          </a:p>
        </p:txBody>
      </p:sp>
      <p:sp>
        <p:nvSpPr>
          <p:cNvPr id="42" name="CuadroTexto 42"/>
          <p:cNvSpPr/>
          <p:nvPr/>
        </p:nvSpPr>
        <p:spPr>
          <a:xfrm>
            <a:off x="278640" y="43380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Medidas</a:t>
            </a:r>
            <a:endParaRPr b="0" lang="es-AR"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CuadroTexto 33"/>
          <p:cNvSpPr/>
          <p:nvPr/>
        </p:nvSpPr>
        <p:spPr>
          <a:xfrm>
            <a:off x="715320" y="3960000"/>
            <a:ext cx="8644320" cy="1308240"/>
          </a:xfrm>
          <a:prstGeom prst="rect">
            <a:avLst/>
          </a:prstGeom>
          <a:noFill/>
          <a:ln w="0">
            <a:noFill/>
          </a:ln>
        </p:spPr>
        <p:style>
          <a:lnRef idx="0"/>
          <a:fillRef idx="0"/>
          <a:effectRef idx="0"/>
          <a:fontRef idx="minor"/>
        </p:style>
        <p:txBody>
          <a:bodyPr lIns="90000" rIns="90000" tIns="45000" bIns="45000" anchor="t">
            <a:spAutoFit/>
          </a:bodyPr>
          <a:p>
            <a:pPr marL="285840" indent="-285840" algn="just"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El contenido es el área dentro de la caja que muestra el contenido del elemento HTML, como el texto, las imágenes o los videos. El padding es el espacio entre el contenido y el borde. El borde es una línea que rodea el contenido y el padding. El margen es el espacio entre el borde y los elementos adyacentes.</a:t>
            </a:r>
            <a:br>
              <a:rPr sz="1600"/>
            </a:br>
            <a:r>
              <a:rPr b="0" lang="es-ES" sz="1600" strike="noStrike" u="none">
                <a:solidFill>
                  <a:schemeClr val="dk1"/>
                </a:solidFill>
                <a:effectLst/>
                <a:uFillTx/>
                <a:latin typeface="Titillium Web"/>
                <a:ea typeface="DejaVu Sans"/>
              </a:rPr>
              <a:t>El padding y el margin son transparentes.</a:t>
            </a:r>
            <a:endParaRPr b="0" lang="es-AR" sz="1600" strike="noStrike" u="none">
              <a:solidFill>
                <a:srgbClr val="000000"/>
              </a:solidFill>
              <a:effectLst/>
              <a:uFillTx/>
              <a:latin typeface="Arial"/>
            </a:endParaRPr>
          </a:p>
        </p:txBody>
      </p:sp>
      <p:sp>
        <p:nvSpPr>
          <p:cNvPr id="44" name="CuadroTexto 34"/>
          <p:cNvSpPr/>
          <p:nvPr/>
        </p:nvSpPr>
        <p:spPr>
          <a:xfrm>
            <a:off x="278640" y="43380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Box-Model</a:t>
            </a:r>
            <a:endParaRPr b="0" lang="es-AR" sz="2800" strike="noStrike" u="none">
              <a:solidFill>
                <a:srgbClr val="000000"/>
              </a:solidFill>
              <a:effectLst/>
              <a:uFillTx/>
              <a:latin typeface="Arial"/>
            </a:endParaRPr>
          </a:p>
        </p:txBody>
      </p:sp>
      <p:pic>
        <p:nvPicPr>
          <p:cNvPr id="45" name="" descr=""/>
          <p:cNvPicPr/>
          <p:nvPr/>
        </p:nvPicPr>
        <p:blipFill>
          <a:blip r:embed="rId1"/>
          <a:stretch/>
        </p:blipFill>
        <p:spPr>
          <a:xfrm>
            <a:off x="1785240" y="1128240"/>
            <a:ext cx="6674400" cy="26514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CuadroTexto 17"/>
          <p:cNvSpPr/>
          <p:nvPr/>
        </p:nvSpPr>
        <p:spPr>
          <a:xfrm>
            <a:off x="715320" y="3960000"/>
            <a:ext cx="9184320" cy="106452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En CSS, se pueden establecer propiedades para cada uno de estos componentes del box model utilizando las propiedades width, height, padding, border y margin. La propiedad box-sizing también es útil para controlar cómo se calcula el tamaño de una caja, ya sea incluyendo o excluyendo el padding y el borde.</a:t>
            </a:r>
            <a:endParaRPr b="0" lang="es-AR" sz="1600" strike="noStrike" u="none">
              <a:solidFill>
                <a:srgbClr val="000000"/>
              </a:solidFill>
              <a:effectLst/>
              <a:uFillTx/>
              <a:latin typeface="Arial"/>
            </a:endParaRPr>
          </a:p>
        </p:txBody>
      </p:sp>
      <p:sp>
        <p:nvSpPr>
          <p:cNvPr id="47" name="CuadroTexto 18"/>
          <p:cNvSpPr/>
          <p:nvPr/>
        </p:nvSpPr>
        <p:spPr>
          <a:xfrm>
            <a:off x="278640" y="43380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Box-Model</a:t>
            </a:r>
            <a:endParaRPr b="0" lang="es-AR" sz="2800" strike="noStrike" u="none">
              <a:solidFill>
                <a:srgbClr val="000000"/>
              </a:solidFill>
              <a:effectLst/>
              <a:uFillTx/>
              <a:latin typeface="Arial"/>
            </a:endParaRPr>
          </a:p>
        </p:txBody>
      </p:sp>
      <p:pic>
        <p:nvPicPr>
          <p:cNvPr id="48" name="" descr=""/>
          <p:cNvPicPr/>
          <p:nvPr/>
        </p:nvPicPr>
        <p:blipFill>
          <a:blip r:embed="rId1"/>
          <a:stretch/>
        </p:blipFill>
        <p:spPr>
          <a:xfrm>
            <a:off x="2880000" y="686520"/>
            <a:ext cx="3809160" cy="309312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CuadroTexto 35"/>
          <p:cNvSpPr/>
          <p:nvPr/>
        </p:nvSpPr>
        <p:spPr>
          <a:xfrm>
            <a:off x="355320" y="2880000"/>
            <a:ext cx="9184320" cy="238356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spcBef>
                <a:spcPts val="1191"/>
              </a:spcBef>
              <a:spcAft>
                <a:spcPts val="992"/>
              </a:spcAft>
              <a:buClr>
                <a:srgbClr val="000000"/>
              </a:buClr>
              <a:buFont typeface="Arial"/>
              <a:buChar char="•"/>
            </a:pPr>
            <a:r>
              <a:rPr b="0" lang="es-ES" sz="1600" strike="noStrike" u="sng">
                <a:solidFill>
                  <a:schemeClr val="dk1"/>
                </a:solidFill>
                <a:effectLst/>
                <a:uFillTx/>
                <a:latin typeface="Titillium Web"/>
                <a:ea typeface="DejaVu Sans"/>
              </a:rPr>
              <a:t>El ancho total de un elemento se calcula de la siguiente manera:</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Ancho total de elementos = ancho + relleno izquierdo + relleno derecho + borde izquierdo + borde derecho</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sng">
                <a:solidFill>
                  <a:schemeClr val="dk1"/>
                </a:solidFill>
                <a:effectLst/>
                <a:uFillTx/>
                <a:latin typeface="Titillium Web"/>
                <a:ea typeface="DejaVu Sans"/>
              </a:rPr>
              <a:t>La altura total de un elemento se calcula de la siguiente manera:</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Altura total de elementos = altura + relleno superior + relleno inferior + borde superior + borde inferior</a:t>
            </a:r>
            <a:endParaRPr b="0" lang="es-AR" sz="1600" strike="noStrike" u="none">
              <a:solidFill>
                <a:srgbClr val="000000"/>
              </a:solidFill>
              <a:effectLst/>
              <a:uFillTx/>
              <a:latin typeface="Arial"/>
            </a:endParaRPr>
          </a:p>
        </p:txBody>
      </p:sp>
      <p:sp>
        <p:nvSpPr>
          <p:cNvPr id="50" name="CuadroTexto 36"/>
          <p:cNvSpPr/>
          <p:nvPr/>
        </p:nvSpPr>
        <p:spPr>
          <a:xfrm>
            <a:off x="278640" y="43380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Box-Model</a:t>
            </a:r>
            <a:endParaRPr b="0" lang="es-AR" sz="2800" strike="noStrike" u="none">
              <a:solidFill>
                <a:srgbClr val="000000"/>
              </a:solidFill>
              <a:effectLst/>
              <a:uFillTx/>
              <a:latin typeface="Arial"/>
            </a:endParaRPr>
          </a:p>
        </p:txBody>
      </p:sp>
      <p:pic>
        <p:nvPicPr>
          <p:cNvPr id="51" name="" descr=""/>
          <p:cNvPicPr/>
          <p:nvPr/>
        </p:nvPicPr>
        <p:blipFill>
          <a:blip r:embed="rId1"/>
          <a:stretch/>
        </p:blipFill>
        <p:spPr>
          <a:xfrm>
            <a:off x="3420000" y="1071360"/>
            <a:ext cx="2752200" cy="162828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CuadroTexto 47"/>
          <p:cNvSpPr/>
          <p:nvPr/>
        </p:nvSpPr>
        <p:spPr>
          <a:xfrm>
            <a:off x="450360" y="1199880"/>
            <a:ext cx="9184320" cy="5321520"/>
          </a:xfrm>
          <a:prstGeom prst="rect">
            <a:avLst/>
          </a:prstGeom>
          <a:noFill/>
          <a:ln w="0">
            <a:noFill/>
          </a:ln>
        </p:spPr>
        <p:style>
          <a:lnRef idx="0"/>
          <a:fillRef idx="0"/>
          <a:effectRef idx="0"/>
          <a:fontRef idx="minor"/>
        </p:style>
        <p:txBody>
          <a:bodyPr lIns="90000" rIns="90000" tIns="45000" bIns="45000" anchor="t">
            <a:spAutoFit/>
          </a:bodyPr>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Un elemento no posicionado tiene valor de position static. Es el comportamiento predeterminado de los elementos HTML. Los elementos con posicionamiento estático se colocan en la página en el orden en que aparecen en el código HTML.</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Un elemento posicionado tiene valor de position relative, absolute, fixed, o sticky. (En otras palabras, cualquiera excepto static).</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Un elemento posicionado relativamente es un elemento cuyo valor de position es relative.</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Un elemento posicionado absolutamente es un elemento cuyo valor de position es absolute o fixed.</a:t>
            </a:r>
            <a:endParaRPr b="0" lang="es-AR" sz="1600" strike="noStrike" u="none">
              <a:solidFill>
                <a:srgbClr val="000000"/>
              </a:solidFill>
              <a:effectLst/>
              <a:uFillTx/>
              <a:latin typeface="Arial"/>
            </a:endParaRPr>
          </a:p>
          <a:p>
            <a:pPr marL="285840" indent="-285840" defTabSz="914400">
              <a:lnSpc>
                <a:spcPct val="100000"/>
              </a:lnSpc>
              <a:spcBef>
                <a:spcPts val="1191"/>
              </a:spcBef>
              <a:spcAft>
                <a:spcPts val="992"/>
              </a:spcAft>
              <a:buClr>
                <a:srgbClr val="000000"/>
              </a:buClr>
              <a:buFont typeface="Arial"/>
              <a:buChar char="•"/>
            </a:pPr>
            <a:r>
              <a:rPr b="0" lang="es-ES" sz="1600" strike="noStrike" u="none">
                <a:solidFill>
                  <a:schemeClr val="dk1"/>
                </a:solidFill>
                <a:effectLst/>
                <a:uFillTx/>
                <a:latin typeface="Titillium Web"/>
                <a:ea typeface="DejaVu Sans"/>
              </a:rPr>
              <a:t>Un elemento posicionado fijamente es un elemento cuyo valor de position computado es sticky. </a:t>
            </a:r>
            <a:endParaRPr b="0" lang="es-AR" sz="1600" strike="noStrike" u="none">
              <a:solidFill>
                <a:srgbClr val="000000"/>
              </a:solidFill>
              <a:effectLst/>
              <a:uFillTx/>
              <a:latin typeface="Arial"/>
            </a:endParaRPr>
          </a:p>
          <a:p>
            <a:pPr defTabSz="914400">
              <a:lnSpc>
                <a:spcPct val="100000"/>
              </a:lnSpc>
              <a:spcBef>
                <a:spcPts val="1191"/>
              </a:spcBef>
              <a:spcAft>
                <a:spcPts val="992"/>
              </a:spcAft>
            </a:pPr>
            <a:endParaRPr b="0" lang="es-AR" sz="1600" strike="noStrike" u="none">
              <a:solidFill>
                <a:srgbClr val="000000"/>
              </a:solidFill>
              <a:effectLst/>
              <a:uFillTx/>
              <a:latin typeface="Arial"/>
            </a:endParaRPr>
          </a:p>
          <a:p>
            <a:pPr defTabSz="914400">
              <a:lnSpc>
                <a:spcPct val="100000"/>
              </a:lnSpc>
              <a:spcBef>
                <a:spcPts val="1191"/>
              </a:spcBef>
              <a:spcAft>
                <a:spcPts val="992"/>
              </a:spcAft>
            </a:pPr>
            <a:r>
              <a:rPr b="0" lang="es-ES" sz="1800" strike="noStrike" u="none">
                <a:solidFill>
                  <a:schemeClr val="dk1"/>
                </a:solidFill>
                <a:effectLst/>
                <a:uFillTx/>
                <a:latin typeface="Titillium Web"/>
                <a:ea typeface="DejaVu Sans"/>
                <a:hlinkClick r:id="rId1"/>
              </a:rPr>
              <a:t>position - CSS | MDN</a:t>
            </a:r>
            <a:r>
              <a:rPr b="0" lang="es-ES" sz="1800" strike="noStrike" u="none">
                <a:solidFill>
                  <a:schemeClr val="dk1"/>
                </a:solidFill>
                <a:effectLst/>
                <a:uFillTx/>
                <a:latin typeface="Titillium Web"/>
                <a:ea typeface="DejaVu Sans"/>
              </a:rPr>
              <a:t> </a:t>
            </a:r>
            <a:endParaRPr b="0" lang="es-AR" sz="1800" strike="noStrike" u="none">
              <a:solidFill>
                <a:srgbClr val="000000"/>
              </a:solidFill>
              <a:effectLst/>
              <a:uFillTx/>
              <a:latin typeface="Arial"/>
            </a:endParaRPr>
          </a:p>
          <a:p>
            <a:pPr defTabSz="914400">
              <a:lnSpc>
                <a:spcPct val="100000"/>
              </a:lnSpc>
            </a:pPr>
            <a:endParaRPr b="0" lang="es-AR" sz="1600" strike="noStrike" u="none">
              <a:solidFill>
                <a:srgbClr val="000000"/>
              </a:solidFill>
              <a:effectLst/>
              <a:uFillTx/>
              <a:latin typeface="Arial"/>
            </a:endParaRPr>
          </a:p>
        </p:txBody>
      </p:sp>
      <p:sp>
        <p:nvSpPr>
          <p:cNvPr id="53" name="CuadroTexto 48"/>
          <p:cNvSpPr/>
          <p:nvPr/>
        </p:nvSpPr>
        <p:spPr>
          <a:xfrm>
            <a:off x="278640" y="43380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Posicionamiento</a:t>
            </a:r>
            <a:endParaRPr b="0" lang="es-AR"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CuadroTexto 49"/>
          <p:cNvSpPr/>
          <p:nvPr/>
        </p:nvSpPr>
        <p:spPr>
          <a:xfrm>
            <a:off x="450360" y="1199880"/>
            <a:ext cx="9184320" cy="4156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spcBef>
                <a:spcPts val="1191"/>
              </a:spcBef>
              <a:spcAft>
                <a:spcPts val="992"/>
              </a:spcAft>
            </a:pPr>
            <a:r>
              <a:rPr b="0" lang="es-ES" sz="1600" strike="noStrike" u="none">
                <a:solidFill>
                  <a:schemeClr val="dk1"/>
                </a:solidFill>
                <a:effectLst/>
                <a:uFillTx/>
                <a:latin typeface="Titillium Web"/>
                <a:ea typeface="DejaVu Sans"/>
              </a:rPr>
              <a:t>Son valores que se pueden reutilizar y actualizar fácilmente en todo el documento. Se defi nen mediante la propiedad –nombre-variable y se pueden asignar a cualquier propiedad en el archivo CSS utilizando la función var(--no</a:t>
            </a:r>
            <a:r>
              <a:rPr b="0" lang="es-ES" sz="1600" strike="noStrike" u="none">
                <a:solidFill>
                  <a:schemeClr val="dk1"/>
                </a:solidFill>
                <a:effectLst/>
                <a:uFillTx/>
                <a:latin typeface="Titillium Web"/>
                <a:ea typeface="DejaVu Sans"/>
              </a:rPr>
              <a:t>mbre-variable).</a:t>
            </a:r>
            <a:endParaRPr b="0" lang="es-AR" sz="1600" strike="noStrike" u="none">
              <a:solidFill>
                <a:srgbClr val="000000"/>
              </a:solidFill>
              <a:effectLst/>
              <a:uFillTx/>
              <a:latin typeface="Arial"/>
            </a:endParaRPr>
          </a:p>
          <a:p>
            <a:pPr defTabSz="914400">
              <a:lnSpc>
                <a:spcPct val="100000"/>
              </a:lnSpc>
              <a:spcBef>
                <a:spcPts val="1191"/>
              </a:spcBef>
              <a:spcAft>
                <a:spcPts val="992"/>
              </a:spcAft>
            </a:pPr>
            <a:endParaRPr b="0" lang="es-AR" sz="1600" strike="noStrike" u="none">
              <a:solidFill>
                <a:srgbClr val="000000"/>
              </a:solidFill>
              <a:effectLst/>
              <a:uFillTx/>
              <a:latin typeface="Arial"/>
            </a:endParaRPr>
          </a:p>
          <a:p>
            <a:pPr defTabSz="914400">
              <a:lnSpc>
                <a:spcPct val="100000"/>
              </a:lnSpc>
              <a:spcBef>
                <a:spcPts val="1191"/>
              </a:spcBef>
              <a:spcAft>
                <a:spcPts val="992"/>
              </a:spcAft>
            </a:pPr>
            <a:endParaRPr b="0" lang="es-AR" sz="1600" strike="noStrike" u="none">
              <a:solidFill>
                <a:srgbClr val="000000"/>
              </a:solidFill>
              <a:effectLst/>
              <a:uFillTx/>
              <a:latin typeface="Arial"/>
            </a:endParaRPr>
          </a:p>
          <a:p>
            <a:pPr defTabSz="914400">
              <a:lnSpc>
                <a:spcPct val="100000"/>
              </a:lnSpc>
              <a:spcBef>
                <a:spcPts val="1191"/>
              </a:spcBef>
              <a:spcAft>
                <a:spcPts val="992"/>
              </a:spcAft>
            </a:pPr>
            <a:endParaRPr b="0" lang="es-AR" sz="1600" strike="noStrike" u="none">
              <a:solidFill>
                <a:srgbClr val="000000"/>
              </a:solidFill>
              <a:effectLst/>
              <a:uFillTx/>
              <a:latin typeface="Arial"/>
            </a:endParaRPr>
          </a:p>
          <a:p>
            <a:pPr defTabSz="914400">
              <a:lnSpc>
                <a:spcPct val="100000"/>
              </a:lnSpc>
              <a:spcBef>
                <a:spcPts val="1191"/>
              </a:spcBef>
              <a:spcAft>
                <a:spcPts val="992"/>
              </a:spcAft>
            </a:pPr>
            <a:endParaRPr b="0" lang="es-AR" sz="1600" strike="noStrike" u="none">
              <a:solidFill>
                <a:srgbClr val="000000"/>
              </a:solidFill>
              <a:effectLst/>
              <a:uFillTx/>
              <a:latin typeface="Arial"/>
            </a:endParaRPr>
          </a:p>
          <a:p>
            <a:pPr defTabSz="914400">
              <a:lnSpc>
                <a:spcPct val="100000"/>
              </a:lnSpc>
              <a:spcBef>
                <a:spcPts val="1191"/>
              </a:spcBef>
              <a:spcAft>
                <a:spcPts val="992"/>
              </a:spcAft>
            </a:pPr>
            <a:br>
              <a:rPr sz="1600"/>
            </a:br>
            <a:r>
              <a:rPr b="0" lang="es-AR" sz="1600" strike="noStrike" u="none">
                <a:solidFill>
                  <a:schemeClr val="dk1"/>
                </a:solidFill>
                <a:effectLst/>
                <a:uFillTx/>
                <a:latin typeface="Titillium Web"/>
                <a:ea typeface="DejaVu Sans"/>
              </a:rPr>
              <a:t>Si se desea cambiar el color primario, solo se necesita actualizar el valor de la variable en un solo lugar (:root), y todos los elementos que usan esa variable se actualizarán automáticamente.</a:t>
            </a:r>
            <a:endParaRPr b="0" lang="es-AR" sz="1600" strike="noStrike" u="none">
              <a:solidFill>
                <a:srgbClr val="000000"/>
              </a:solidFill>
              <a:effectLst/>
              <a:uFillTx/>
              <a:latin typeface="Arial"/>
            </a:endParaRPr>
          </a:p>
        </p:txBody>
      </p:sp>
      <p:sp>
        <p:nvSpPr>
          <p:cNvPr id="55" name="CuadroTexto 50"/>
          <p:cNvSpPr/>
          <p:nvPr/>
        </p:nvSpPr>
        <p:spPr>
          <a:xfrm>
            <a:off x="278640" y="433800"/>
            <a:ext cx="10138320" cy="5166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s-ES" sz="2800" strike="noStrike" u="none">
                <a:solidFill>
                  <a:srgbClr val="0070c0"/>
                </a:solidFill>
                <a:effectLst/>
                <a:uFillTx/>
                <a:latin typeface="Titillium Web SemiBold"/>
                <a:ea typeface="DejaVu Sans"/>
              </a:rPr>
              <a:t>Variables</a:t>
            </a:r>
            <a:endParaRPr b="0" lang="es-AR" sz="2800" strike="noStrike" u="none">
              <a:solidFill>
                <a:srgbClr val="000000"/>
              </a:solidFill>
              <a:effectLst/>
              <a:uFillTx/>
              <a:latin typeface="Arial"/>
            </a:endParaRPr>
          </a:p>
        </p:txBody>
      </p:sp>
      <p:pic>
        <p:nvPicPr>
          <p:cNvPr id="56" name="" descr=""/>
          <p:cNvPicPr/>
          <p:nvPr/>
        </p:nvPicPr>
        <p:blipFill>
          <a:blip r:embed="rId1"/>
          <a:stretch/>
        </p:blipFill>
        <p:spPr>
          <a:xfrm>
            <a:off x="1613520" y="2143800"/>
            <a:ext cx="4686480" cy="23562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6454</TotalTime>
  <Application>LibreOffice/25.2.7.2$Windows_X86_64 LibreOffice_project/5cbfd1ab6520636bb5f7b99185aa69bd7456825d</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2026-03-31T17:19:23Z</dcterms:created>
  <dc:creator/>
  <dc:description/>
  <dc:language>es-AR</dc:language>
  <cp:lastModifiedBy/>
  <dcterms:modified xsi:type="dcterms:W3CDTF">2026-04-11T18:53:56Z</dcterms:modified>
  <cp:revision>11</cp:revision>
  <dc:subject/>
  <dc:title/>
</cp:coreProperties>
</file>

<file path=docProps/custom.xml><?xml version="1.0" encoding="utf-8"?>
<Properties xmlns="http://schemas.openxmlformats.org/officeDocument/2006/custom-properties" xmlns:vt="http://schemas.openxmlformats.org/officeDocument/2006/docPropsVTypes"/>
</file>